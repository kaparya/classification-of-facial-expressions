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71" r:id="rId5"/>
    <p:sldId id="302" r:id="rId6"/>
    <p:sldId id="306" r:id="rId7"/>
    <p:sldId id="335" r:id="rId8"/>
    <p:sldId id="331" r:id="rId9"/>
    <p:sldId id="318" r:id="rId10"/>
    <p:sldId id="341" r:id="rId11"/>
    <p:sldId id="339" r:id="rId12"/>
    <p:sldId id="319" r:id="rId13"/>
    <p:sldId id="320" r:id="rId14"/>
    <p:sldId id="324" r:id="rId15"/>
    <p:sldId id="327" r:id="rId16"/>
    <p:sldId id="329" r:id="rId17"/>
    <p:sldId id="330" r:id="rId18"/>
    <p:sldId id="285" r:id="rId19"/>
    <p:sldId id="323" r:id="rId20"/>
    <p:sldId id="344" r:id="rId21"/>
    <p:sldId id="343" r:id="rId22"/>
    <p:sldId id="342" r:id="rId23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0808"/>
    <a:srgbClr val="2F7D5B"/>
    <a:srgbClr val="029C63"/>
    <a:srgbClr val="1E4D9B"/>
    <a:srgbClr val="0F2B69"/>
    <a:srgbClr val="96628C"/>
    <a:srgbClr val="11A0D7"/>
    <a:srgbClr val="E61F3D"/>
    <a:srgbClr val="CD5A5A"/>
    <a:srgbClr val="FFD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33"/>
    <p:restoredTop sz="94707"/>
  </p:normalViewPr>
  <p:slideViewPr>
    <p:cSldViewPr snapToGrid="0" snapToObjects="1">
      <p:cViewPr varScale="1">
        <p:scale>
          <a:sx n="130" d="100"/>
          <a:sy n="130" d="100"/>
        </p:scale>
        <p:origin x="528" y="176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6/2/26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en-RU" smtClean="0"/>
              <a:t>6/2/26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658" y="2548490"/>
            <a:ext cx="9057327" cy="1411892"/>
          </a:xfrm>
        </p:spPr>
        <p:txBody>
          <a:bodyPr>
            <a:normAutofit/>
          </a:bodyPr>
          <a:lstStyle/>
          <a:p>
            <a:r>
              <a:rPr lang="ru-RU" sz="4000" dirty="0"/>
              <a:t>Классификация выражений лиц с детектированием эмоций в речи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85EA7E-BEC4-B745-B2A8-D4E4AFC614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Программная Инженерия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ru-RU" dirty="0"/>
              <a:t>Нижний Новгород</a:t>
            </a:r>
          </a:p>
          <a:p>
            <a:r>
              <a:rPr lang="ru-RU" dirty="0"/>
              <a:t>2026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4AFB2BF-A7AB-5648-ADCD-2A7F1BD358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87204" y="5427304"/>
            <a:ext cx="3003177" cy="386100"/>
          </a:xfrm>
        </p:spPr>
        <p:txBody>
          <a:bodyPr>
            <a:noAutofit/>
          </a:bodyPr>
          <a:lstStyle/>
          <a:p>
            <a:r>
              <a:rPr lang="ru-RU" sz="1050" dirty="0"/>
              <a:t>Выполнил студент группы 22ПИ-1:</a:t>
            </a:r>
          </a:p>
          <a:p>
            <a:r>
              <a:rPr lang="ru-RU" sz="1200" dirty="0"/>
              <a:t>Канделов Дамир Русланович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A4BD5903-5BBA-18F6-7C9A-E503C42693C2}"/>
              </a:ext>
            </a:extLst>
          </p:cNvPr>
          <p:cNvSpPr txBox="1">
            <a:spLocks/>
          </p:cNvSpPr>
          <p:nvPr/>
        </p:nvSpPr>
        <p:spPr>
          <a:xfrm>
            <a:off x="1093658" y="4269540"/>
            <a:ext cx="3217950" cy="8063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Научный руководитель:</a:t>
            </a:r>
          </a:p>
          <a:p>
            <a:r>
              <a:rPr lang="ru-RU" sz="1200" dirty="0"/>
              <a:t>к.т.н., доцент, кафедра информационных систем и технологий НИУ ВШЭ – Нижний Новгород</a:t>
            </a:r>
          </a:p>
          <a:p>
            <a:r>
              <a:rPr lang="ru-RU" sz="1200" dirty="0"/>
              <a:t>Савченко Людмила Васильевна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FEE5189A-EA6F-12AC-A2B9-572812FCB60E}"/>
              </a:ext>
            </a:extLst>
          </p:cNvPr>
          <p:cNvSpPr txBox="1">
            <a:spLocks/>
          </p:cNvSpPr>
          <p:nvPr/>
        </p:nvSpPr>
        <p:spPr>
          <a:xfrm>
            <a:off x="1093658" y="5075840"/>
            <a:ext cx="3433521" cy="7375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Рецензент:</a:t>
            </a:r>
            <a:endParaRPr lang="en-US" sz="1050" dirty="0"/>
          </a:p>
          <a:p>
            <a:r>
              <a:rPr lang="ru-RU" sz="1200" dirty="0"/>
              <a:t>приглашенный преподаватель базовой кафедры группы компаний «</a:t>
            </a:r>
            <a:r>
              <a:rPr lang="en-US" sz="1200" dirty="0"/>
              <a:t>MERA</a:t>
            </a:r>
            <a:r>
              <a:rPr lang="ru-RU" sz="1200" dirty="0"/>
              <a:t>»</a:t>
            </a:r>
          </a:p>
          <a:p>
            <a:r>
              <a:rPr lang="ru-RU" sz="1200" dirty="0" err="1"/>
              <a:t>Лемайкина</a:t>
            </a:r>
            <a:r>
              <a:rPr lang="ru-RU" sz="1200" dirty="0"/>
              <a:t> Елена Александровна</a:t>
            </a:r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3689" y="540904"/>
            <a:ext cx="2070100" cy="415925"/>
          </a:xfrm>
        </p:spPr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341003" cy="408109"/>
          </a:xfrm>
        </p:spPr>
        <p:txBody>
          <a:bodyPr/>
          <a:lstStyle/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EC7666-D881-28EB-4A49-9EA84557AE7C}"/>
              </a:ext>
            </a:extLst>
          </p:cNvPr>
          <p:cNvSpPr txBox="1"/>
          <p:nvPr/>
        </p:nvSpPr>
        <p:spPr>
          <a:xfrm>
            <a:off x="678229" y="1651832"/>
            <a:ext cx="10304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Понимание эмоционального состояния человека позволяет компьютерным системам получать больше информации о состоянии человека, а также отвечать более естественным образом. Это может быть полезно в: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970255-550C-8CD7-9C55-47FBEF2A3AB0}"/>
              </a:ext>
            </a:extLst>
          </p:cNvPr>
          <p:cNvSpPr txBox="1"/>
          <p:nvPr/>
        </p:nvSpPr>
        <p:spPr>
          <a:xfrm>
            <a:off x="4594375" y="4009616"/>
            <a:ext cx="2891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Мониторинг</a:t>
            </a:r>
            <a:r>
              <a:rPr lang="en-US" dirty="0">
                <a:latin typeface="HSE Sans" panose="02000000000000000000" pitchFamily="2" charset="0"/>
              </a:rPr>
              <a:t> </a:t>
            </a:r>
            <a:r>
              <a:rPr lang="ru-RU" dirty="0">
                <a:latin typeface="HSE Sans" panose="02000000000000000000" pitchFamily="2" charset="0"/>
              </a:rPr>
              <a:t>обслуживания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клиентов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38A1E6-075C-F798-037B-21A2F8982A7C}"/>
              </a:ext>
            </a:extLst>
          </p:cNvPr>
          <p:cNvSpPr txBox="1"/>
          <p:nvPr/>
        </p:nvSpPr>
        <p:spPr>
          <a:xfrm>
            <a:off x="8830392" y="4007218"/>
            <a:ext cx="2152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Контроль состояния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водителя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B14A5-9463-9896-1033-8497F29689BB}"/>
              </a:ext>
            </a:extLst>
          </p:cNvPr>
          <p:cNvSpPr txBox="1"/>
          <p:nvPr/>
        </p:nvSpPr>
        <p:spPr>
          <a:xfrm>
            <a:off x="678230" y="4888847"/>
            <a:ext cx="103048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HSE Sans" panose="02000000000000000000" pitchFamily="2" charset="0"/>
              </a:rPr>
              <a:t>Текущие архитектуры для распознавания эмоций тяжелые, ресурсозатратные или имеют низкие метрики качества, что приводит к высокой стоимости использования таких систем. В данной работе я представляю новую, более эффективную и менее ресурсозатратную </a:t>
            </a:r>
            <a:r>
              <a:rPr lang="ru-RU" sz="1600" i="1" dirty="0">
                <a:latin typeface="HSE Sans" panose="02000000000000000000" pitchFamily="2" charset="0"/>
              </a:rPr>
              <a:t>каскадную</a:t>
            </a:r>
            <a:r>
              <a:rPr lang="ru-RU" sz="1600" dirty="0">
                <a:latin typeface="HSE Sans" panose="02000000000000000000" pitchFamily="2" charset="0"/>
              </a:rPr>
              <a:t> архитектуру.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94BEC0-7A07-45AF-EE3E-6E16A718F3D1}"/>
              </a:ext>
            </a:extLst>
          </p:cNvPr>
          <p:cNvSpPr txBox="1"/>
          <p:nvPr/>
        </p:nvSpPr>
        <p:spPr>
          <a:xfrm>
            <a:off x="678231" y="44909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HSE Sans" panose="02000000000000000000" pitchFamily="2" charset="0"/>
              </a:rPr>
              <a:t>Актуальность</a:t>
            </a:r>
          </a:p>
        </p:txBody>
      </p:sp>
      <p:sp>
        <p:nvSpPr>
          <p:cNvPr id="18" name="Заголовок 2">
            <a:extLst>
              <a:ext uri="{FF2B5EF4-FFF2-40B4-BE49-F238E27FC236}">
                <a16:creationId xmlns:a16="http://schemas.microsoft.com/office/drawing/2014/main" id="{42509E92-A773-7C3F-E8E0-BA554B1508C2}"/>
              </a:ext>
            </a:extLst>
          </p:cNvPr>
          <p:cNvSpPr txBox="1">
            <a:spLocks/>
          </p:cNvSpPr>
          <p:nvPr/>
        </p:nvSpPr>
        <p:spPr>
          <a:xfrm>
            <a:off x="768318" y="1295394"/>
            <a:ext cx="6313799" cy="415926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Эмоции в человеко-машинном взаимодействии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03B6D0-97D1-92E8-4120-674805D734DA}"/>
              </a:ext>
            </a:extLst>
          </p:cNvPr>
          <p:cNvSpPr txBox="1"/>
          <p:nvPr/>
        </p:nvSpPr>
        <p:spPr>
          <a:xfrm>
            <a:off x="747927" y="4005412"/>
            <a:ext cx="2630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Виртуальные ассистенты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7198EC-481B-D87C-6C96-7AA7CCE096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59" b="11154"/>
          <a:stretch>
            <a:fillRect/>
          </a:stretch>
        </p:blipFill>
        <p:spPr>
          <a:xfrm>
            <a:off x="1416555" y="3351364"/>
            <a:ext cx="1293527" cy="654048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58F1C-2E46-BA6C-57F4-05D583C60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67" y="2356680"/>
            <a:ext cx="2057794" cy="748925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1028" name="Picture 4" descr="Как улучшить обслуживание клиентов – улучшаем качество клиентского сервиса">
            <a:extLst>
              <a:ext uri="{FF2B5EF4-FFF2-40B4-BE49-F238E27FC236}">
                <a16:creationId xmlns:a16="http://schemas.microsoft.com/office/drawing/2014/main" id="{739A5663-5041-09BD-5A65-8F939CDD89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28" b="15843"/>
          <a:stretch>
            <a:fillRect/>
          </a:stretch>
        </p:blipFill>
        <p:spPr bwMode="auto">
          <a:xfrm>
            <a:off x="4578427" y="2355908"/>
            <a:ext cx="2923072" cy="1651309"/>
          </a:xfrm>
          <a:prstGeom prst="roundRect">
            <a:avLst>
              <a:gd name="adj" fmla="val 9699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«Это не лечится»: каким людям не стоит водить автомобиль - Газета.Ru |  Новости">
            <a:extLst>
              <a:ext uri="{FF2B5EF4-FFF2-40B4-BE49-F238E27FC236}">
                <a16:creationId xmlns:a16="http://schemas.microsoft.com/office/drawing/2014/main" id="{97CBA637-DF2C-8FC7-4E43-B5DB70D89E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03"/>
          <a:stretch>
            <a:fillRect/>
          </a:stretch>
        </p:blipFill>
        <p:spPr bwMode="auto">
          <a:xfrm>
            <a:off x="8813289" y="2355909"/>
            <a:ext cx="2169744" cy="1651309"/>
          </a:xfrm>
          <a:prstGeom prst="roundRect">
            <a:avLst>
              <a:gd name="adj" fmla="val 6723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EE90E2-18D1-C678-DFDD-799BF112B65D}"/>
              </a:ext>
            </a:extLst>
          </p:cNvPr>
          <p:cNvSpPr txBox="1"/>
          <p:nvPr/>
        </p:nvSpPr>
        <p:spPr>
          <a:xfrm>
            <a:off x="678230" y="5790658"/>
            <a:ext cx="1459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Практическая потребность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466055-9C7E-361B-58A2-63FCA57B3B47}"/>
              </a:ext>
            </a:extLst>
          </p:cNvPr>
          <p:cNvSpPr txBox="1"/>
          <p:nvPr/>
        </p:nvSpPr>
        <p:spPr>
          <a:xfrm>
            <a:off x="2605330" y="5790138"/>
            <a:ext cx="23992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Отсутствие в литературе каскадных </a:t>
            </a:r>
            <a:r>
              <a:rPr lang="en-US" sz="1400" dirty="0">
                <a:latin typeface="HSE Sans" panose="02000000000000000000" pitchFamily="2" charset="0"/>
              </a:rPr>
              <a:t>MER </a:t>
            </a:r>
            <a:r>
              <a:rPr lang="ru-RU" sz="1400" dirty="0">
                <a:latin typeface="HSE Sans" panose="02000000000000000000" pitchFamily="2" charset="0"/>
              </a:rPr>
              <a:t>систем с аудиогейтом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071027-5388-7E4C-CDC8-E70D23D26904}"/>
              </a:ext>
            </a:extLst>
          </p:cNvPr>
          <p:cNvSpPr txBox="1"/>
          <p:nvPr/>
        </p:nvSpPr>
        <p:spPr>
          <a:xfrm>
            <a:off x="5930746" y="5790138"/>
            <a:ext cx="23992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Необходимость в прозрачной методологии оценки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1D457C-C015-2A03-C164-50F7C2788D13}"/>
              </a:ext>
            </a:extLst>
          </p:cNvPr>
          <p:cNvSpPr txBox="1"/>
          <p:nvPr/>
        </p:nvSpPr>
        <p:spPr>
          <a:xfrm>
            <a:off x="8747831" y="5790138"/>
            <a:ext cx="26526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Возможность значительного сокращения вычислительных затрат без потери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014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903921" y="1408532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Цель работы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8BF91-77AF-5F00-BE94-6D57F3A4553B}"/>
              </a:ext>
            </a:extLst>
          </p:cNvPr>
          <p:cNvSpPr txBox="1"/>
          <p:nvPr/>
        </p:nvSpPr>
        <p:spPr>
          <a:xfrm>
            <a:off x="815583" y="1915040"/>
            <a:ext cx="10560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latin typeface="HSE Sans" panose="02000000000000000000" pitchFamily="2" charset="0"/>
              </a:rPr>
              <a:t>Разработка и экспериментальная оценка двухстадийной мультимодальной системы распознавания эмоций, снижающей вычислительные затраты без значимой потери точности классификации.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9624D299-3924-C7CD-7C50-31CD86689DA2}"/>
              </a:ext>
            </a:extLst>
          </p:cNvPr>
          <p:cNvSpPr txBox="1">
            <a:spLocks/>
          </p:cNvSpPr>
          <p:nvPr/>
        </p:nvSpPr>
        <p:spPr>
          <a:xfrm>
            <a:off x="903921" y="2783841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Задачи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59327D-CADD-DF10-AEEE-D70492B85AF1}"/>
              </a:ext>
            </a:extLst>
          </p:cNvPr>
          <p:cNvSpPr txBox="1"/>
          <p:nvPr/>
        </p:nvSpPr>
        <p:spPr>
          <a:xfrm>
            <a:off x="815583" y="3266441"/>
            <a:ext cx="511652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Анализ подходов к распознаванию эмоций по речи (SER), выражениям лиц (FER) и по обеим модальностям (MER)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Поиск возможностей оптимизации за счёт последовательной обработки аудио и видео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Подготовка данных: анализ, выбор и предобработка датасетов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Разработка аудиогейта и сравнение подходов по качеству, скорости и весу моделей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141F91-5AEE-0FBA-534B-F99B2AFD06E3}"/>
              </a:ext>
            </a:extLst>
          </p:cNvPr>
          <p:cNvSpPr txBox="1"/>
          <p:nvPr/>
        </p:nvSpPr>
        <p:spPr>
          <a:xfrm>
            <a:off x="6259892" y="3266441"/>
            <a:ext cx="51165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Построение видео-классификатора: выбор экстрактора признаков и модели-классификатора.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Сборка двухстадийного пайплайна: объединение аудиогейта и классификатора по аудио и видео в одну архитектуру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Бенчмарк для сравнения нашей архитектуры по качеству, времени и памяти против лучших современных моделей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Реализация примера применения архитектуры в реальном времени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38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6100071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Аналитический обзор литературы</a:t>
            </a:r>
            <a:endParaRPr lang="en-US" b="1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rgbClr val="0F2C68"/>
                </a:solidFill>
                <a:latin typeface="Calibri" panose="020F0502020204030204"/>
                <a:ea typeface="+mn-ea"/>
                <a:cs typeface="+mn-cs"/>
              </a:rPr>
              <a:t>Эволюция подходов к распознаванию эмоций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00" name="stage1"/>
          <p:cNvSpPr/>
          <p:nvPr/>
        </p:nvSpPr>
        <p:spPr>
          <a:xfrm>
            <a:off x="558800" y="2286000"/>
            <a:ext cx="2578100" cy="3175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6C7A89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1" name="badge1"/>
          <p:cNvSpPr/>
          <p:nvPr/>
        </p:nvSpPr>
        <p:spPr>
          <a:xfrm>
            <a:off x="711200" y="2463800"/>
            <a:ext cx="431800" cy="431800"/>
          </a:xfrm>
          <a:prstGeom prst="ellipse">
            <a:avLst/>
          </a:prstGeom>
          <a:solidFill>
            <a:srgbClr val="6C7A89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1</a:t>
            </a:r>
          </a:p>
        </p:txBody>
      </p:sp>
      <p:sp>
        <p:nvSpPr>
          <p:cNvPr id="202" name="title1"/>
          <p:cNvSpPr/>
          <p:nvPr/>
        </p:nvSpPr>
        <p:spPr>
          <a:xfrm>
            <a:off x="1270000" y="2463800"/>
            <a:ext cx="1739900" cy="431800"/>
          </a:xfrm>
          <a:prstGeom prst="rect">
            <a:avLst/>
          </a:prstGeom>
          <a:noFill/>
        </p:spPr>
        <p:txBody>
          <a:bodyPr lIns="0" tIns="0" rIns="0" bIns="0" anchor="ctr">
            <a:normAutofit lnSpcReduction="10000"/>
          </a:bodyPr>
          <a:lstStyle/>
          <a:p>
            <a:r>
              <a:rPr lang="ru-RU" sz="1500" b="1" dirty="0">
                <a:solidFill>
                  <a:srgbClr val="6C7A89"/>
                </a:solidFill>
                <a:latin typeface="HSE Sans"/>
              </a:rPr>
              <a:t>Классические методы</a:t>
            </a:r>
          </a:p>
        </p:txBody>
      </p:sp>
      <p:sp>
        <p:nvSpPr>
          <p:cNvPr id="203" name="body1"/>
          <p:cNvSpPr/>
          <p:nvPr/>
        </p:nvSpPr>
        <p:spPr>
          <a:xfrm>
            <a:off x="711200" y="3022600"/>
            <a:ext cx="2273300" cy="2286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Ручной подбор признаков</a:t>
            </a:r>
          </a:p>
          <a:p>
            <a:pPr marL="142875" indent="-142875"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Просодика и мел-частотные </a:t>
            </a:r>
            <a:r>
              <a:rPr lang="ru-RU" sz="1300" dirty="0" err="1">
                <a:solidFill>
                  <a:srgbClr val="1A1A1A"/>
                </a:solidFill>
                <a:latin typeface="HSE Sans" panose="02000000000000000000" pitchFamily="2" charset="0"/>
              </a:rPr>
              <a:t>кепстральные</a:t>
            </a: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 коэффициенты (MFCC), SVM</a:t>
            </a:r>
          </a:p>
          <a:p>
            <a:pPr marL="142875" indent="-142875"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FER: каскады Хаара, Гистограмма направленных градиентов</a:t>
            </a:r>
            <a:r>
              <a:rPr lang="en-US" sz="1300" dirty="0">
                <a:solidFill>
                  <a:srgbClr val="1A1A1A"/>
                </a:solidFill>
                <a:latin typeface="HSE Sans" panose="02000000000000000000" pitchFamily="2" charset="0"/>
              </a:rPr>
              <a:t> </a:t>
            </a: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(</a:t>
            </a:r>
            <a:r>
              <a:rPr lang="en-US" sz="1300" dirty="0">
                <a:solidFill>
                  <a:srgbClr val="1A1A1A"/>
                </a:solidFill>
                <a:latin typeface="HSE Sans" panose="02000000000000000000" pitchFamily="2" charset="0"/>
              </a:rPr>
              <a:t>HOG)</a:t>
            </a:r>
            <a:endParaRPr lang="ru-RU" sz="1300" dirty="0">
              <a:solidFill>
                <a:srgbClr val="1A1A1A"/>
              </a:solidFill>
              <a:latin typeface="HSE Sans" panose="02000000000000000000" pitchFamily="2" charset="0"/>
            </a:endParaRPr>
          </a:p>
        </p:txBody>
      </p:sp>
      <p:sp>
        <p:nvSpPr>
          <p:cNvPr id="204" name="stage2"/>
          <p:cNvSpPr/>
          <p:nvPr/>
        </p:nvSpPr>
        <p:spPr>
          <a:xfrm>
            <a:off x="3390900" y="2286000"/>
            <a:ext cx="2578100" cy="3175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2E86C1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5" name="badge2"/>
          <p:cNvSpPr/>
          <p:nvPr/>
        </p:nvSpPr>
        <p:spPr>
          <a:xfrm>
            <a:off x="3543300" y="2463800"/>
            <a:ext cx="431800" cy="43180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2</a:t>
            </a:r>
          </a:p>
        </p:txBody>
      </p:sp>
      <p:sp>
        <p:nvSpPr>
          <p:cNvPr id="206" name="title2"/>
          <p:cNvSpPr/>
          <p:nvPr/>
        </p:nvSpPr>
        <p:spPr>
          <a:xfrm>
            <a:off x="4102100" y="2463800"/>
            <a:ext cx="1739900" cy="431800"/>
          </a:xfrm>
          <a:prstGeom prst="rect">
            <a:avLst/>
          </a:prstGeom>
          <a:noFill/>
        </p:spPr>
        <p:txBody>
          <a:bodyPr lIns="0" tIns="0" rIns="0" bIns="0" anchor="ctr">
            <a:normAutofit/>
          </a:bodyPr>
          <a:lstStyle/>
          <a:p>
            <a:r>
              <a:rPr lang="ru-RU" sz="1500" b="1" dirty="0">
                <a:solidFill>
                  <a:srgbClr val="2E86C1"/>
                </a:solidFill>
                <a:latin typeface="HSE Sans"/>
              </a:rPr>
              <a:t>Глубокое обучение</a:t>
            </a:r>
          </a:p>
        </p:txBody>
      </p:sp>
      <p:sp>
        <p:nvSpPr>
          <p:cNvPr id="207" name="body2"/>
          <p:cNvSpPr/>
          <p:nvPr/>
        </p:nvSpPr>
        <p:spPr>
          <a:xfrm>
            <a:off x="3543300" y="3022600"/>
            <a:ext cx="2273300" cy="2286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CNN извлекают признаки автоматически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Отказ от ручного проектирования</a:t>
            </a:r>
            <a:r>
              <a:rPr lang="en-US" sz="1300" dirty="0">
                <a:solidFill>
                  <a:srgbClr val="1A1A1A"/>
                </a:solidFill>
                <a:latin typeface="HSE Sans" panose="02000000000000000000" pitchFamily="2" charset="0"/>
              </a:rPr>
              <a:t> </a:t>
            </a: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признаков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Рост точности FER и SER</a:t>
            </a:r>
          </a:p>
        </p:txBody>
      </p:sp>
      <p:sp>
        <p:nvSpPr>
          <p:cNvPr id="208" name="stage3"/>
          <p:cNvSpPr/>
          <p:nvPr/>
        </p:nvSpPr>
        <p:spPr>
          <a:xfrm>
            <a:off x="6223000" y="2286000"/>
            <a:ext cx="2578100" cy="3175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8E44AD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9" name="badge3"/>
          <p:cNvSpPr/>
          <p:nvPr/>
        </p:nvSpPr>
        <p:spPr>
          <a:xfrm>
            <a:off x="6375400" y="2463800"/>
            <a:ext cx="431800" cy="4318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3</a:t>
            </a:r>
          </a:p>
        </p:txBody>
      </p:sp>
      <p:sp>
        <p:nvSpPr>
          <p:cNvPr id="210" name="title3"/>
          <p:cNvSpPr/>
          <p:nvPr/>
        </p:nvSpPr>
        <p:spPr>
          <a:xfrm>
            <a:off x="6934200" y="2463800"/>
            <a:ext cx="1739900" cy="431800"/>
          </a:xfrm>
          <a:prstGeom prst="rect">
            <a:avLst/>
          </a:prstGeom>
          <a:noFill/>
        </p:spPr>
        <p:txBody>
          <a:bodyPr lIns="0" tIns="0" rIns="0" bIns="0" anchor="ctr">
            <a:normAutofit/>
          </a:bodyPr>
          <a:lstStyle/>
          <a:p>
            <a:r>
              <a:rPr lang="ru-RU" sz="1500" b="1" dirty="0">
                <a:solidFill>
                  <a:srgbClr val="8E44AD"/>
                </a:solidFill>
                <a:latin typeface="HSE Sans"/>
              </a:rPr>
              <a:t>SSL-трансформеры</a:t>
            </a:r>
          </a:p>
        </p:txBody>
      </p:sp>
      <p:sp>
        <p:nvSpPr>
          <p:cNvPr id="211" name="body3"/>
          <p:cNvSpPr/>
          <p:nvPr/>
        </p:nvSpPr>
        <p:spPr>
          <a:xfrm>
            <a:off x="6375400" y="3022600"/>
            <a:ext cx="2273300" cy="2286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Wav2Vec 2.0, DistilHuBERT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Предобучение на больших корпусах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Высокая точность, но тяжёлые</a:t>
            </a:r>
          </a:p>
        </p:txBody>
      </p:sp>
      <p:sp>
        <p:nvSpPr>
          <p:cNvPr id="212" name="stage4"/>
          <p:cNvSpPr/>
          <p:nvPr/>
        </p:nvSpPr>
        <p:spPr>
          <a:xfrm>
            <a:off x="9055100" y="2286000"/>
            <a:ext cx="2578100" cy="3175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16A08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13" name="badge4"/>
          <p:cNvSpPr/>
          <p:nvPr/>
        </p:nvSpPr>
        <p:spPr>
          <a:xfrm>
            <a:off x="9207500" y="2463800"/>
            <a:ext cx="431800" cy="43180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4</a:t>
            </a:r>
          </a:p>
        </p:txBody>
      </p:sp>
      <p:sp>
        <p:nvSpPr>
          <p:cNvPr id="214" name="title4"/>
          <p:cNvSpPr/>
          <p:nvPr/>
        </p:nvSpPr>
        <p:spPr>
          <a:xfrm>
            <a:off x="9766300" y="2463800"/>
            <a:ext cx="1739900" cy="431800"/>
          </a:xfrm>
          <a:prstGeom prst="rect">
            <a:avLst/>
          </a:prstGeom>
          <a:noFill/>
        </p:spPr>
        <p:txBody>
          <a:bodyPr lIns="0" tIns="0" rIns="0" bIns="0" anchor="ctr">
            <a:normAutofit/>
          </a:bodyPr>
          <a:lstStyle/>
          <a:p>
            <a:r>
              <a:rPr lang="ru-RU" sz="1500" b="1" dirty="0">
                <a:solidFill>
                  <a:srgbClr val="16A085"/>
                </a:solidFill>
                <a:latin typeface="HSE Sans"/>
              </a:rPr>
              <a:t>Мультимодальность</a:t>
            </a:r>
          </a:p>
        </p:txBody>
      </p:sp>
      <p:sp>
        <p:nvSpPr>
          <p:cNvPr id="215" name="body4"/>
          <p:cNvSpPr/>
          <p:nvPr/>
        </p:nvSpPr>
        <p:spPr>
          <a:xfrm>
            <a:off x="9207500" y="3022600"/>
            <a:ext cx="2273300" cy="2286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Объединение речи, мимики и текста (MER)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Стратегии слияния модальностей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Устойчивость к шуму одной из них</a:t>
            </a:r>
          </a:p>
        </p:txBody>
      </p:sp>
      <p:sp>
        <p:nvSpPr>
          <p:cNvPr id="216" name="arr0"/>
          <p:cNvSpPr/>
          <p:nvPr/>
        </p:nvSpPr>
        <p:spPr>
          <a:xfrm>
            <a:off x="3162300" y="3721100"/>
            <a:ext cx="203200" cy="304800"/>
          </a:xfrm>
          <a:prstGeom prst="rightArrow">
            <a:avLst/>
          </a:prstGeom>
          <a:solidFill>
            <a:srgbClr val="B0BAC9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7" name="arr1"/>
          <p:cNvSpPr/>
          <p:nvPr/>
        </p:nvSpPr>
        <p:spPr>
          <a:xfrm>
            <a:off x="5994400" y="3721100"/>
            <a:ext cx="203200" cy="304800"/>
          </a:xfrm>
          <a:prstGeom prst="rightArrow">
            <a:avLst/>
          </a:prstGeom>
          <a:solidFill>
            <a:srgbClr val="B0BAC9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8" name="arr2"/>
          <p:cNvSpPr/>
          <p:nvPr/>
        </p:nvSpPr>
        <p:spPr>
          <a:xfrm>
            <a:off x="8826500" y="3721100"/>
            <a:ext cx="203200" cy="304800"/>
          </a:xfrm>
          <a:prstGeom prst="rightArrow">
            <a:avLst/>
          </a:prstGeom>
          <a:solidFill>
            <a:srgbClr val="B0BAC9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9" name="takeaway"/>
          <p:cNvSpPr/>
          <p:nvPr/>
        </p:nvSpPr>
        <p:spPr>
          <a:xfrm>
            <a:off x="558800" y="5740400"/>
            <a:ext cx="11074400" cy="736600"/>
          </a:xfrm>
          <a:prstGeom prst="roundRect">
            <a:avLst>
              <a:gd name="adj" fmla="val 12000"/>
            </a:avLst>
          </a:prstGeom>
          <a:solidFill>
            <a:srgbClr val="0F2C68"/>
          </a:solidFill>
          <a:ln>
            <a:noFill/>
          </a:ln>
        </p:spPr>
        <p:txBody>
          <a:bodyPr lIns="144000" tIns="0" rIns="144000" bIns="0" anchor="ctr">
            <a:normAutofit/>
          </a:bodyPr>
          <a:lstStyle/>
          <a:p>
            <a:r>
              <a:rPr lang="ru-RU" sz="1400" b="1" dirty="0">
                <a:solidFill>
                  <a:srgbClr val="FFFFFF"/>
                </a:solidFill>
                <a:latin typeface="HSE Sans"/>
              </a:rPr>
              <a:t>Вывод: </a:t>
            </a:r>
            <a:r>
              <a:rPr lang="ru-RU" sz="1400" dirty="0">
                <a:solidFill>
                  <a:srgbClr val="FFFFFF"/>
                </a:solidFill>
                <a:latin typeface="HSE Sans" panose="02000000000000000000" pitchFamily="2" charset="0"/>
              </a:rPr>
              <a:t>точные мультимодальные модели вычислительно тяжелы — отсюда потребность в лёгких, каскадных решениях для устройств с ограниченными ресурсами.</a:t>
            </a:r>
          </a:p>
        </p:txBody>
      </p:sp>
    </p:spTree>
    <p:extLst>
      <p:ext uri="{BB962C8B-B14F-4D97-AF65-F5344CB8AC3E}">
        <p14:creationId xmlns:p14="http://schemas.microsoft.com/office/powerpoint/2010/main" val="3110176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Датасеты и аугментация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Канделов Дамир Русланович </a:t>
            </a:r>
          </a:p>
          <a:p>
            <a:r>
              <a:rPr lang="ru-RU" dirty="0">
                <a:solidFill>
                  <a:schemeClr val="tx1"/>
                </a:solidFill>
              </a:rPr>
              <a:t>Группа: 22ПИ-1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D6BDA7-65B8-7248-A4BC-256B35919C76}"/>
              </a:ext>
            </a:extLst>
          </p:cNvPr>
          <p:cNvSpPr txBox="1"/>
          <p:nvPr/>
        </p:nvSpPr>
        <p:spPr>
          <a:xfrm>
            <a:off x="896620" y="2514564"/>
            <a:ext cx="3741217" cy="8357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1440</a:t>
            </a:r>
            <a:r>
              <a:rPr lang="en-US" sz="1400" dirty="0">
                <a:latin typeface="HSE Sans" panose="02000000000000000000" pitchFamily="2" charset="0"/>
              </a:rPr>
              <a:t> </a:t>
            </a:r>
            <a:r>
              <a:rPr lang="ru-RU" sz="1400" dirty="0">
                <a:latin typeface="HSE Sans" panose="02000000000000000000" pitchFamily="2" charset="0"/>
              </a:rPr>
              <a:t>аудиовизуальных записей </a:t>
            </a:r>
            <a:endParaRPr lang="en-US" sz="1400" dirty="0">
              <a:latin typeface="HSE Sans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24 профессиональных актера
8 эмоций
Источник для видео-модели и гейта</a:t>
            </a:r>
            <a:endParaRPr lang="en-US" sz="1400" dirty="0">
              <a:latin typeface="HSE San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E1C880-6384-B443-89F8-97AD2D2BE2EA}"/>
              </a:ext>
            </a:extLst>
          </p:cNvPr>
          <p:cNvSpPr txBox="1"/>
          <p:nvPr/>
        </p:nvSpPr>
        <p:spPr>
          <a:xfrm>
            <a:off x="896620" y="3865981"/>
            <a:ext cx="4684878" cy="78653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7442 видео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91 актёр, 48 мужчин и 43 женщины, добровольцы
6 эмоций
Расширяет аудио-данные для гейта</a:t>
            </a:r>
            <a:endParaRPr lang="en-US" sz="1300" dirty="0">
              <a:latin typeface="HSE San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EE0CBB-FAB3-6E47-A61F-20AA1A910F62}"/>
              </a:ext>
            </a:extLst>
          </p:cNvPr>
          <p:cNvSpPr txBox="1"/>
          <p:nvPr/>
        </p:nvSpPr>
        <p:spPr>
          <a:xfrm>
            <a:off x="896620" y="5213503"/>
            <a:ext cx="7003943" cy="887374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12 часов записанных диалогов (5 сессий)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Спонтанные импровизации, а также диалоги по заранее написанному сценарию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10 актеров: 5 мужчин и 5 женщин
4 класса: </a:t>
            </a:r>
            <a:r>
              <a:rPr lang="en-US" sz="1300" dirty="0">
                <a:latin typeface="HSE Sans"/>
              </a:rPr>
              <a:t>neutral, happy, sad, angry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F8336E1-E670-3446-A244-8019EAFEEE85}"/>
              </a:ext>
            </a:extLst>
          </p:cNvPr>
          <p:cNvSpPr/>
          <p:nvPr/>
        </p:nvSpPr>
        <p:spPr>
          <a:xfrm>
            <a:off x="7975600" y="1905000"/>
            <a:ext cx="3810000" cy="45466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81090A-D17C-A74C-A759-4648FBD0CA8F}"/>
              </a:ext>
            </a:extLst>
          </p:cNvPr>
          <p:cNvSpPr txBox="1"/>
          <p:nvPr/>
        </p:nvSpPr>
        <p:spPr>
          <a:xfrm>
            <a:off x="8077200" y="1981200"/>
            <a:ext cx="36068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ctr"/>
            <a:r>
              <a:rPr lang="ru-RU" sz="1300" b="1" dirty="0">
                <a:latin typeface="HSE Sans" panose="02000000000000000000" pitchFamily="2" charset="0"/>
              </a:rPr>
              <a:t>Офлайн-аугментации</a:t>
            </a:r>
            <a:endParaRPr lang="en-US" sz="1300" b="1" dirty="0">
              <a:latin typeface="HSE San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CF86BB-2374-3B46-91C8-DD23FE574D02}"/>
              </a:ext>
            </a:extLst>
          </p:cNvPr>
          <p:cNvSpPr txBox="1"/>
          <p:nvPr/>
        </p:nvSpPr>
        <p:spPr>
          <a:xfrm>
            <a:off x="8140700" y="2579625"/>
            <a:ext cx="3479800" cy="14986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ru-RU" sz="1300" b="1" dirty="0">
                <a:solidFill>
                  <a:srgbClr val="1F4E9B"/>
                </a:solidFill>
                <a:latin typeface="HSE Sans" panose="02000000000000000000" pitchFamily="2" charset="0"/>
              </a:rPr>
              <a:t>Аудио:</a:t>
            </a:r>
          </a:p>
          <a:p>
            <a:pPr marL="0" indent="0">
              <a:buNone/>
            </a:pPr>
            <a:endParaRPr lang="ru-RU" sz="800" b="1" dirty="0">
              <a:solidFill>
                <a:srgbClr val="1F4E9B"/>
              </a:solidFill>
              <a:latin typeface="HSE Sans" panose="02000000000000000000" pitchFamily="2" charset="0"/>
            </a:endParaRP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AddGaussianSNR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гауссовский шум, SNR 5–25 дБ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Shift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временной сдвиг ±1 с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Gain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громкость −9…+6 дБ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TimeStretch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растяжение/сжатие ×0,9–1,1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PitchShift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сдвиг тона ±2 полутона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AB03B8-4D23-2041-9F3A-FAD9A5663AF5}"/>
              </a:ext>
            </a:extLst>
          </p:cNvPr>
          <p:cNvSpPr txBox="1"/>
          <p:nvPr/>
        </p:nvSpPr>
        <p:spPr>
          <a:xfrm>
            <a:off x="8153400" y="4279925"/>
            <a:ext cx="3479800" cy="190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ru-RU" sz="1300" b="1" dirty="0">
                <a:solidFill>
                  <a:srgbClr val="2E7D5B"/>
                </a:solidFill>
                <a:latin typeface="HSE Sans" panose="02000000000000000000" pitchFamily="2" charset="0"/>
              </a:rPr>
              <a:t>Видео:</a:t>
            </a:r>
          </a:p>
          <a:p>
            <a:pPr marL="0" indent="0">
              <a:buNone/>
            </a:pPr>
            <a:endParaRPr lang="ru-RU" sz="800" b="1" dirty="0">
              <a:solidFill>
                <a:srgbClr val="2E7D5B"/>
              </a:solidFill>
              <a:latin typeface="HSE Sans" panose="02000000000000000000" pitchFamily="2" charset="0"/>
            </a:endParaRP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RandomResizedCrop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случайная обрезка, масштаб 0,85–1,0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HFlip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зеркальное отражение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ColorJitter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яркость / контраст / насыщенность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GaussianBlur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размытие по Гауссу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RandomErasing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случайное стирание (cutout)</a:t>
            </a:r>
          </a:p>
        </p:txBody>
      </p:sp>
      <p:sp>
        <p:nvSpPr>
          <p:cNvPr id="6" name="Заголовок 2">
            <a:extLst>
              <a:ext uri="{FF2B5EF4-FFF2-40B4-BE49-F238E27FC236}">
                <a16:creationId xmlns:a16="http://schemas.microsoft.com/office/drawing/2014/main" id="{5D016CD5-829C-2010-254B-20D6B882D503}"/>
              </a:ext>
            </a:extLst>
          </p:cNvPr>
          <p:cNvSpPr txBox="1">
            <a:spLocks/>
          </p:cNvSpPr>
          <p:nvPr/>
        </p:nvSpPr>
        <p:spPr>
          <a:xfrm>
            <a:off x="666489" y="1861070"/>
            <a:ext cx="3525887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sz="1800" b="1" dirty="0"/>
              <a:t>Используемые датасеты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03B039-D87C-7B4E-3028-369F683F91C0}"/>
              </a:ext>
            </a:extLst>
          </p:cNvPr>
          <p:cNvSpPr txBox="1"/>
          <p:nvPr/>
        </p:nvSpPr>
        <p:spPr>
          <a:xfrm>
            <a:off x="604520" y="2145233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ru-RU" dirty="0" err="1"/>
              <a:t>Ryerson</a:t>
            </a:r>
            <a:r>
              <a:rPr lang="ru-RU" dirty="0"/>
              <a:t> Audio-Visual Database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Speech</a:t>
            </a:r>
            <a:r>
              <a:rPr lang="ru-RU" dirty="0"/>
              <a:t> </a:t>
            </a:r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Song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RAVDESS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7EEC3B-7375-400B-F2B7-467E7DE6809A}"/>
              </a:ext>
            </a:extLst>
          </p:cNvPr>
          <p:cNvSpPr txBox="1"/>
          <p:nvPr/>
        </p:nvSpPr>
        <p:spPr>
          <a:xfrm>
            <a:off x="604520" y="3496649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2. </a:t>
            </a:r>
            <a:r>
              <a:rPr lang="ru-RU" dirty="0"/>
              <a:t>Crowd-</a:t>
            </a:r>
            <a:r>
              <a:rPr lang="ru-RU" dirty="0" err="1"/>
              <a:t>sourced</a:t>
            </a:r>
            <a:r>
              <a:rPr lang="ru-RU" dirty="0"/>
              <a:t>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Multimodal</a:t>
            </a:r>
            <a:r>
              <a:rPr lang="ru-RU" dirty="0"/>
              <a:t> </a:t>
            </a:r>
            <a:r>
              <a:rPr lang="ru-RU" dirty="0" err="1"/>
              <a:t>Actors</a:t>
            </a:r>
            <a:r>
              <a:rPr lang="ru-RU" dirty="0"/>
              <a:t> </a:t>
            </a:r>
            <a:r>
              <a:rPr lang="ru-RU" dirty="0" err="1"/>
              <a:t>Dataset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CREMA-D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1EEC80-1DB7-4790-AFD5-235F3FC86D11}"/>
              </a:ext>
            </a:extLst>
          </p:cNvPr>
          <p:cNvSpPr txBox="1"/>
          <p:nvPr/>
        </p:nvSpPr>
        <p:spPr>
          <a:xfrm>
            <a:off x="669537" y="484055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/>
              <a:t>3</a:t>
            </a:r>
            <a:r>
              <a:rPr lang="en-US" dirty="0"/>
              <a:t>. </a:t>
            </a:r>
            <a:r>
              <a:rPr lang="ru-RU" dirty="0"/>
              <a:t>Interactive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dyadic</a:t>
            </a:r>
            <a:r>
              <a:rPr lang="ru-RU" dirty="0"/>
              <a:t> </a:t>
            </a:r>
            <a:r>
              <a:rPr lang="ru-RU" dirty="0" err="1"/>
              <a:t>motion</a:t>
            </a:r>
            <a:r>
              <a:rPr lang="ru-RU" dirty="0"/>
              <a:t> </a:t>
            </a:r>
            <a:r>
              <a:rPr lang="ru-RU" dirty="0" err="1"/>
              <a:t>capture</a:t>
            </a:r>
            <a:r>
              <a:rPr lang="ru-RU" dirty="0"/>
              <a:t> </a:t>
            </a:r>
            <a:r>
              <a:rPr lang="ru-RU" dirty="0" err="1"/>
              <a:t>database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IEMOCAP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80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675843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Общая архитектура предлагаемого решения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hesis">
            <a:extLst>
              <a:ext uri="{FF2B5EF4-FFF2-40B4-BE49-F238E27FC236}">
                <a16:creationId xmlns:a16="http://schemas.microsoft.com/office/drawing/2014/main" id="{EF433B54-F4EC-7146-8C9B-288A38E196AB}"/>
              </a:ext>
            </a:extLst>
          </p:cNvPr>
          <p:cNvSpPr txBox="1"/>
          <p:nvPr/>
        </p:nvSpPr>
        <p:spPr>
          <a:xfrm>
            <a:off x="1033462" y="2167362"/>
            <a:ext cx="4851400" cy="381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>
            <a:defPPr>
              <a:defRPr lang="en-RU"/>
            </a:defPPr>
            <a:lvl1pPr marL="285750" indent="-285750">
              <a:buFont typeface="Arial" panose="020B0604020202020204" pitchFamily="34" charset="0"/>
              <a:buChar char="•"/>
              <a:defRPr sz="1400">
                <a:latin typeface="HSE Sans" panose="02000000000000000000" pitchFamily="2" charset="0"/>
              </a:defRPr>
            </a:lvl1pPr>
          </a:lstStyle>
          <a:p>
            <a:r>
              <a:rPr lang="ru-RU" sz="1600" dirty="0"/>
              <a:t>Двухстадийная каскадная архитектура с ранним решением об активации видео ветви</a:t>
            </a:r>
          </a:p>
          <a:p>
            <a:endParaRPr lang="ru-RU" sz="1600" dirty="0"/>
          </a:p>
          <a:p>
            <a:r>
              <a:rPr lang="ru-RU" sz="1600" dirty="0"/>
              <a:t>Лёгкий бинарный классификатор на входе фильтрует нейтральную речь</a:t>
            </a:r>
          </a:p>
          <a:p>
            <a:endParaRPr lang="ru-RU" sz="1600" dirty="0"/>
          </a:p>
          <a:p>
            <a:r>
              <a:rPr lang="ru-RU" sz="1600" dirty="0"/>
              <a:t>Обработка видео и бимодальный классификатор запускаются только для эмоциональной речи</a:t>
            </a:r>
          </a:p>
          <a:p>
            <a:endParaRPr lang="ru-RU" sz="1600" dirty="0"/>
          </a:p>
          <a:p>
            <a:r>
              <a:rPr lang="ru-RU" sz="1600" dirty="0"/>
              <a:t>Возврат метки «нейтрально» без запуска детектора лиц и видео-ветви</a:t>
            </a: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9C7289-3EB8-F165-8A73-667819B43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11" y="1160924"/>
            <a:ext cx="4851400" cy="51122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7EF551-942F-6733-AFE0-25699B5ACC45}"/>
              </a:ext>
            </a:extLst>
          </p:cNvPr>
          <p:cNvSpPr txBox="1"/>
          <p:nvPr/>
        </p:nvSpPr>
        <p:spPr>
          <a:xfrm>
            <a:off x="7971649" y="6232322"/>
            <a:ext cx="22563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400" dirty="0">
                <a:latin typeface="HSE Sans" panose="02000000000000000000" pitchFamily="2" charset="0"/>
              </a:rPr>
              <a:t>Предлагаемая архитектура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751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аудиогейта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6A876C-057E-374C-819B-5ADA3745C017}"/>
              </a:ext>
            </a:extLst>
          </p:cNvPr>
          <p:cNvSpPr txBox="1"/>
          <p:nvPr/>
        </p:nvSpPr>
        <p:spPr>
          <a:xfrm>
            <a:off x="666489" y="1609762"/>
            <a:ext cx="10708648" cy="762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just">
              <a:lnSpc>
                <a:spcPct val="100000"/>
              </a:lnSpc>
            </a:pPr>
            <a:r>
              <a:rPr lang="ru-RU" sz="1400" dirty="0">
                <a:latin typeface="HSE Sans" panose="02000000000000000000" pitchFamily="2" charset="0"/>
              </a:rPr>
              <a:t>Сравнивались 4 бинарных аудио классификатора «нейтрально / не нейтрально».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1C56F9-CF95-0B15-9D06-0F2DFDED7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89" y="3166629"/>
            <a:ext cx="10893597" cy="2701345"/>
          </a:xfrm>
          <a:prstGeom prst="rect">
            <a:avLst/>
          </a:prstGeom>
        </p:spPr>
      </p:pic>
      <p:sp>
        <p:nvSpPr>
          <p:cNvPr id="240" name="audioList"/>
          <p:cNvSpPr/>
          <p:nvPr/>
        </p:nvSpPr>
        <p:spPr>
          <a:xfrm>
            <a:off x="666489" y="2010034"/>
            <a:ext cx="5265620" cy="2500709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71450" indent="-171450" algn="just">
              <a:lnSpc>
                <a:spcPct val="102000"/>
              </a:lnSpc>
              <a:spcBef>
                <a:spcPts val="7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MelCNN</a:t>
            </a:r>
            <a:r>
              <a:rPr lang="ru-RU" sz="1400" dirty="0">
                <a:latin typeface="HSE Sans" panose="02000000000000000000" pitchFamily="2" charset="0"/>
              </a:rPr>
              <a:t> — лог-мел </a:t>
            </a:r>
            <a:r>
              <a:rPr lang="ru-RU" sz="1400" dirty="0" err="1">
                <a:latin typeface="HSE Sans" panose="02000000000000000000" pitchFamily="2" charset="0"/>
              </a:rPr>
              <a:t>спектограмма</a:t>
            </a:r>
            <a:r>
              <a:rPr lang="ru-RU" sz="1400" dirty="0">
                <a:latin typeface="HSE Sans" panose="02000000000000000000" pitchFamily="2" charset="0"/>
              </a:rPr>
              <a:t> + сверточная нейронная сеть; лучший баланс, самый лёгкий (8 МБ) и быстрый (3,4 мс)</a:t>
            </a:r>
          </a:p>
          <a:p>
            <a:pPr marL="171450" indent="-171450" algn="just">
              <a:lnSpc>
                <a:spcPct val="102000"/>
              </a:lnSpc>
              <a:spcBef>
                <a:spcPts val="7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DistilHuBERT + Linear</a:t>
            </a:r>
            <a:r>
              <a:rPr lang="ru-RU" sz="1400" dirty="0">
                <a:latin typeface="HSE Sans" panose="02000000000000000000" pitchFamily="2" charset="0"/>
              </a:rPr>
              <a:t> — замороженный SSL-энкодер; самое высокое качество (0,904), но 90 МБ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05ADEF-0DD8-9417-7E13-8B55B14D9F35}"/>
              </a:ext>
            </a:extLst>
          </p:cNvPr>
          <p:cNvSpPr txBox="1"/>
          <p:nvPr/>
        </p:nvSpPr>
        <p:spPr>
          <a:xfrm>
            <a:off x="6259892" y="1990762"/>
            <a:ext cx="5300194" cy="1273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02000"/>
              </a:lnSpc>
              <a:spcBef>
                <a:spcPts val="7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Wav2Vec 2.0 + </a:t>
            </a:r>
            <a:r>
              <a:rPr lang="ru-RU" sz="1400" b="1" dirty="0">
                <a:latin typeface="HSE Sans"/>
              </a:rPr>
              <a:t>Многослойный перцептрон</a:t>
            </a:r>
            <a:r>
              <a:rPr lang="en-US" sz="1400" b="1" dirty="0">
                <a:latin typeface="HSE Sans"/>
              </a:rPr>
              <a:t> (MLP)</a:t>
            </a:r>
            <a:r>
              <a:rPr lang="ru-RU" sz="1400" dirty="0">
                <a:latin typeface="HSE Sans" panose="02000000000000000000" pitchFamily="2" charset="0"/>
              </a:rPr>
              <a:t> — замороженный wav2vec</a:t>
            </a:r>
            <a:r>
              <a:rPr lang="en-US" sz="1400" dirty="0">
                <a:latin typeface="HSE Sans" panose="02000000000000000000" pitchFamily="2" charset="0"/>
              </a:rPr>
              <a:t> 2.0</a:t>
            </a:r>
            <a:r>
              <a:rPr lang="ru-RU" sz="1400" dirty="0">
                <a:latin typeface="HSE Sans" panose="02000000000000000000" pitchFamily="2" charset="0"/>
              </a:rPr>
              <a:t>; низкий </a:t>
            </a:r>
            <a:r>
              <a:rPr lang="ru-RU" sz="1400" dirty="0" err="1">
                <a:latin typeface="HSE Sans" panose="02000000000000000000" pitchFamily="2" charset="0"/>
              </a:rPr>
              <a:t>recall</a:t>
            </a:r>
            <a:r>
              <a:rPr lang="ru-RU" sz="1400" dirty="0">
                <a:latin typeface="HSE Sans" panose="02000000000000000000" pitchFamily="2" charset="0"/>
              </a:rPr>
              <a:t> (0,51), 360 МБ, медленный</a:t>
            </a:r>
          </a:p>
          <a:p>
            <a:pPr marL="171450" indent="-171450" algn="just">
              <a:lnSpc>
                <a:spcPct val="102000"/>
              </a:lnSpc>
              <a:spcBef>
                <a:spcPts val="7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MFCC + SVM</a:t>
            </a:r>
            <a:r>
              <a:rPr lang="ru-RU" sz="1400" dirty="0">
                <a:latin typeface="HSE Sans" panose="02000000000000000000" pitchFamily="2" charset="0"/>
              </a:rPr>
              <a:t> — классический </a:t>
            </a:r>
            <a:r>
              <a:rPr lang="ru-RU" sz="1400" dirty="0" err="1">
                <a:latin typeface="HSE Sans" panose="02000000000000000000" pitchFamily="2" charset="0"/>
              </a:rPr>
              <a:t>бейзлайн</a:t>
            </a:r>
            <a:r>
              <a:rPr lang="ru-RU" sz="1400" dirty="0">
                <a:latin typeface="HSE Sans" panose="02000000000000000000" pitchFamily="2" charset="0"/>
              </a:rPr>
              <a:t>; заметно слабее, низкие метрики качества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0F4D6-BF8C-4805-08BB-6B848DF2F1DF}"/>
              </a:ext>
            </a:extLst>
          </p:cNvPr>
          <p:cNvSpPr txBox="1"/>
          <p:nvPr/>
        </p:nvSpPr>
        <p:spPr>
          <a:xfrm>
            <a:off x="666488" y="6125819"/>
            <a:ext cx="107086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Выбран </a:t>
            </a:r>
            <a:r>
              <a:rPr lang="en-US" sz="1600" b="1" dirty="0" err="1">
                <a:latin typeface="HSE Sans"/>
              </a:rPr>
              <a:t>MelCNN</a:t>
            </a:r>
            <a:r>
              <a:rPr lang="ru-RU" sz="1600" dirty="0">
                <a:latin typeface="HSE Sans" panose="02000000000000000000" pitchFamily="2" charset="0"/>
              </a:rPr>
              <a:t> — лучший баланс качества и скорости (0,827 </a:t>
            </a:r>
            <a:r>
              <a:rPr lang="ru-RU" sz="1600" dirty="0" err="1">
                <a:latin typeface="HSE Sans" panose="02000000000000000000" pitchFamily="2" charset="0"/>
              </a:rPr>
              <a:t>acc</a:t>
            </a:r>
            <a:r>
              <a:rPr lang="ru-RU" sz="1600" dirty="0">
                <a:latin typeface="HSE Sans" panose="02000000000000000000" pitchFamily="2" charset="0"/>
              </a:rPr>
              <a:t> / 0,734 F1; 3,4 мс; 8,1 МБ).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61ABF-EC6D-0161-F681-77F89133CC20}"/>
              </a:ext>
            </a:extLst>
          </p:cNvPr>
          <p:cNvSpPr txBox="1"/>
          <p:nvPr/>
        </p:nvSpPr>
        <p:spPr>
          <a:xfrm>
            <a:off x="4002869" y="5767873"/>
            <a:ext cx="460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Метрики сравнения аудио моделей</a:t>
            </a:r>
            <a:r>
              <a:rPr lang="en-US" sz="1400" dirty="0">
                <a:latin typeface="HSE Sans" panose="02000000000000000000" pitchFamily="2" charset="0"/>
              </a:rPr>
              <a:t> (RAVDESS + CREMA-D)</a:t>
            </a:r>
          </a:p>
        </p:txBody>
      </p:sp>
    </p:spTree>
    <p:extLst>
      <p:ext uri="{BB962C8B-B14F-4D97-AF65-F5344CB8AC3E}">
        <p14:creationId xmlns:p14="http://schemas.microsoft.com/office/powerpoint/2010/main" val="2641225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видео-модели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7608D0-359F-3E40-BF29-3346EA0AFAC1}"/>
              </a:ext>
            </a:extLst>
          </p:cNvPr>
          <p:cNvSpPr txBox="1"/>
          <p:nvPr/>
        </p:nvSpPr>
        <p:spPr>
          <a:xfrm>
            <a:off x="628389" y="1546779"/>
            <a:ext cx="11328400" cy="415971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ru-RU" sz="1400" dirty="0">
                <a:latin typeface="HSE Sans" panose="02000000000000000000" pitchFamily="2" charset="0"/>
              </a:rPr>
              <a:t>Сравнивались 6 конфигураций «бэкбон × агрегатор» на RAVDESS. Выбран </a:t>
            </a:r>
            <a:r>
              <a:rPr lang="en-US" sz="1400" b="1" dirty="0">
                <a:latin typeface="HSE Sans"/>
              </a:rPr>
              <a:t>EmotiEffNet + BiLSTM</a:t>
            </a:r>
            <a:r>
              <a:rPr lang="ru-RU" sz="1400" dirty="0">
                <a:latin typeface="HSE Sans" panose="02000000000000000000" pitchFamily="2" charset="0"/>
              </a:rPr>
              <a:t> (0,683 acc / 0,671 F1).</a:t>
            </a:r>
          </a:p>
        </p:txBody>
      </p:sp>
      <p:sp>
        <p:nvSpPr>
          <p:cNvPr id="240" name="videoList"/>
          <p:cNvSpPr/>
          <p:nvPr/>
        </p:nvSpPr>
        <p:spPr>
          <a:xfrm>
            <a:off x="666489" y="1962750"/>
            <a:ext cx="4546600" cy="1264521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400" b="1" dirty="0" err="1">
                <a:solidFill>
                  <a:srgbClr val="00B0F0"/>
                </a:solidFill>
                <a:latin typeface="HSE Sans"/>
              </a:rPr>
              <a:t>Бэкбоны</a:t>
            </a:r>
            <a:r>
              <a:rPr lang="en-US" sz="1400" b="1" dirty="0">
                <a:solidFill>
                  <a:srgbClr val="00B0F0"/>
                </a:solidFill>
                <a:latin typeface="HSE Sans"/>
              </a:rPr>
              <a:t> (</a:t>
            </a:r>
            <a:r>
              <a:rPr lang="en-US" sz="1400" b="1" dirty="0" err="1">
                <a:solidFill>
                  <a:srgbClr val="00B0F0"/>
                </a:solidFill>
                <a:latin typeface="HSE Sans"/>
              </a:rPr>
              <a:t>извлечение</a:t>
            </a:r>
            <a:r>
              <a:rPr lang="en-US" sz="1400" b="1" dirty="0">
                <a:solidFill>
                  <a:srgbClr val="00B0F0"/>
                </a:solidFill>
                <a:latin typeface="HSE Sans"/>
              </a:rPr>
              <a:t> </a:t>
            </a:r>
            <a:r>
              <a:rPr lang="en-US" sz="1400" b="1" dirty="0" err="1">
                <a:solidFill>
                  <a:srgbClr val="00B0F0"/>
                </a:solidFill>
                <a:latin typeface="HSE Sans"/>
              </a:rPr>
              <a:t>признаков</a:t>
            </a:r>
            <a:r>
              <a:rPr lang="en-US" sz="1400" b="1" dirty="0">
                <a:solidFill>
                  <a:srgbClr val="00B0F0"/>
                </a:solidFill>
                <a:latin typeface="HSE Sans"/>
              </a:rPr>
              <a:t> </a:t>
            </a:r>
            <a:r>
              <a:rPr lang="en-US" sz="1400" b="1" dirty="0" err="1">
                <a:solidFill>
                  <a:srgbClr val="00B0F0"/>
                </a:solidFill>
                <a:latin typeface="HSE Sans"/>
              </a:rPr>
              <a:t>лица</a:t>
            </a:r>
            <a:r>
              <a:rPr lang="en-US" sz="1400" b="1" dirty="0">
                <a:solidFill>
                  <a:srgbClr val="00B0F0"/>
                </a:solidFill>
                <a:latin typeface="HSE Sans"/>
              </a:rPr>
              <a:t>)</a:t>
            </a: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MobileNetV3-Small</a:t>
            </a:r>
            <a:r>
              <a:rPr lang="ru-RU" sz="1400" dirty="0">
                <a:latin typeface="HSE Sans" panose="02000000000000000000" pitchFamily="2" charset="0"/>
              </a:rPr>
              <a:t> — лёгкий мобильный </a:t>
            </a:r>
            <a:r>
              <a:rPr lang="ru-RU" sz="1400" dirty="0" err="1">
                <a:latin typeface="HSE Sans" panose="02000000000000000000" pitchFamily="2" charset="0"/>
              </a:rPr>
              <a:t>бэкбон</a:t>
            </a:r>
            <a:r>
              <a:rPr lang="ru-RU" sz="1400" dirty="0">
                <a:latin typeface="HSE Sans" panose="02000000000000000000" pitchFamily="2" charset="0"/>
              </a:rPr>
              <a:t>; заметно слабее</a:t>
            </a:r>
            <a:endParaRPr lang="en-US" sz="1400" b="1" dirty="0">
              <a:latin typeface="HSE Sans"/>
            </a:endParaRP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EmotiEffNet</a:t>
            </a:r>
            <a:r>
              <a:rPr lang="ru-RU" sz="1400" dirty="0">
                <a:latin typeface="HSE Sans" panose="02000000000000000000" pitchFamily="2" charset="0"/>
              </a:rPr>
              <a:t> — EfficientNet-B0, дообучен на AffectNet; точнее всех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591182-48A4-E118-16A0-FA1F74B6FB18}"/>
              </a:ext>
            </a:extLst>
          </p:cNvPr>
          <p:cNvSpPr txBox="1"/>
          <p:nvPr/>
        </p:nvSpPr>
        <p:spPr>
          <a:xfrm>
            <a:off x="5536939" y="1962750"/>
            <a:ext cx="6096000" cy="1036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400" b="1" dirty="0">
                <a:solidFill>
                  <a:srgbClr val="00B0F0"/>
                </a:solidFill>
                <a:latin typeface="HSE Sans"/>
              </a:rPr>
              <a:t>Модели классификаторы эмоций </a:t>
            </a:r>
            <a:r>
              <a:rPr lang="en-US" sz="1400" b="1" dirty="0">
                <a:solidFill>
                  <a:srgbClr val="00B0F0"/>
                </a:solidFill>
                <a:latin typeface="HSE Sans"/>
              </a:rPr>
              <a:t>(16 </a:t>
            </a:r>
            <a:r>
              <a:rPr lang="en-US" sz="1400" b="1" dirty="0" err="1">
                <a:solidFill>
                  <a:srgbClr val="00B0F0"/>
                </a:solidFill>
                <a:latin typeface="HSE Sans"/>
              </a:rPr>
              <a:t>кадров</a:t>
            </a:r>
            <a:r>
              <a:rPr lang="en-US" sz="1400" b="1" dirty="0">
                <a:solidFill>
                  <a:srgbClr val="00B0F0"/>
                </a:solidFill>
                <a:latin typeface="HSE Sans"/>
              </a:rPr>
              <a:t>)</a:t>
            </a: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BiLSTM</a:t>
            </a:r>
            <a:r>
              <a:rPr lang="ru-RU" sz="1400" dirty="0">
                <a:latin typeface="HSE Sans" panose="02000000000000000000" pitchFamily="2" charset="0"/>
              </a:rPr>
              <a:t> — двунаправленный LSTM; выбран в каскад</a:t>
            </a: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BiGRU</a:t>
            </a:r>
            <a:r>
              <a:rPr lang="ru-RU" sz="1400" dirty="0">
                <a:latin typeface="HSE Sans" panose="02000000000000000000" pitchFamily="2" charset="0"/>
              </a:rPr>
              <a:t> — облегчённый аналог; качество сопоставимо</a:t>
            </a: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TCN</a:t>
            </a:r>
            <a:r>
              <a:rPr lang="ru-RU" sz="1400" dirty="0">
                <a:latin typeface="HSE Sans" panose="02000000000000000000" pitchFamily="2" charset="0"/>
              </a:rPr>
              <a:t> — временные свёртки; ниже по качеству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876188-ED90-7B04-1B51-1F1FA9F8C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389" y="3191208"/>
            <a:ext cx="10761270" cy="32131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243123-3D7A-9165-DDB0-EE71586091DF}"/>
              </a:ext>
            </a:extLst>
          </p:cNvPr>
          <p:cNvSpPr txBox="1"/>
          <p:nvPr/>
        </p:nvSpPr>
        <p:spPr>
          <a:xfrm>
            <a:off x="4221480" y="6353160"/>
            <a:ext cx="37490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Метрики сравнения видео моделей</a:t>
            </a:r>
            <a:r>
              <a:rPr lang="en-US" sz="1400" dirty="0">
                <a:latin typeface="HSE Sans" panose="02000000000000000000" pitchFamily="2" charset="0"/>
              </a:rPr>
              <a:t> (RAVDESS)</a:t>
            </a:r>
          </a:p>
        </p:txBody>
      </p:sp>
    </p:spTree>
    <p:extLst>
      <p:ext uri="{BB962C8B-B14F-4D97-AF65-F5344CB8AC3E}">
        <p14:creationId xmlns:p14="http://schemas.microsoft.com/office/powerpoint/2010/main" val="1061531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Итоговая архитектура системы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Intro7">
            <a:extLst>
              <a:ext uri="{FF2B5EF4-FFF2-40B4-BE49-F238E27FC236}">
                <a16:creationId xmlns:a16="http://schemas.microsoft.com/office/drawing/2014/main" id="{186E8000-AD89-7442-A431-F1FCCEFC7CC5}"/>
              </a:ext>
            </a:extLst>
          </p:cNvPr>
          <p:cNvSpPr txBox="1"/>
          <p:nvPr/>
        </p:nvSpPr>
        <p:spPr>
          <a:xfrm>
            <a:off x="666489" y="5460874"/>
            <a:ext cx="10871200" cy="635000"/>
          </a:xfrm>
          <a:prstGeom prst="rect">
            <a:avLst/>
          </a:prstGeom>
          <a:noFill/>
        </p:spPr>
        <p:txBody>
          <a:bodyPr vertOverflow="overflow" vert="horz" wrap="square" lIns="50800" tIns="25400" rIns="50800" bIns="25400" rtlCol="0" anchor="t">
            <a:noAutofit/>
          </a:bodyPr>
          <a:lstStyle/>
          <a:p>
            <a:pPr algn="l"/>
            <a:r>
              <a:rPr lang="en-US" sz="1600" dirty="0" err="1">
                <a:latin typeface="HSE Sans"/>
              </a:rPr>
              <a:t>MelCNN</a:t>
            </a:r>
            <a:r>
              <a:rPr lang="en-US" sz="1600" dirty="0">
                <a:latin typeface="HSE Sans"/>
              </a:rPr>
              <a:t>-</a:t>
            </a:r>
            <a:r>
              <a:rPr lang="ru-RU" sz="1600" dirty="0">
                <a:latin typeface="HSE Sans" panose="02000000000000000000" pitchFamily="2" charset="0"/>
              </a:rPr>
              <a:t>гейт отсеивает нейтральные реплики; при эмоциональной речи активируется бимодальная голова </a:t>
            </a:r>
            <a:r>
              <a:rPr lang="en-US" sz="1600" dirty="0" err="1">
                <a:latin typeface="HSE Sans"/>
              </a:rPr>
              <a:t>BiLSTMBimodal</a:t>
            </a:r>
            <a:r>
              <a:rPr lang="en-US" sz="1600" dirty="0">
                <a:latin typeface="HSE Sans"/>
              </a:rPr>
              <a:t>. </a:t>
            </a:r>
            <a:r>
              <a:rPr lang="ru-RU" sz="1600" dirty="0">
                <a:latin typeface="HSE Sans" panose="02000000000000000000" pitchFamily="2" charset="0"/>
              </a:rPr>
              <a:t>Лог-мел спектрограмма переиспользуется гейтом и аудио-веткой.</a:t>
            </a:r>
            <a:endParaRPr lang="en-US" sz="1600" dirty="0"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ACC085-AFBB-EDC2-67B8-EF7CE5FFD4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9" t="2880" r="6791" b="28790"/>
          <a:stretch>
            <a:fillRect/>
          </a:stretch>
        </p:blipFill>
        <p:spPr>
          <a:xfrm>
            <a:off x="1523671" y="1974246"/>
            <a:ext cx="9144658" cy="29095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13FC0E-B3D7-0636-A3F8-5A3D1DF12920}"/>
              </a:ext>
            </a:extLst>
          </p:cNvPr>
          <p:cNvSpPr txBox="1"/>
          <p:nvPr/>
        </p:nvSpPr>
        <p:spPr>
          <a:xfrm>
            <a:off x="4778781" y="4826714"/>
            <a:ext cx="29622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400" dirty="0">
                <a:latin typeface="HSE Sans" panose="02000000000000000000" pitchFamily="2" charset="0"/>
              </a:rPr>
              <a:t>Архитектура предлагаемой системы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7165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71596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Бимодальная голова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CE62E5-4DEE-3849-A1F9-FADA7378860B}"/>
              </a:ext>
            </a:extLst>
          </p:cNvPr>
          <p:cNvSpPr txBox="1"/>
          <p:nvPr/>
        </p:nvSpPr>
        <p:spPr>
          <a:xfrm>
            <a:off x="660400" y="1622613"/>
            <a:ext cx="10871200" cy="635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500" dirty="0">
                <a:latin typeface="HSE Sans"/>
              </a:rPr>
              <a:t>А</a:t>
            </a:r>
            <a:r>
              <a:rPr lang="ru-RU" sz="1500" dirty="0">
                <a:latin typeface="HSE Sans" panose="02000000000000000000" pitchFamily="2" charset="0"/>
              </a:rPr>
              <a:t>удио- и видео-признаки извлекаются раздельно, конкатенируются в общий вектор и подаются в линейный классификатор на 4 класса. Аудио-ветка повторяет </a:t>
            </a:r>
            <a:r>
              <a:rPr lang="en-US" sz="1500" dirty="0" err="1">
                <a:latin typeface="HSE Sans"/>
              </a:rPr>
              <a:t>MelCNN</a:t>
            </a:r>
            <a:r>
              <a:rPr lang="en-US" sz="1500" dirty="0">
                <a:latin typeface="HSE Sans"/>
              </a:rPr>
              <a:t>, </a:t>
            </a:r>
            <a:r>
              <a:rPr lang="ru-RU" sz="1500" dirty="0">
                <a:latin typeface="HSE Sans" panose="02000000000000000000" pitchFamily="2" charset="0"/>
              </a:rPr>
              <a:t>видео-ветка — </a:t>
            </a:r>
            <a:r>
              <a:rPr lang="en-US" sz="1500" dirty="0">
                <a:latin typeface="HSE Sans"/>
              </a:rPr>
              <a:t>EmotiEffNet + BiLSTM.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33D80E-1855-91F9-8069-073B57C8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710" y="2302437"/>
            <a:ext cx="8496578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8F8DE0-57F4-E6AE-A81C-D30A7CDA32DF}"/>
              </a:ext>
            </a:extLst>
          </p:cNvPr>
          <p:cNvSpPr txBox="1"/>
          <p:nvPr/>
        </p:nvSpPr>
        <p:spPr>
          <a:xfrm>
            <a:off x="5415171" y="6112437"/>
            <a:ext cx="13616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>
                <a:latin typeface="HSE Sans" panose="02000000000000000000" pitchFamily="2" charset="0"/>
              </a:rPr>
              <a:t>BiLSTMBimodal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057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Эффективность и итоговое сравнение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C6D35F-A3FA-F94B-8683-2A75781DC1B1}"/>
              </a:ext>
            </a:extLst>
          </p:cNvPr>
          <p:cNvSpPr txBox="1"/>
          <p:nvPr/>
        </p:nvSpPr>
        <p:spPr>
          <a:xfrm>
            <a:off x="666489" y="1620209"/>
            <a:ext cx="10561805" cy="5842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Предложенная модель достигает следующих метрик качества: </a:t>
            </a:r>
            <a:r>
              <a:rPr lang="en-US" sz="1400" dirty="0">
                <a:latin typeface="HSE Sans"/>
              </a:rPr>
              <a:t>UAR 0,509 </a:t>
            </a:r>
            <a:r>
              <a:rPr lang="ru-RU" sz="1400" dirty="0">
                <a:latin typeface="HSE Sans" panose="02000000000000000000" pitchFamily="2" charset="0"/>
              </a:rPr>
              <a:t>и </a:t>
            </a:r>
            <a:r>
              <a:rPr lang="en-US" sz="1400" dirty="0">
                <a:latin typeface="HSE Sans"/>
              </a:rPr>
              <a:t>Macro-F1 0,494 </a:t>
            </a:r>
            <a:r>
              <a:rPr lang="ru-RU" sz="1400" dirty="0">
                <a:latin typeface="HSE Sans" panose="02000000000000000000" pitchFamily="2" charset="0"/>
              </a:rPr>
              <a:t>при размере всего 37,3 МБ и времени 216 мс. Конкуренты на </a:t>
            </a:r>
            <a:r>
              <a:rPr lang="en-US" sz="1400" dirty="0">
                <a:latin typeface="HSE Sans"/>
              </a:rPr>
              <a:t>Wav2Vec2 — ~379 </a:t>
            </a:r>
            <a:r>
              <a:rPr lang="ru-RU" sz="1400" dirty="0">
                <a:latin typeface="HSE Sans" panose="02000000000000000000" pitchFamily="2" charset="0"/>
              </a:rPr>
              <a:t>МБ и ~610 мс при более низком качестве.</a:t>
            </a:r>
            <a:endParaRPr lang="en-US" sz="1400" dirty="0"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1CBF05-3900-DF2B-9B8C-22D06B85B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508" y="2119838"/>
            <a:ext cx="8790984" cy="43367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1AAE11-0972-B3DD-DE62-0A98BFF858AA}"/>
              </a:ext>
            </a:extLst>
          </p:cNvPr>
          <p:cNvSpPr txBox="1"/>
          <p:nvPr/>
        </p:nvSpPr>
        <p:spPr>
          <a:xfrm>
            <a:off x="4255543" y="6204313"/>
            <a:ext cx="3680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Результаты бенчмарка на датасете </a:t>
            </a:r>
            <a:r>
              <a:rPr lang="en-US" sz="1400" dirty="0">
                <a:latin typeface="HSE Sans" panose="02000000000000000000" pitchFamily="2" charset="0"/>
              </a:rPr>
              <a:t>IEMOCAP</a:t>
            </a:r>
          </a:p>
        </p:txBody>
      </p:sp>
    </p:spTree>
    <p:extLst>
      <p:ext uri="{BB962C8B-B14F-4D97-AF65-F5344CB8AC3E}">
        <p14:creationId xmlns:p14="http://schemas.microsoft.com/office/powerpoint/2010/main" val="3927182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10687311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Пример применения архитектуры в реальном времени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142098-D07C-234B-AD57-80716B005A0E}"/>
              </a:ext>
            </a:extLst>
          </p:cNvPr>
          <p:cNvSpPr txBox="1"/>
          <p:nvPr/>
        </p:nvSpPr>
        <p:spPr>
          <a:xfrm>
            <a:off x="660400" y="1905000"/>
            <a:ext cx="10871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Прототип повторяет логику финальной модели и работает в три параллельных потока:</a:t>
            </a:r>
            <a:endParaRPr lang="en-US" sz="15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DFC2F28-8C31-E147-B6D8-7AF9C7E7C503}"/>
              </a:ext>
            </a:extLst>
          </p:cNvPr>
          <p:cNvSpPr/>
          <p:nvPr/>
        </p:nvSpPr>
        <p:spPr>
          <a:xfrm>
            <a:off x="6604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854243-6D16-CD44-B8E9-C768C3E2D949}"/>
              </a:ext>
            </a:extLst>
          </p:cNvPr>
          <p:cNvSpPr/>
          <p:nvPr/>
        </p:nvSpPr>
        <p:spPr>
          <a:xfrm>
            <a:off x="660400" y="2413000"/>
            <a:ext cx="3454400" cy="482600"/>
          </a:xfrm>
          <a:prstGeom prst="rect">
            <a:avLst/>
          </a:prstGeom>
          <a:solidFill>
            <a:srgbClr val="1F4E9B"/>
          </a:solidFill>
          <a:ln w="19050" cap="flat" cmpd="sng" algn="ctr">
            <a:solidFill>
              <a:srgbClr val="1E4D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Аудио-поток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8DD06-2F4E-1B43-A052-2555203CDFE7}"/>
              </a:ext>
            </a:extLst>
          </p:cNvPr>
          <p:cNvSpPr txBox="1"/>
          <p:nvPr/>
        </p:nvSpPr>
        <p:spPr>
          <a:xfrm>
            <a:off x="8382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Непрерывно опрашивает микрофон
• 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Silero VAD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сегментирует речь на отдельные фразы
•  Накопление в буфере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EAFA8D6-A064-9746-8649-2931C68410AD}"/>
              </a:ext>
            </a:extLst>
          </p:cNvPr>
          <p:cNvSpPr/>
          <p:nvPr/>
        </p:nvSpPr>
        <p:spPr>
          <a:xfrm>
            <a:off x="43688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FA7017-7267-ED41-B40E-20A600152EE1}"/>
              </a:ext>
            </a:extLst>
          </p:cNvPr>
          <p:cNvSpPr/>
          <p:nvPr/>
        </p:nvSpPr>
        <p:spPr>
          <a:xfrm>
            <a:off x="4368800" y="2413000"/>
            <a:ext cx="3454400" cy="482600"/>
          </a:xfrm>
          <a:prstGeom prst="rect">
            <a:avLst/>
          </a:prstGeom>
          <a:solidFill>
            <a:srgbClr val="2F7D5B"/>
          </a:solidFill>
          <a:ln w="19050" cap="flat" cmpd="sng" algn="ctr">
            <a:solidFill>
              <a:srgbClr val="2F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Видео-поток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BC6F8F-2363-154C-B13B-33FA73D1EBF5}"/>
              </a:ext>
            </a:extLst>
          </p:cNvPr>
          <p:cNvSpPr txBox="1"/>
          <p:nvPr/>
        </p:nvSpPr>
        <p:spPr>
          <a:xfrm>
            <a:off x="45466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Читает кадры с веб-камеры в фоне
•  Кольцевой буфер ~3 секунды
•  Готов к выборке 16 кадров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33FB9B-9223-C84F-B980-75594DF4CEB6}"/>
              </a:ext>
            </a:extLst>
          </p:cNvPr>
          <p:cNvSpPr/>
          <p:nvPr/>
        </p:nvSpPr>
        <p:spPr>
          <a:xfrm>
            <a:off x="80772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22F8A-915B-BE4A-8405-0AF4C78BFF65}"/>
              </a:ext>
            </a:extLst>
          </p:cNvPr>
          <p:cNvSpPr/>
          <p:nvPr/>
        </p:nvSpPr>
        <p:spPr>
          <a:xfrm>
            <a:off x="8077200" y="2413000"/>
            <a:ext cx="3454400" cy="482600"/>
          </a:xfrm>
          <a:prstGeom prst="rect">
            <a:avLst/>
          </a:prstGeom>
          <a:solidFill>
            <a:schemeClr val="tx1"/>
          </a:solidFill>
          <a:ln w="1905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Поток инференса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FE2D7E-B081-594D-9FAD-9510023008B9}"/>
              </a:ext>
            </a:extLst>
          </p:cNvPr>
          <p:cNvSpPr txBox="1"/>
          <p:nvPr/>
        </p:nvSpPr>
        <p:spPr>
          <a:xfrm>
            <a:off x="82550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Запускается при завершении фразы
•  Каскадный инференс (гейт → голова)
•  Флаг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processing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против гонок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201F6-BB71-0149-93F2-C6C919BCE5F6}"/>
              </a:ext>
            </a:extLst>
          </p:cNvPr>
          <p:cNvSpPr/>
          <p:nvPr/>
        </p:nvSpPr>
        <p:spPr>
          <a:xfrm>
            <a:off x="660400" y="4724400"/>
            <a:ext cx="10871200" cy="13716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>
              <a:spcAft>
                <a:spcPts val="600"/>
              </a:spcAft>
            </a:pPr>
            <a:r>
              <a:rPr lang="ru-RU" sz="1400" b="1" dirty="0">
                <a:solidFill>
                  <a:srgbClr val="2E7D5B"/>
                </a:solidFill>
                <a:latin typeface="HSE Sans" panose="02000000000000000000" pitchFamily="2" charset="0"/>
              </a:rPr>
              <a:t>Производительность: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нейтральные фразы — менее 10 мс, эмоциональные — 60–110 мс на Apple M1 Pro (MPS), без потери плавности интерфейса.</a:t>
            </a:r>
          </a:p>
          <a:p>
            <a:r>
              <a:rPr lang="ru-RU" sz="1400" b="1" dirty="0">
                <a:solidFill>
                  <a:srgbClr val="102E5A"/>
                </a:solidFill>
                <a:latin typeface="HSE Sans" panose="02000000000000000000" pitchFamily="2" charset="0"/>
              </a:rPr>
              <a:t>Ограничения: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нет очереди фраз; возможное расхождение аудио- и видео-окон; обработка одного лица; упрощённый fallback детекции; чувствительность к освещению.</a:t>
            </a:r>
          </a:p>
        </p:txBody>
      </p:sp>
    </p:spTree>
    <p:extLst>
      <p:ext uri="{BB962C8B-B14F-4D97-AF65-F5344CB8AC3E}">
        <p14:creationId xmlns:p14="http://schemas.microsoft.com/office/powerpoint/2010/main" val="3272054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Заключение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BA1797D-E1C0-1413-7394-3F0A0E2135E1}"/>
              </a:ext>
            </a:extLst>
          </p:cNvPr>
          <p:cNvSpPr/>
          <p:nvPr/>
        </p:nvSpPr>
        <p:spPr>
          <a:xfrm>
            <a:off x="4576199" y="4295040"/>
            <a:ext cx="3039602" cy="1328749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E435D7-16D5-35BB-B61D-5A76F0935C93}"/>
              </a:ext>
            </a:extLst>
          </p:cNvPr>
          <p:cNvSpPr txBox="1"/>
          <p:nvPr/>
        </p:nvSpPr>
        <p:spPr>
          <a:xfrm>
            <a:off x="4752465" y="4384497"/>
            <a:ext cx="26719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Реализован потоковый real-time прототип: нейтральные фразы обрабатываются менее чем за 10 мс, эмоциональные — за 60–110 мс.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C2300B5-012E-5A1E-8609-08A14F7A17F1}"/>
              </a:ext>
            </a:extLst>
          </p:cNvPr>
          <p:cNvSpPr/>
          <p:nvPr/>
        </p:nvSpPr>
        <p:spPr>
          <a:xfrm>
            <a:off x="4576199" y="2167362"/>
            <a:ext cx="3039602" cy="1582173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BBE6F1-86E3-D0C2-4C58-2B6C2C6389F2}"/>
              </a:ext>
            </a:extLst>
          </p:cNvPr>
          <p:cNvSpPr/>
          <p:nvPr/>
        </p:nvSpPr>
        <p:spPr>
          <a:xfrm>
            <a:off x="8238522" y="2167362"/>
            <a:ext cx="3039602" cy="1385735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7B9441-A64E-62AE-2B59-52F9FDC8C1D2}"/>
              </a:ext>
            </a:extLst>
          </p:cNvPr>
          <p:cNvSpPr/>
          <p:nvPr/>
        </p:nvSpPr>
        <p:spPr>
          <a:xfrm>
            <a:off x="913876" y="2167363"/>
            <a:ext cx="3039602" cy="1778590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0F87565-B390-B77D-C10D-8C5AFEFBACBE}"/>
              </a:ext>
            </a:extLst>
          </p:cNvPr>
          <p:cNvSpPr/>
          <p:nvPr/>
        </p:nvSpPr>
        <p:spPr>
          <a:xfrm>
            <a:off x="8238522" y="3945954"/>
            <a:ext cx="3039602" cy="1677836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2A2146B-9FEF-8C60-91C4-0E80193D2FF1}"/>
              </a:ext>
            </a:extLst>
          </p:cNvPr>
          <p:cNvSpPr/>
          <p:nvPr/>
        </p:nvSpPr>
        <p:spPr>
          <a:xfrm>
            <a:off x="913876" y="4359057"/>
            <a:ext cx="3039602" cy="1264732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6022D-561F-CD5F-6F84-1173545EDCF3}"/>
              </a:ext>
            </a:extLst>
          </p:cNvPr>
          <p:cNvSpPr txBox="1"/>
          <p:nvPr/>
        </p:nvSpPr>
        <p:spPr>
          <a:xfrm>
            <a:off x="4759540" y="2283917"/>
            <a:ext cx="267291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Разработана оригинальная двухстадийная каскадная архитектура с лёгким аудиогейтом MelCNN, отсеивающим нейтральные реплики.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2B1BF6-7812-4467-A137-CBD2F2444ADD}"/>
              </a:ext>
            </a:extLst>
          </p:cNvPr>
          <p:cNvSpPr txBox="1"/>
          <p:nvPr/>
        </p:nvSpPr>
        <p:spPr>
          <a:xfrm>
            <a:off x="8367951" y="2293724"/>
            <a:ext cx="27807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Реализовано переиспользование одной лог-мел спектрограммы в гейте и аудио-ветви — отказ от тяжёлых энкодеров, итоговый размер 37 МБ.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33674B-DDFB-B86A-5D67-AEDA5D83B2AE}"/>
              </a:ext>
            </a:extLst>
          </p:cNvPr>
          <p:cNvSpPr txBox="1"/>
          <p:nvPr/>
        </p:nvSpPr>
        <p:spPr>
          <a:xfrm>
            <a:off x="1049851" y="2298662"/>
            <a:ext cx="27525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Проанализированы современные подходы SER, FER и MER; выявлено их ключевое ограничение — высокая вычислительная сложность при параллельной обработке модальностей.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0103E-EBA1-7B2D-9E27-E7BA883003B6}"/>
              </a:ext>
            </a:extLst>
          </p:cNvPr>
          <p:cNvSpPr txBox="1"/>
          <p:nvPr/>
        </p:nvSpPr>
        <p:spPr>
          <a:xfrm>
            <a:off x="8421861" y="4071132"/>
            <a:ext cx="26729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dirty="0"/>
              <a:t>Полученные результаты имеют как практическую, так и исследовательскую ценность</a:t>
            </a:r>
            <a:r>
              <a:rPr lang="ru-RU" sz="1400" dirty="0">
                <a:latin typeface="HSE Sans" panose="02000000000000000000" pitchFamily="2" charset="0"/>
              </a:rPr>
              <a:t>. Код доступен на GitHub: </a:t>
            </a:r>
            <a:r>
              <a:rPr lang="en-US" sz="1400" b="1" dirty="0">
                <a:latin typeface="HSE Sans" panose="02000000000000000000" pitchFamily="2" charset="0"/>
              </a:rPr>
              <a:t>github.com/Kaparya/Classificati</a:t>
            </a:r>
            <a:r>
              <a:rPr lang="en-US" b="1" dirty="0"/>
              <a:t>o</a:t>
            </a:r>
            <a:r>
              <a:rPr lang="en-US" sz="1400" b="1" dirty="0">
                <a:latin typeface="HSE Sans" panose="02000000000000000000" pitchFamily="2" charset="0"/>
              </a:rPr>
              <a:t>n-of-Facial-Expressions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03BFE-0D32-6BE2-8D37-4EE85F449373}"/>
              </a:ext>
            </a:extLst>
          </p:cNvPr>
          <p:cNvSpPr txBox="1"/>
          <p:nvPr/>
        </p:nvSpPr>
        <p:spPr>
          <a:xfrm>
            <a:off x="1097217" y="4403660"/>
            <a:ext cx="26729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Построен единый воспроизводимый LOSO-бенчмарк на IEMOCAP: UAR 0,5094 — лучший результат среди 6 моделей.</a:t>
            </a:r>
          </a:p>
        </p:txBody>
      </p:sp>
    </p:spTree>
    <p:extLst>
      <p:ext uri="{BB962C8B-B14F-4D97-AF65-F5344CB8AC3E}">
        <p14:creationId xmlns:p14="http://schemas.microsoft.com/office/powerpoint/2010/main" val="3774285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50F89-A8D7-ABE2-663D-B37F6E53162D}"/>
              </a:ext>
            </a:extLst>
          </p:cNvPr>
          <p:cNvSpPr txBox="1"/>
          <p:nvPr/>
        </p:nvSpPr>
        <p:spPr>
          <a:xfrm>
            <a:off x="2627838" y="3013501"/>
            <a:ext cx="69363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b="1" dirty="0">
                <a:latin typeface="HSE Sans" panose="02000000000000000000" pitchFamily="2" charset="0"/>
              </a:rPr>
              <a:t>Спасибо за внимание!</a:t>
            </a:r>
            <a:endParaRPr lang="en-RU" sz="4800" b="1" dirty="0">
              <a:latin typeface="HSE Sans" panose="02000000000000000000" pitchFamily="2" charset="0"/>
            </a:endParaRPr>
          </a:p>
        </p:txBody>
      </p:sp>
      <p:sp>
        <p:nvSpPr>
          <p:cNvPr id="6" name="Текст 4">
            <a:extLst>
              <a:ext uri="{FF2B5EF4-FFF2-40B4-BE49-F238E27FC236}">
                <a16:creationId xmlns:a16="http://schemas.microsoft.com/office/drawing/2014/main" id="{3729DA24-8405-CD3A-BD58-BF095EB2ECE9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955B5CB5-86AC-C332-6C2B-66568CC24A07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8" name="Текст 6">
            <a:extLst>
              <a:ext uri="{FF2B5EF4-FFF2-40B4-BE49-F238E27FC236}">
                <a16:creationId xmlns:a16="http://schemas.microsoft.com/office/drawing/2014/main" id="{2F7BAEAD-2084-C0FB-8BD0-9CEB72328C01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</p:spTree>
    <p:extLst>
      <p:ext uri="{BB962C8B-B14F-4D97-AF65-F5344CB8AC3E}">
        <p14:creationId xmlns:p14="http://schemas.microsoft.com/office/powerpoint/2010/main" val="4062552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161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Матрицы ошибок на IEMOCAP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5EDBD0-F632-E64C-85B2-1998AD022AC5}"/>
              </a:ext>
            </a:extLst>
          </p:cNvPr>
          <p:cNvSpPr txBox="1"/>
          <p:nvPr/>
        </p:nvSpPr>
        <p:spPr>
          <a:xfrm>
            <a:off x="671892" y="1660553"/>
            <a:ext cx="11176000" cy="6096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400" dirty="0">
                <a:latin typeface="HSE Sans"/>
              </a:rPr>
              <a:t>Наша модель</a:t>
            </a:r>
            <a:r>
              <a:rPr lang="en-US" sz="1400" dirty="0">
                <a:latin typeface="HSE Sans"/>
              </a:rPr>
              <a:t> </a:t>
            </a:r>
            <a:r>
              <a:rPr lang="ru-RU" sz="1400" dirty="0">
                <a:latin typeface="HSE Sans" panose="02000000000000000000" pitchFamily="2" charset="0"/>
              </a:rPr>
              <a:t>уверенно распознаёт </a:t>
            </a:r>
            <a:r>
              <a:rPr lang="en-US" sz="1400" dirty="0">
                <a:latin typeface="HSE Sans"/>
              </a:rPr>
              <a:t>neutral (0,71) </a:t>
            </a:r>
            <a:r>
              <a:rPr lang="ru-RU" sz="1400" dirty="0">
                <a:latin typeface="HSE Sans" panose="02000000000000000000" pitchFamily="2" charset="0"/>
              </a:rPr>
              <a:t>и </a:t>
            </a:r>
            <a:r>
              <a:rPr lang="en-US" sz="1400" dirty="0">
                <a:latin typeface="HSE Sans"/>
              </a:rPr>
              <a:t>angry (0,62); </a:t>
            </a:r>
            <a:r>
              <a:rPr lang="ru-RU" sz="1400" dirty="0">
                <a:latin typeface="HSE Sans" panose="02000000000000000000" pitchFamily="2" charset="0"/>
              </a:rPr>
              <a:t>основная ошибка — путаница </a:t>
            </a:r>
            <a:r>
              <a:rPr lang="en-US" sz="1400" dirty="0">
                <a:latin typeface="HSE Sans"/>
              </a:rPr>
              <a:t>happy ↔ angry (excited </a:t>
            </a:r>
            <a:r>
              <a:rPr lang="ru-RU" sz="1400" dirty="0">
                <a:latin typeface="HSE Sans" panose="02000000000000000000" pitchFamily="2" charset="0"/>
              </a:rPr>
              <a:t>объединён с </a:t>
            </a:r>
            <a:r>
              <a:rPr lang="en-US" sz="1400" dirty="0">
                <a:latin typeface="HSE Sans"/>
              </a:rPr>
              <a:t>happy). </a:t>
            </a:r>
            <a:r>
              <a:rPr lang="ru-RU" sz="1400" dirty="0" err="1">
                <a:latin typeface="HSE Sans" panose="02000000000000000000" pitchFamily="2" charset="0"/>
              </a:rPr>
              <a:t>Трансформерные</a:t>
            </a:r>
            <a:r>
              <a:rPr lang="ru-RU" sz="1400" dirty="0">
                <a:latin typeface="HSE Sans" panose="02000000000000000000" pitchFamily="2" charset="0"/>
              </a:rPr>
              <a:t> конкуренты лучше на </a:t>
            </a:r>
            <a:r>
              <a:rPr lang="en-US" sz="1400" dirty="0">
                <a:latin typeface="HSE Sans"/>
              </a:rPr>
              <a:t>happy, </a:t>
            </a:r>
            <a:r>
              <a:rPr lang="ru-RU" sz="1400" dirty="0">
                <a:latin typeface="HSE Sans" panose="02000000000000000000" pitchFamily="2" charset="0"/>
              </a:rPr>
              <a:t>но слабее на </a:t>
            </a:r>
            <a:r>
              <a:rPr lang="en-US" sz="1400" dirty="0">
                <a:latin typeface="HSE Sans"/>
              </a:rPr>
              <a:t>neutral.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89C21F-85A1-8BB7-F623-BC11DDBF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0" y="2333673"/>
            <a:ext cx="6604000" cy="3975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CB0CA6F-3692-B30C-4DE3-FBBE458CD0D6}"/>
              </a:ext>
            </a:extLst>
          </p:cNvPr>
          <p:cNvSpPr txBox="1"/>
          <p:nvPr/>
        </p:nvSpPr>
        <p:spPr>
          <a:xfrm>
            <a:off x="4146116" y="6271548"/>
            <a:ext cx="38997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Матрица ошибок нашей архитектуры (</a:t>
            </a:r>
            <a:r>
              <a:rPr lang="en-US" sz="1400" dirty="0">
                <a:latin typeface="HSE Sans" panose="02000000000000000000" pitchFamily="2" charset="0"/>
              </a:rPr>
              <a:t>IEMOCAP)</a:t>
            </a:r>
          </a:p>
        </p:txBody>
      </p:sp>
    </p:spTree>
    <p:extLst>
      <p:ext uri="{BB962C8B-B14F-4D97-AF65-F5344CB8AC3E}">
        <p14:creationId xmlns:p14="http://schemas.microsoft.com/office/powerpoint/2010/main" val="3851004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0297A-DE05-9808-5481-6B9F792AA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80447719-7212-728E-00FA-202ABE5C7C3E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9252574" cy="3962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Используемые метрики качества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94B7DA04-5809-1DCA-7D31-24A037705C49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E744E8E8-F2F2-2DC2-572D-32701B96D7D6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308A7AF0-E616-80CB-2F87-EA9EC4FCE715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8BEC145-628A-138F-DAAD-D313D1E3EC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241897-D23B-59A6-7FEB-3EB93E1F09CE}"/>
                  </a:ext>
                </a:extLst>
              </p:cNvPr>
              <p:cNvSpPr txBox="1"/>
              <p:nvPr/>
            </p:nvSpPr>
            <p:spPr>
              <a:xfrm>
                <a:off x="972417" y="3420515"/>
                <a:ext cx="3387213" cy="777330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rmAutofit/>
              </a:bodyPr>
              <a:lstStyle>
                <a:defPPr>
                  <a:defRPr lang="en-RU"/>
                </a:defPPr>
                <a:lvl1pPr>
                  <a:lnSpc>
                    <a:spcPct val="100000"/>
                  </a:lnSpc>
                  <a:spcBef>
                    <a:spcPct val="0"/>
                  </a:spcBef>
                  <a:buNone/>
                  <a:defRPr sz="2400" b="1" i="0">
                    <a:latin typeface="HSE Sans" panose="02000000000000000000" pitchFamily="2" charset="0"/>
                    <a:ea typeface="+mj-ea"/>
                    <a:cs typeface="+mj-cs"/>
                  </a:defRPr>
                </a:lvl1pPr>
              </a:lstStyle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800" b="0"/>
                      <m:t>UAR</m:t>
                    </m:r>
                    <m:r>
                      <a:rPr lang="en-US" sz="2800" b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800" b="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m:rPr>
                            <m:nor/>
                          </m:rPr>
                          <a:rPr lang="en-US" sz="2800" b="0"/>
                          <m:t>Recal</m:t>
                        </m:r>
                        <m:sSub>
                          <m:sSubPr>
                            <m:ctrlPr>
                              <a:rPr lang="en-US" sz="28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2800" b="0"/>
                              <m:t>l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2800" b="0"/>
                              <m:t>i</m:t>
                            </m:r>
                          </m:sub>
                        </m:sSub>
                      </m:e>
                    </m:nary>
                  </m:oMath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241897-D23B-59A6-7FEB-3EB93E1F09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417" y="3420515"/>
                <a:ext cx="3387213" cy="777330"/>
              </a:xfrm>
              <a:prstGeom prst="rect">
                <a:avLst/>
              </a:prstGeom>
              <a:blipFill>
                <a:blip r:embed="rId2"/>
                <a:stretch>
                  <a:fillRect l="-5970" t="-80645" r="-2239" b="-10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3E6DC30-3236-DF82-39D3-4C81953B4F75}"/>
              </a:ext>
            </a:extLst>
          </p:cNvPr>
          <p:cNvSpPr txBox="1"/>
          <p:nvPr/>
        </p:nvSpPr>
        <p:spPr>
          <a:xfrm>
            <a:off x="4629663" y="3474781"/>
            <a:ext cx="4388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>
                <a:latin typeface="HSE Sans" panose="02000000000000000000" pitchFamily="2" charset="0"/>
              </a:rPr>
              <a:t>UAR </a:t>
            </a:r>
            <a:r>
              <a:rPr lang="ru-RU" sz="1400" dirty="0">
                <a:latin typeface="HSE Sans" panose="02000000000000000000" pitchFamily="2" charset="0"/>
              </a:rPr>
              <a:t>позволяет объективно оценить качество модели на несбалансированных данных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0B2E8DD-4D13-8239-065F-D62EF6651291}"/>
                  </a:ext>
                </a:extLst>
              </p:cNvPr>
              <p:cNvSpPr txBox="1"/>
              <p:nvPr/>
            </p:nvSpPr>
            <p:spPr>
              <a:xfrm>
                <a:off x="972417" y="4798183"/>
                <a:ext cx="4667176" cy="777331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rmAutofit/>
              </a:bodyPr>
              <a:lstStyle>
                <a:defPPr>
                  <a:defRPr lang="en-RU"/>
                </a:defPPr>
                <a:lvl1pPr>
                  <a:lnSpc>
                    <a:spcPct val="100000"/>
                  </a:lnSpc>
                  <a:spcBef>
                    <a:spcPct val="0"/>
                  </a:spcBef>
                  <a:buNone/>
                  <a:defRPr sz="2400" b="1" i="0">
                    <a:latin typeface="HSE Sans" panose="02000000000000000000" pitchFamily="2" charset="0"/>
                    <a:ea typeface="+mj-ea"/>
                    <a:cs typeface="+mj-cs"/>
                  </a:defRPr>
                </a:lvl1pPr>
              </a:lstStyle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macro</m:t>
                        </m:r>
                      </m:sub>
                    </m:sSub>
                    <m:r>
                      <a:rPr lang="en-US" sz="2800" b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800" b="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sz="28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2800" b="0" i="0" smtClean="0"/>
                              <m:t>F</m:t>
                            </m:r>
                            <m:r>
                              <m:rPr>
                                <m:nor/>
                              </m:rPr>
                              <a:rPr lang="en-US" sz="2800" b="0" i="0" smtClean="0"/>
                              <m:t>1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2800" b="0"/>
                              <m:t>i</m:t>
                            </m:r>
                          </m:sub>
                        </m:sSub>
                      </m:e>
                    </m:nary>
                  </m:oMath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0B2E8DD-4D13-8239-065F-D62EF6651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417" y="4798183"/>
                <a:ext cx="4667176" cy="777331"/>
              </a:xfrm>
              <a:prstGeom prst="rect">
                <a:avLst/>
              </a:prstGeom>
              <a:blipFill>
                <a:blip r:embed="rId3"/>
                <a:stretch>
                  <a:fillRect l="-4336" t="-77778" b="-10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34FC6E-1865-0506-4754-1AF91FD2E8AD}"/>
                  </a:ext>
                </a:extLst>
              </p:cNvPr>
              <p:cNvSpPr txBox="1"/>
              <p:nvPr/>
            </p:nvSpPr>
            <p:spPr>
              <a:xfrm>
                <a:off x="972417" y="2042848"/>
                <a:ext cx="2961836" cy="777329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rmAutofit/>
              </a:bodyPr>
              <a:lstStyle>
                <a:defPPr>
                  <a:defRPr lang="en-RU"/>
                </a:defPPr>
                <a:lvl1pPr marL="342900" indent="-342900">
                  <a:lnSpc>
                    <a:spcPct val="100000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  <a:defRPr sz="2800" b="0" i="1">
                    <a:latin typeface="Cambria Math" panose="02040503050406030204" pitchFamily="18" charset="0"/>
                    <a:ea typeface="+mj-ea"/>
                    <a:cs typeface="+mj-cs"/>
                  </a:defRPr>
                </a:lvl1pPr>
              </a:lstStyle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/>
                      <m:t>Recall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/>
                          <m:t>TP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/>
                          <m:t>TP</m:t>
                        </m:r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i="0"/>
                          <m:t>FN</m:t>
                        </m:r>
                      </m:den>
                    </m:f>
                  </m:oMath>
                </a14:m>
                <a:endParaRPr lang="en-US" i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34FC6E-1865-0506-4754-1AF91FD2E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417" y="2042848"/>
                <a:ext cx="2961836" cy="777329"/>
              </a:xfrm>
              <a:prstGeom prst="rect">
                <a:avLst/>
              </a:prstGeom>
              <a:blipFill>
                <a:blip r:embed="rId4"/>
                <a:stretch>
                  <a:fillRect l="-6838" b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881DF4F-8336-F2C7-7D6D-026154AC1661}"/>
                  </a:ext>
                </a:extLst>
              </p:cNvPr>
              <p:cNvSpPr txBox="1"/>
              <p:nvPr/>
            </p:nvSpPr>
            <p:spPr>
              <a:xfrm>
                <a:off x="5639593" y="2042848"/>
                <a:ext cx="6096000" cy="777329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rmAutofit/>
              </a:bodyPr>
              <a:lstStyle>
                <a:defPPr>
                  <a:defRPr lang="en-RU"/>
                </a:defPPr>
                <a:lvl1pPr marL="342900" indent="-342900">
                  <a:lnSpc>
                    <a:spcPct val="100000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  <a:defRPr sz="2800" b="0" i="1">
                    <a:latin typeface="Cambria Math" panose="02040503050406030204" pitchFamily="18" charset="0"/>
                    <a:ea typeface="+mj-ea"/>
                    <a:cs typeface="+mj-cs"/>
                  </a:defRPr>
                </a:lvl1pPr>
              </a:lstStyle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/>
                      <m:t>Accuracy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/>
                          <m:t>TP</m:t>
                        </m:r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i="0"/>
                          <m:t>TN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/>
                          <m:t>TP</m:t>
                        </m:r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i="0"/>
                          <m:t>TN</m:t>
                        </m:r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i="0"/>
                          <m:t>FP</m:t>
                        </m:r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i="0"/>
                          <m:t>FN</m:t>
                        </m:r>
                      </m:den>
                    </m:f>
                  </m:oMath>
                </a14:m>
                <a:endParaRPr lang="en-US" i="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881DF4F-8336-F2C7-7D6D-026154AC1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3" y="2042848"/>
                <a:ext cx="6096000" cy="777329"/>
              </a:xfrm>
              <a:prstGeom prst="rect">
                <a:avLst/>
              </a:prstGeom>
              <a:blipFill>
                <a:blip r:embed="rId5"/>
                <a:stretch>
                  <a:fillRect l="-3326" b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71317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139E5-56E7-5AD6-6A59-72BA99B18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DCC78AF2-BDE8-346C-E273-24FEECB7700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8738768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Используемые в итоговом сравнении модели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87441EAF-31EE-ED83-4CB7-F824A0ACF862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E5B219EA-F188-CABF-CFE6-E92F260A57F6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9DF011A9-1C98-4CC5-3F37-A87D7C4EC0CE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620251C-D6A2-8145-EC55-11F06B466C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D88EDF6-2E1D-B8C0-1885-FC7C98B86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6178064"/>
              </p:ext>
            </p:extLst>
          </p:nvPr>
        </p:nvGraphicFramePr>
        <p:xfrm>
          <a:off x="1295246" y="2088981"/>
          <a:ext cx="9929292" cy="419570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52160">
                  <a:extLst>
                    <a:ext uri="{9D8B030D-6E8A-4147-A177-3AD203B41FA5}">
                      <a16:colId xmlns:a16="http://schemas.microsoft.com/office/drawing/2014/main" val="2439184967"/>
                    </a:ext>
                  </a:extLst>
                </a:gridCol>
                <a:gridCol w="3022946">
                  <a:extLst>
                    <a:ext uri="{9D8B030D-6E8A-4147-A177-3AD203B41FA5}">
                      <a16:colId xmlns:a16="http://schemas.microsoft.com/office/drawing/2014/main" val="429387887"/>
                    </a:ext>
                  </a:extLst>
                </a:gridCol>
                <a:gridCol w="1669632">
                  <a:extLst>
                    <a:ext uri="{9D8B030D-6E8A-4147-A177-3AD203B41FA5}">
                      <a16:colId xmlns:a16="http://schemas.microsoft.com/office/drawing/2014/main" val="2385801630"/>
                    </a:ext>
                  </a:extLst>
                </a:gridCol>
                <a:gridCol w="1278707">
                  <a:extLst>
                    <a:ext uri="{9D8B030D-6E8A-4147-A177-3AD203B41FA5}">
                      <a16:colId xmlns:a16="http://schemas.microsoft.com/office/drawing/2014/main" val="1089684546"/>
                    </a:ext>
                  </a:extLst>
                </a:gridCol>
                <a:gridCol w="1424013">
                  <a:extLst>
                    <a:ext uri="{9D8B030D-6E8A-4147-A177-3AD203B41FA5}">
                      <a16:colId xmlns:a16="http://schemas.microsoft.com/office/drawing/2014/main" val="778583575"/>
                    </a:ext>
                  </a:extLst>
                </a:gridCol>
                <a:gridCol w="1181834">
                  <a:extLst>
                    <a:ext uri="{9D8B030D-6E8A-4147-A177-3AD203B41FA5}">
                      <a16:colId xmlns:a16="http://schemas.microsoft.com/office/drawing/2014/main" val="2112534968"/>
                    </a:ext>
                  </a:extLst>
                </a:gridCol>
              </a:tblGrid>
              <a:tr h="265278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Модель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Расшифровка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Модальность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Число параметров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Инициализация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Год публикации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83376239"/>
                  </a:ext>
                </a:extLst>
              </a:tr>
              <a:tr h="559513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Ours (BiLSTM bimodal)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MelCNN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BiLSTMBimodal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предобученная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5.72M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Предобученная</a:t>
                      </a:r>
                      <a:endParaRPr lang="en-US" sz="1400" kern="120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2026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06650488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Ours (scratch)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MelCNN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BiLSTMBimodal</a:t>
                      </a:r>
                      <a:r>
                        <a:rPr lang="ru-RU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indent="0" algn="ctr"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не предобученная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5.72M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2026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9621633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GIA-MIC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Gated Interactive Attention with Modality-Invariant Learning Constraints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0.84M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2025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7154157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SCME+GF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Sparse Cross-Modal Encoder + Gated Fusion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0.97M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2024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45430670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MM-</a:t>
                      </a:r>
                      <a:r>
                        <a:rPr lang="en-US" sz="1400" kern="1200" dirty="0" err="1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NodeFormer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Multimodal Node-Former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1.49M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2024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2957976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ResNet18+GRU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Residual Network (18 layers) + Gated Recurrent Unit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Видео</a:t>
                      </a:r>
                      <a:endParaRPr lang="en-US" sz="1400" kern="120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0.81M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-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51918201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9C512C4D-A48D-0F27-F704-82F3913B9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0459" y="1703717"/>
            <a:ext cx="59740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Таблица 7. Сравнительная характеристика моделей бенчмарка</a:t>
            </a:r>
            <a:endParaRPr kumimoji="0" lang="ru-R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3526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92672-BB8E-130F-0398-497F92A17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C9A3576D-5B8E-6281-8C64-8BBC156555A7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9252574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Пример работы прототипа реального времени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A58F71E0-342F-CD9A-91D0-51801C8AD5C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B9B41EA7-E8D0-812E-D074-7A6A8E2968B5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6799277B-6C89-833F-A7DB-E0F5924D3B0D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BA7E8B4-3DDF-9044-14E8-329725AF92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34353F-4FE4-8167-F557-93F27D54AEA3}"/>
              </a:ext>
            </a:extLst>
          </p:cNvPr>
          <p:cNvSpPr txBox="1"/>
          <p:nvPr/>
        </p:nvSpPr>
        <p:spPr>
          <a:xfrm>
            <a:off x="5282219" y="6161402"/>
            <a:ext cx="16275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Real-time </a:t>
            </a:r>
            <a:r>
              <a:rPr lang="ru-RU" sz="1400" dirty="0">
                <a:latin typeface="HSE Sans" panose="02000000000000000000" pitchFamily="2" charset="0"/>
              </a:rPr>
              <a:t>прототип</a:t>
            </a:r>
            <a:endParaRPr lang="en-US" sz="1400" dirty="0">
              <a:latin typeface="HSE Sans" panose="020000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2BFFEC-BE3B-5E63-E687-B3EE4D0350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226" y="1702610"/>
            <a:ext cx="3896356" cy="2194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009E55-D478-2F29-EC29-68C1A93B39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127" y="1702610"/>
            <a:ext cx="3896356" cy="2194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05FB2C-71C5-D398-EF72-80DE3F7533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226" y="3932006"/>
            <a:ext cx="3896356" cy="2194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08E0DB-93D3-E9F3-8347-B72A40AD02D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127" y="3932006"/>
            <a:ext cx="3866228" cy="21945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3479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DD4ED33-31C3-364B-B334-F3160050B56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0beb44a-06ef-4079-824f-cf28bc702924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3605</TotalTime>
  <Words>1736</Words>
  <Application>Microsoft Macintosh PowerPoint</Application>
  <PresentationFormat>Widescreen</PresentationFormat>
  <Paragraphs>265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HSE Sans</vt:lpstr>
      <vt:lpstr>Times New Roman</vt:lpstr>
      <vt:lpstr>Office Theme</vt:lpstr>
      <vt:lpstr>Классификация выражений лиц с детектированием эмоций в речи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clashoc 28</cp:lastModifiedBy>
  <cp:revision>71</cp:revision>
  <cp:lastPrinted>2021-11-11T13:08:42Z</cp:lastPrinted>
  <dcterms:created xsi:type="dcterms:W3CDTF">2021-11-11T08:52:47Z</dcterms:created>
  <dcterms:modified xsi:type="dcterms:W3CDTF">2026-06-02T19:07:32Z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