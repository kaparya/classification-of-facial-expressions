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302" r:id="rId6"/>
    <p:sldId id="306" r:id="rId7"/>
    <p:sldId id="307" r:id="rId8"/>
    <p:sldId id="308" r:id="rId9"/>
    <p:sldId id="311" r:id="rId10"/>
    <p:sldId id="313" r:id="rId11"/>
    <p:sldId id="314" r:id="rId12"/>
    <p:sldId id="315" r:id="rId13"/>
    <p:sldId id="293" r:id="rId14"/>
    <p:sldId id="294" r:id="rId15"/>
    <p:sldId id="295" r:id="rId16"/>
    <p:sldId id="296" r:id="rId17"/>
    <p:sldId id="297" r:id="rId18"/>
    <p:sldId id="300" r:id="rId19"/>
    <p:sldId id="299" r:id="rId20"/>
    <p:sldId id="285" r:id="rId21"/>
    <p:sldId id="298" r:id="rId22"/>
    <p:sldId id="301" r:id="rId23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B69"/>
    <a:srgbClr val="050808"/>
    <a:srgbClr val="029C63"/>
    <a:srgbClr val="96628C"/>
    <a:srgbClr val="11A0D7"/>
    <a:srgbClr val="E61F3D"/>
    <a:srgbClr val="CD5A5A"/>
    <a:srgbClr val="FFD746"/>
    <a:srgbClr val="0E2D69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4"/>
    <p:restoredTop sz="94699"/>
  </p:normalViewPr>
  <p:slideViewPr>
    <p:cSldViewPr snapToGrid="0" snapToObjects="1">
      <p:cViewPr varScale="1">
        <p:scale>
          <a:sx n="174" d="100"/>
          <a:sy n="174" d="100"/>
        </p:scale>
        <p:origin x="208" y="96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5/28/26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5/28/26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microsoft.com/office/2007/relationships/hdphoto" Target="../media/hdphoto5.wdp"/><Relationship Id="rId18" Type="http://schemas.openxmlformats.org/officeDocument/2006/relationships/image" Target="../media/image25.png"/><Relationship Id="rId26" Type="http://schemas.microsoft.com/office/2007/relationships/hdphoto" Target="../media/hdphoto11.wdp"/><Relationship Id="rId3" Type="http://schemas.openxmlformats.org/officeDocument/2006/relationships/image" Target="../media/image15.png"/><Relationship Id="rId21" Type="http://schemas.openxmlformats.org/officeDocument/2006/relationships/image" Target="../media/image26.png"/><Relationship Id="rId7" Type="http://schemas.microsoft.com/office/2007/relationships/hdphoto" Target="../media/hdphoto3.wdp"/><Relationship Id="rId12" Type="http://schemas.openxmlformats.org/officeDocument/2006/relationships/image" Target="../media/image21.png"/><Relationship Id="rId17" Type="http://schemas.openxmlformats.org/officeDocument/2006/relationships/image" Target="../media/image24.png"/><Relationship Id="rId25" Type="http://schemas.openxmlformats.org/officeDocument/2006/relationships/image" Target="../media/image28.png"/><Relationship Id="rId2" Type="http://schemas.openxmlformats.org/officeDocument/2006/relationships/image" Target="../media/image14.pn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24" Type="http://schemas.microsoft.com/office/2007/relationships/hdphoto" Target="../media/hdphoto10.wdp"/><Relationship Id="rId5" Type="http://schemas.openxmlformats.org/officeDocument/2006/relationships/image" Target="../media/image16.png"/><Relationship Id="rId15" Type="http://schemas.openxmlformats.org/officeDocument/2006/relationships/image" Target="../media/image23.png"/><Relationship Id="rId23" Type="http://schemas.openxmlformats.org/officeDocument/2006/relationships/image" Target="../media/image27.png"/><Relationship Id="rId28" Type="http://schemas.microsoft.com/office/2007/relationships/hdphoto" Target="../media/hdphoto12.wdp"/><Relationship Id="rId10" Type="http://schemas.microsoft.com/office/2007/relationships/hdphoto" Target="../media/hdphoto4.wdp"/><Relationship Id="rId19" Type="http://schemas.microsoft.com/office/2007/relationships/hdphoto" Target="../media/hdphoto7.wdp"/><Relationship Id="rId4" Type="http://schemas.microsoft.com/office/2007/relationships/hdphoto" Target="../media/hdphoto2.wdp"/><Relationship Id="rId9" Type="http://schemas.openxmlformats.org/officeDocument/2006/relationships/image" Target="../media/image19.png"/><Relationship Id="rId14" Type="http://schemas.openxmlformats.org/officeDocument/2006/relationships/image" Target="../media/image22.png"/><Relationship Id="rId22" Type="http://schemas.microsoft.com/office/2007/relationships/hdphoto" Target="../media/hdphoto9.wdp"/><Relationship Id="rId27" Type="http://schemas.openxmlformats.org/officeDocument/2006/relationships/image" Target="../media/image29.png"/><Relationship Id="rId30" Type="http://schemas.microsoft.com/office/2007/relationships/hdphoto" Target="../media/hdphoto1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13" Type="http://schemas.openxmlformats.org/officeDocument/2006/relationships/image" Target="../media/image42.jpeg"/><Relationship Id="rId18" Type="http://schemas.openxmlformats.org/officeDocument/2006/relationships/image" Target="../media/image47.jpe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jpeg"/><Relationship Id="rId17" Type="http://schemas.openxmlformats.org/officeDocument/2006/relationships/image" Target="../media/image46.jpeg"/><Relationship Id="rId2" Type="http://schemas.openxmlformats.org/officeDocument/2006/relationships/image" Target="../media/image31.png"/><Relationship Id="rId16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jpeg"/><Relationship Id="rId5" Type="http://schemas.openxmlformats.org/officeDocument/2006/relationships/image" Target="../media/image34.png"/><Relationship Id="rId15" Type="http://schemas.openxmlformats.org/officeDocument/2006/relationships/image" Target="../media/image44.jpeg"/><Relationship Id="rId10" Type="http://schemas.openxmlformats.org/officeDocument/2006/relationships/image" Target="../media/image39.jpeg"/><Relationship Id="rId4" Type="http://schemas.openxmlformats.org/officeDocument/2006/relationships/image" Target="../media/image33.png"/><Relationship Id="rId9" Type="http://schemas.openxmlformats.org/officeDocument/2006/relationships/image" Target="../media/image38.jpeg"/><Relationship Id="rId14" Type="http://schemas.openxmlformats.org/officeDocument/2006/relationships/image" Target="../media/image4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microsoft.com/office/2007/relationships/hdphoto" Target="../media/hdphoto15.wdp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0.png"/><Relationship Id="rId5" Type="http://schemas.microsoft.com/office/2007/relationships/hdphoto" Target="../media/hdphoto14.wdp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58" y="2548490"/>
            <a:ext cx="9057327" cy="1411892"/>
          </a:xfrm>
        </p:spPr>
        <p:txBody>
          <a:bodyPr>
            <a:normAutofit/>
          </a:bodyPr>
          <a:lstStyle/>
          <a:p>
            <a:r>
              <a:rPr lang="ru-RU" sz="4000" dirty="0"/>
              <a:t>Классификация выражений лиц с детектированием эмоций в речи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Программная Инженерия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Нижний Новгород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87204" y="5427304"/>
            <a:ext cx="3003177" cy="386100"/>
          </a:xfrm>
        </p:spPr>
        <p:txBody>
          <a:bodyPr>
            <a:noAutofit/>
          </a:bodyPr>
          <a:lstStyle/>
          <a:p>
            <a:r>
              <a:rPr lang="ru-RU" sz="1050" dirty="0"/>
              <a:t>Выполнил студент группы 22ПИ-1:</a:t>
            </a:r>
          </a:p>
          <a:p>
            <a:r>
              <a:rPr lang="ru-RU" sz="1200" dirty="0"/>
              <a:t>Канделов Дамир Русланович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A4BD5903-5BBA-18F6-7C9A-E503C42693C2}"/>
              </a:ext>
            </a:extLst>
          </p:cNvPr>
          <p:cNvSpPr txBox="1">
            <a:spLocks/>
          </p:cNvSpPr>
          <p:nvPr/>
        </p:nvSpPr>
        <p:spPr>
          <a:xfrm>
            <a:off x="1093658" y="4269540"/>
            <a:ext cx="3217950" cy="806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Научный руководитель:</a:t>
            </a:r>
          </a:p>
          <a:p>
            <a:r>
              <a:rPr lang="ru-RU" sz="1200" dirty="0"/>
              <a:t>к.т.н., доцент, кафедра информационных систем и технологий НИУ ВШЭ – Нижний Новгород</a:t>
            </a:r>
          </a:p>
          <a:p>
            <a:r>
              <a:rPr lang="ru-RU" sz="1200" dirty="0"/>
              <a:t>Савченко Людмила Васильевна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FEE5189A-EA6F-12AC-A2B9-572812FCB60E}"/>
              </a:ext>
            </a:extLst>
          </p:cNvPr>
          <p:cNvSpPr txBox="1">
            <a:spLocks/>
          </p:cNvSpPr>
          <p:nvPr/>
        </p:nvSpPr>
        <p:spPr>
          <a:xfrm>
            <a:off x="1093658" y="5075840"/>
            <a:ext cx="3433521" cy="7375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Рецензент:</a:t>
            </a:r>
            <a:endParaRPr lang="en-US" sz="1050" dirty="0"/>
          </a:p>
          <a:p>
            <a:r>
              <a:rPr lang="ru-RU" sz="1200" dirty="0"/>
              <a:t>приглашенный преподаватель базовой кафедры группы компаний «</a:t>
            </a:r>
            <a:r>
              <a:rPr lang="en-US" sz="1200" dirty="0"/>
              <a:t>MERA</a:t>
            </a:r>
            <a:r>
              <a:rPr lang="ru-RU" sz="1200" dirty="0"/>
              <a:t>»</a:t>
            </a:r>
          </a:p>
          <a:p>
            <a:r>
              <a:rPr lang="ru-RU" sz="1200" dirty="0" err="1"/>
              <a:t>Лемайкина</a:t>
            </a:r>
            <a:r>
              <a:rPr lang="ru-RU" sz="1200" dirty="0"/>
              <a:t> Елена Александровна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689" y="540904"/>
            <a:ext cx="2070100" cy="415925"/>
          </a:xfrm>
        </p:spPr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341003" cy="408109"/>
          </a:xfrm>
        </p:spPr>
        <p:txBody>
          <a:bodyPr/>
          <a:lstStyle/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C7666-D881-28EB-4A49-9EA84557AE7C}"/>
              </a:ext>
            </a:extLst>
          </p:cNvPr>
          <p:cNvSpPr txBox="1"/>
          <p:nvPr/>
        </p:nvSpPr>
        <p:spPr>
          <a:xfrm>
            <a:off x="678229" y="1651832"/>
            <a:ext cx="10304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Понимание эмоционального состояния человека позволяет компьютерным системам получать больше информации о состоянии человека, а также отвечать более естественным образом. Это может быть полезно в: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0255-550C-8CD7-9C55-47FBEF2A3AB0}"/>
              </a:ext>
            </a:extLst>
          </p:cNvPr>
          <p:cNvSpPr txBox="1"/>
          <p:nvPr/>
        </p:nvSpPr>
        <p:spPr>
          <a:xfrm>
            <a:off x="4594375" y="4009616"/>
            <a:ext cx="2891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Мониторинг</a:t>
            </a:r>
            <a:r>
              <a:rPr lang="en-US" dirty="0">
                <a:latin typeface="HSE Sans" panose="02000000000000000000" pitchFamily="2" charset="0"/>
              </a:rPr>
              <a:t> </a:t>
            </a:r>
            <a:r>
              <a:rPr lang="ru-RU" dirty="0">
                <a:latin typeface="HSE Sans" panose="02000000000000000000" pitchFamily="2" charset="0"/>
              </a:rPr>
              <a:t>обслуживания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клиентов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8A1E6-075C-F798-037B-21A2F8982A7C}"/>
              </a:ext>
            </a:extLst>
          </p:cNvPr>
          <p:cNvSpPr txBox="1"/>
          <p:nvPr/>
        </p:nvSpPr>
        <p:spPr>
          <a:xfrm>
            <a:off x="8830392" y="4007218"/>
            <a:ext cx="2152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Контроль состояния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водителя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B14A5-9463-9896-1033-8497F29689BB}"/>
              </a:ext>
            </a:extLst>
          </p:cNvPr>
          <p:cNvSpPr txBox="1"/>
          <p:nvPr/>
        </p:nvSpPr>
        <p:spPr>
          <a:xfrm>
            <a:off x="678230" y="4888847"/>
            <a:ext cx="103048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HSE Sans" panose="02000000000000000000" pitchFamily="2" charset="0"/>
              </a:rPr>
              <a:t>Текущие архитектуры для распознавания эмоций тяжелые, ресурсозатратные или имеют низкие метрики качества, что приводит к высокой стоимости использования таких систем. В данной работе я представляю новую, более эффективную и менее ресурсозатратную </a:t>
            </a:r>
            <a:r>
              <a:rPr lang="ru-RU" sz="1600" i="1" dirty="0">
                <a:latin typeface="HSE Sans" panose="02000000000000000000" pitchFamily="2" charset="0"/>
              </a:rPr>
              <a:t>каскадную</a:t>
            </a:r>
            <a:r>
              <a:rPr lang="ru-RU" sz="1600" dirty="0">
                <a:latin typeface="HSE Sans" panose="02000000000000000000" pitchFamily="2" charset="0"/>
              </a:rPr>
              <a:t> архитектуру.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4BEC0-7A07-45AF-EE3E-6E16A718F3D1}"/>
              </a:ext>
            </a:extLst>
          </p:cNvPr>
          <p:cNvSpPr txBox="1"/>
          <p:nvPr/>
        </p:nvSpPr>
        <p:spPr>
          <a:xfrm>
            <a:off x="678231" y="4490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Актуальность</a:t>
            </a:r>
          </a:p>
        </p:txBody>
      </p:sp>
      <p:sp>
        <p:nvSpPr>
          <p:cNvPr id="18" name="Заголовок 2">
            <a:extLst>
              <a:ext uri="{FF2B5EF4-FFF2-40B4-BE49-F238E27FC236}">
                <a16:creationId xmlns:a16="http://schemas.microsoft.com/office/drawing/2014/main" id="{42509E92-A773-7C3F-E8E0-BA554B1508C2}"/>
              </a:ext>
            </a:extLst>
          </p:cNvPr>
          <p:cNvSpPr txBox="1">
            <a:spLocks/>
          </p:cNvSpPr>
          <p:nvPr/>
        </p:nvSpPr>
        <p:spPr>
          <a:xfrm>
            <a:off x="768318" y="1295394"/>
            <a:ext cx="6313799" cy="415926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Эмоции в человеко-машинном взаимодействии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3B6D0-97D1-92E8-4120-674805D734DA}"/>
              </a:ext>
            </a:extLst>
          </p:cNvPr>
          <p:cNvSpPr txBox="1"/>
          <p:nvPr/>
        </p:nvSpPr>
        <p:spPr>
          <a:xfrm>
            <a:off x="747927" y="4005412"/>
            <a:ext cx="26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Виртуальные ассистенты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7198EC-481B-D87C-6C96-7AA7CCE0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59" b="11154"/>
          <a:stretch>
            <a:fillRect/>
          </a:stretch>
        </p:blipFill>
        <p:spPr>
          <a:xfrm>
            <a:off x="1416555" y="3351364"/>
            <a:ext cx="1293527" cy="654048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58F1C-2E46-BA6C-57F4-05D583C60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67" y="2356680"/>
            <a:ext cx="2057794" cy="748925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1028" name="Picture 4" descr="Как улучшить обслуживание клиентов – улучшаем качество клиентского сервиса">
            <a:extLst>
              <a:ext uri="{FF2B5EF4-FFF2-40B4-BE49-F238E27FC236}">
                <a16:creationId xmlns:a16="http://schemas.microsoft.com/office/drawing/2014/main" id="{739A5663-5041-09BD-5A65-8F939CDD89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28" b="15843"/>
          <a:stretch>
            <a:fillRect/>
          </a:stretch>
        </p:blipFill>
        <p:spPr bwMode="auto">
          <a:xfrm>
            <a:off x="4578427" y="2355908"/>
            <a:ext cx="2923072" cy="1651309"/>
          </a:xfrm>
          <a:prstGeom prst="roundRect">
            <a:avLst>
              <a:gd name="adj" fmla="val 9699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«Это не лечится»: каким людям не стоит водить автомобиль - Газета.Ru |  Новости">
            <a:extLst>
              <a:ext uri="{FF2B5EF4-FFF2-40B4-BE49-F238E27FC236}">
                <a16:creationId xmlns:a16="http://schemas.microsoft.com/office/drawing/2014/main" id="{97CBA637-DF2C-8FC7-4E43-B5DB70D89E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3"/>
          <a:stretch>
            <a:fillRect/>
          </a:stretch>
        </p:blipFill>
        <p:spPr bwMode="auto">
          <a:xfrm>
            <a:off x="8813289" y="2355909"/>
            <a:ext cx="2169744" cy="1651309"/>
          </a:xfrm>
          <a:prstGeom prst="roundRect">
            <a:avLst>
              <a:gd name="adj" fmla="val 6723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EE90E2-18D1-C678-DFDD-799BF112B65D}"/>
              </a:ext>
            </a:extLst>
          </p:cNvPr>
          <p:cNvSpPr txBox="1"/>
          <p:nvPr/>
        </p:nvSpPr>
        <p:spPr>
          <a:xfrm>
            <a:off x="678230" y="5790658"/>
            <a:ext cx="1459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Практическая потребность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466055-9C7E-361B-58A2-63FCA57B3B47}"/>
              </a:ext>
            </a:extLst>
          </p:cNvPr>
          <p:cNvSpPr txBox="1"/>
          <p:nvPr/>
        </p:nvSpPr>
        <p:spPr>
          <a:xfrm>
            <a:off x="2605330" y="5790138"/>
            <a:ext cx="23992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Отсутствие в литературе каскадных </a:t>
            </a:r>
            <a:r>
              <a:rPr lang="en-US" sz="1400" dirty="0">
                <a:latin typeface="HSE Sans" panose="02000000000000000000" pitchFamily="2" charset="0"/>
              </a:rPr>
              <a:t>MER </a:t>
            </a:r>
            <a:r>
              <a:rPr lang="ru-RU" sz="1400" dirty="0">
                <a:latin typeface="HSE Sans" panose="02000000000000000000" pitchFamily="2" charset="0"/>
              </a:rPr>
              <a:t>систем с аудиогейтом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071027-5388-7E4C-CDC8-E70D23D26904}"/>
              </a:ext>
            </a:extLst>
          </p:cNvPr>
          <p:cNvSpPr txBox="1"/>
          <p:nvPr/>
        </p:nvSpPr>
        <p:spPr>
          <a:xfrm>
            <a:off x="5930746" y="5790138"/>
            <a:ext cx="23992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Необходимость в прозрачной методологии оценки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1D457C-C015-2A03-C164-50F7C2788D13}"/>
              </a:ext>
            </a:extLst>
          </p:cNvPr>
          <p:cNvSpPr txBox="1"/>
          <p:nvPr/>
        </p:nvSpPr>
        <p:spPr>
          <a:xfrm>
            <a:off x="8747831" y="5790138"/>
            <a:ext cx="26526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Возможность значительного сокращения вычислительных затрат без потери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01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903921" y="1408532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Цель работы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8BF91-77AF-5F00-BE94-6D57F3A4553B}"/>
              </a:ext>
            </a:extLst>
          </p:cNvPr>
          <p:cNvSpPr txBox="1"/>
          <p:nvPr/>
        </p:nvSpPr>
        <p:spPr>
          <a:xfrm>
            <a:off x="815583" y="1915040"/>
            <a:ext cx="10560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HSE Sans" panose="02000000000000000000" pitchFamily="2" charset="0"/>
              </a:rPr>
              <a:t>Разработка и экспериментальная оценка двухстадийной мультимодальной системы распознавания эмоций, снижающей вычислительные затраты без значимой потери точности классификации.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9624D299-3924-C7CD-7C50-31CD86689DA2}"/>
              </a:ext>
            </a:extLst>
          </p:cNvPr>
          <p:cNvSpPr txBox="1">
            <a:spLocks/>
          </p:cNvSpPr>
          <p:nvPr/>
        </p:nvSpPr>
        <p:spPr>
          <a:xfrm>
            <a:off x="903921" y="2783841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Задачи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59327D-CADD-DF10-AEEE-D70492B85AF1}"/>
              </a:ext>
            </a:extLst>
          </p:cNvPr>
          <p:cNvSpPr txBox="1"/>
          <p:nvPr/>
        </p:nvSpPr>
        <p:spPr>
          <a:xfrm>
            <a:off x="815583" y="3266441"/>
            <a:ext cx="51165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Анализ подходов к распознаванию эмоций по речи (SER), лицу (FER) и по обеим модальностям (MER)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Поиск возможностей оптимизации за счёт последовательной обработки аудио и видео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Подготовка данных: анализ, выбор и предобработка датасетов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Разработка аудиогейта и сравнение подходов по качеству, скорости и весу моделей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141F91-5AEE-0FBA-534B-F99B2AFD06E3}"/>
              </a:ext>
            </a:extLst>
          </p:cNvPr>
          <p:cNvSpPr txBox="1"/>
          <p:nvPr/>
        </p:nvSpPr>
        <p:spPr>
          <a:xfrm>
            <a:off x="6259892" y="3266441"/>
            <a:ext cx="51165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Построение видео-классификатора: выбор экстрактора признаков и модели-классификатора.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Сборка двухстадийного пайплайна: объединение аудиогейта и классификатора по аудио и видео в одну архитектуру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Бенчмарк для сравнения нашей архитектуры по: качеству, времени и памяти против лучших моделей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Реализация прототипа реального времени (веб-камера и микрофон)</a:t>
            </a:r>
          </a:p>
        </p:txBody>
      </p:sp>
    </p:spTree>
    <p:extLst>
      <p:ext uri="{BB962C8B-B14F-4D97-AF65-F5344CB8AC3E}">
        <p14:creationId xmlns:p14="http://schemas.microsoft.com/office/powerpoint/2010/main" val="216138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Проблема и идея решения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633E37-1D82-4CD0-7C88-4EB325B6972A}"/>
              </a:ext>
            </a:extLst>
          </p:cNvPr>
          <p:cNvSpPr txBox="1"/>
          <p:nvPr/>
        </p:nvSpPr>
        <p:spPr>
          <a:xfrm>
            <a:off x="559959" y="2413000"/>
            <a:ext cx="53076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Проблема современных MER-систем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B4EF6A-7572-F4F7-026E-12522268381B}"/>
              </a:ext>
            </a:extLst>
          </p:cNvPr>
          <p:cNvSpPr txBox="1"/>
          <p:nvPr/>
        </p:nvSpPr>
        <p:spPr>
          <a:xfrm>
            <a:off x="6204128" y="2254356"/>
            <a:ext cx="5405718" cy="883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Идея: двухстадийный каскад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4575D9-4B43-1388-27D5-FCFA942DD339}"/>
              </a:ext>
            </a:extLst>
          </p:cNvPr>
          <p:cNvSpPr txBox="1"/>
          <p:nvPr/>
        </p:nvSpPr>
        <p:spPr>
          <a:xfrm>
            <a:off x="6723235" y="3088757"/>
            <a:ext cx="4367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300" i="1" dirty="0">
                <a:latin typeface="HSE Sans" panose="02000000000000000000" pitchFamily="2" charset="0"/>
              </a:rPr>
              <a:t>Тяжёлая модель запускается только при необходимости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B96B6B-D1A2-4B9D-5438-3943ED032CB9}"/>
              </a:ext>
            </a:extLst>
          </p:cNvPr>
          <p:cNvSpPr txBox="1"/>
          <p:nvPr/>
        </p:nvSpPr>
        <p:spPr>
          <a:xfrm>
            <a:off x="6204128" y="3520800"/>
            <a:ext cx="540571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Лёгкий аудиогейт бинарно решает: речь «нейтральная» или «не нейтральная»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Если нейтральная — система сразу возвращает ответ, не запуская видео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Если эмоциональная — активируется бимодальная голова (аудио + видео) и классифицирует эмоцию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Компромисс между качеством распознавания и вычислительной эффективностью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E154AB7-26EA-FB7C-DCB0-54298EFECDCE}"/>
              </a:ext>
            </a:extLst>
          </p:cNvPr>
          <p:cNvSpPr/>
          <p:nvPr/>
        </p:nvSpPr>
        <p:spPr>
          <a:xfrm>
            <a:off x="6095999" y="2126837"/>
            <a:ext cx="5611907" cy="3816763"/>
          </a:xfrm>
          <a:prstGeom prst="roundRect">
            <a:avLst>
              <a:gd name="adj" fmla="val 9805"/>
            </a:avLst>
          </a:prstGeom>
          <a:noFill/>
          <a:ln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ProblemBody">
            <a:extLst>
              <a:ext uri="{FF2B5EF4-FFF2-40B4-BE49-F238E27FC236}">
                <a16:creationId xmlns:a16="http://schemas.microsoft.com/office/drawing/2014/main" id="{01ED11FE-5094-C440-80E5-B03AC7A75410}"/>
              </a:ext>
            </a:extLst>
          </p:cNvPr>
          <p:cNvSpPr txBox="1"/>
          <p:nvPr/>
        </p:nvSpPr>
        <p:spPr>
          <a:xfrm>
            <a:off x="660400" y="3175000"/>
            <a:ext cx="5080000" cy="2921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Аудио и видео обрабатываются параллельно тяжёлыми нейросетевыми бэкбонами для каждого фрагмента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Высокое энергопотребление и большой размер моделей (~115 МБ)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Неприменимы на мобильных, встраиваемых и периферийных устройствах</a:t>
            </a:r>
          </a:p>
        </p:txBody>
      </p:sp>
    </p:spTree>
    <p:extLst>
      <p:ext uri="{BB962C8B-B14F-4D97-AF65-F5344CB8AC3E}">
        <p14:creationId xmlns:p14="http://schemas.microsoft.com/office/powerpoint/2010/main" val="3705696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Архитектура двухстадийного каскада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E94AF70-511B-1C4A-A621-EFDE1597CC5B}"/>
              </a:ext>
            </a:extLst>
          </p:cNvPr>
          <p:cNvSpPr/>
          <p:nvPr/>
        </p:nvSpPr>
        <p:spPr>
          <a:xfrm>
            <a:off x="660400" y="2667000"/>
            <a:ext cx="1778000" cy="1143000"/>
          </a:xfrm>
          <a:prstGeom prst="round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Вход
Аудио + Видео</a:t>
            </a:r>
            <a:endParaRPr lang="en-US" sz="15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C288894-0957-7040-93E5-D614B3C2D43A}"/>
              </a:ext>
            </a:extLst>
          </p:cNvPr>
          <p:cNvSpPr/>
          <p:nvPr/>
        </p:nvSpPr>
        <p:spPr>
          <a:xfrm>
            <a:off x="3048000" y="2603500"/>
            <a:ext cx="2159000" cy="1270000"/>
          </a:xfrm>
          <a:prstGeom prst="round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Аудиогейт
</a:t>
            </a:r>
            <a:r>
              <a:rPr lang="en-US" sz="1500" b="1">
                <a:solidFill>
                  <a:srgbClr val="FFFFFF"/>
                </a:solidFill>
                <a:latin typeface="HSE Sans"/>
              </a:rPr>
              <a:t>MelCNN (~8 </a:t>
            </a:r>
            <a:r>
              <a:rPr lang="ru-RU" sz="1500" b="1">
                <a:solidFill>
                  <a:srgbClr val="FFFFFF"/>
                </a:solidFill>
              </a:rPr>
              <a:t>МБ)</a:t>
            </a:r>
            <a:endParaRPr lang="en-US" sz="15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D021A1-82BB-F94D-A328-70CDFCA08F6C}"/>
              </a:ext>
            </a:extLst>
          </p:cNvPr>
          <p:cNvSpPr/>
          <p:nvPr/>
        </p:nvSpPr>
        <p:spPr>
          <a:xfrm>
            <a:off x="3048000" y="3937000"/>
            <a:ext cx="2159000" cy="3048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200">
                <a:solidFill>
                  <a:srgbClr val="6B7280"/>
                </a:solidFill>
              </a:rPr>
              <a:t>бинарно: нейтрально / нет</a:t>
            </a:r>
            <a:endParaRPr lang="en-US" sz="1200">
              <a:solidFill>
                <a:srgbClr val="6B7280"/>
              </a:solidFill>
              <a:latin typeface="HSE San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D47ED62-4EDD-AF4F-AAFD-95D8AE853179}"/>
              </a:ext>
            </a:extLst>
          </p:cNvPr>
          <p:cNvSpPr/>
          <p:nvPr/>
        </p:nvSpPr>
        <p:spPr>
          <a:xfrm>
            <a:off x="5969000" y="1905000"/>
            <a:ext cx="2159000" cy="914400"/>
          </a:xfrm>
          <a:prstGeom prst="roundRect">
            <a:avLst/>
          </a:prstGeom>
          <a:solidFill>
            <a:srgbClr val="E8E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102E5A"/>
                </a:solidFill>
              </a:rPr>
              <a:t>«Нейтрально»
сразу возврат</a:t>
            </a:r>
            <a:endParaRPr lang="en-US" sz="1500" b="1">
              <a:solidFill>
                <a:srgbClr val="102E5A"/>
              </a:solidFill>
              <a:latin typeface="HSE San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74E3DF-2A7B-674D-B561-12FEAFC0B383}"/>
              </a:ext>
            </a:extLst>
          </p:cNvPr>
          <p:cNvSpPr/>
          <p:nvPr/>
        </p:nvSpPr>
        <p:spPr>
          <a:xfrm>
            <a:off x="5969000" y="3619500"/>
            <a:ext cx="2540000" cy="1206500"/>
          </a:xfrm>
          <a:prstGeom prst="roundRect">
            <a:avLst/>
          </a:prstGeom>
          <a:solidFill>
            <a:srgbClr val="2E7D5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Бимодальная голова
(</a:t>
            </a:r>
            <a:r>
              <a:rPr lang="en-US" sz="1500" b="1">
                <a:solidFill>
                  <a:srgbClr val="FFFFFF"/>
                </a:solidFill>
                <a:latin typeface="HSE Sans"/>
              </a:rPr>
              <a:t>late fusion)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E2FFF5-36DC-FE4D-900D-5D1F9F71FB8B}"/>
              </a:ext>
            </a:extLst>
          </p:cNvPr>
          <p:cNvSpPr/>
          <p:nvPr/>
        </p:nvSpPr>
        <p:spPr>
          <a:xfrm>
            <a:off x="8763000" y="3619500"/>
            <a:ext cx="2095500" cy="533400"/>
          </a:xfrm>
          <a:prstGeom prst="rect">
            <a:avLst/>
          </a:prstGeom>
          <a:solidFill>
            <a:srgbClr val="E8E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200">
                <a:solidFill>
                  <a:srgbClr val="102E5A"/>
                </a:solidFill>
              </a:rPr>
              <a:t>Видео: </a:t>
            </a:r>
            <a:r>
              <a:rPr lang="en-US" sz="1200">
                <a:solidFill>
                  <a:srgbClr val="102E5A"/>
                </a:solidFill>
                <a:latin typeface="HSE Sans"/>
              </a:rPr>
              <a:t>EmotiEffNet + BiLSTM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B8C7B-5779-2941-A0D4-F768211F4A4F}"/>
              </a:ext>
            </a:extLst>
          </p:cNvPr>
          <p:cNvSpPr/>
          <p:nvPr/>
        </p:nvSpPr>
        <p:spPr>
          <a:xfrm>
            <a:off x="8763000" y="4254500"/>
            <a:ext cx="2095500" cy="571500"/>
          </a:xfrm>
          <a:prstGeom prst="rect">
            <a:avLst/>
          </a:prstGeom>
          <a:solidFill>
            <a:srgbClr val="E8EE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200">
                <a:solidFill>
                  <a:srgbClr val="102E5A"/>
                </a:solidFill>
              </a:rPr>
              <a:t>Аудио: ветка </a:t>
            </a:r>
            <a:r>
              <a:rPr lang="en-US" sz="1200">
                <a:solidFill>
                  <a:srgbClr val="102E5A"/>
                </a:solidFill>
                <a:latin typeface="HSE Sans"/>
              </a:rPr>
              <a:t>MelCNN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79D7D85-9F2E-AF41-BAD2-309D491AE025}"/>
              </a:ext>
            </a:extLst>
          </p:cNvPr>
          <p:cNvSpPr/>
          <p:nvPr/>
        </p:nvSpPr>
        <p:spPr>
          <a:xfrm>
            <a:off x="5969000" y="5080000"/>
            <a:ext cx="4889500" cy="698500"/>
          </a:xfrm>
          <a:prstGeom prst="round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50800" rIns="76200" bIns="50800" rtlCol="0" anchor="ctr" anchorCtr="0">
            <a:noAutofit/>
          </a:bodyPr>
          <a:lstStyle/>
          <a:p>
            <a:pPr algn="l"/>
            <a:r>
              <a:rPr lang="ru-RU" sz="1500" b="1">
                <a:solidFill>
                  <a:srgbClr val="FFFFFF"/>
                </a:solidFill>
              </a:rPr>
              <a:t>4 эмоции: </a:t>
            </a:r>
            <a:r>
              <a:rPr lang="en-US" sz="1500" b="1">
                <a:solidFill>
                  <a:srgbClr val="FFFFFF"/>
                </a:solidFill>
                <a:latin typeface="HSE Sans"/>
              </a:rPr>
              <a:t>neutral · happy · sad · angry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7FC32160-F799-8E4C-8917-2E9B17A4872B}"/>
              </a:ext>
            </a:extLst>
          </p:cNvPr>
          <p:cNvSpPr/>
          <p:nvPr/>
        </p:nvSpPr>
        <p:spPr>
          <a:xfrm>
            <a:off x="2463800" y="3086100"/>
            <a:ext cx="558800" cy="304800"/>
          </a:xfrm>
          <a:prstGeom prst="rightArrow">
            <a:avLst/>
          </a:prstGeom>
          <a:solidFill>
            <a:srgbClr val="6B72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A93AB4FE-CF33-FE4F-A91F-13229F3D3AF1}"/>
              </a:ext>
            </a:extLst>
          </p:cNvPr>
          <p:cNvSpPr/>
          <p:nvPr/>
        </p:nvSpPr>
        <p:spPr>
          <a:xfrm>
            <a:off x="5232400" y="2235200"/>
            <a:ext cx="711200" cy="254000"/>
          </a:xfrm>
          <a:prstGeom prst="rightArrow">
            <a:avLst/>
          </a:prstGeom>
          <a:solidFill>
            <a:srgbClr val="6B72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07B65830-1482-5640-82E8-EF371B1ED2B6}"/>
              </a:ext>
            </a:extLst>
          </p:cNvPr>
          <p:cNvSpPr/>
          <p:nvPr/>
        </p:nvSpPr>
        <p:spPr>
          <a:xfrm>
            <a:off x="5232400" y="4089400"/>
            <a:ext cx="711200" cy="254000"/>
          </a:xfrm>
          <a:prstGeom prst="rightArrow">
            <a:avLst/>
          </a:prstGeom>
          <a:solidFill>
            <a:srgbClr val="6B72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AB0E52F2-8837-3541-AE49-AED63CF1B288}"/>
              </a:ext>
            </a:extLst>
          </p:cNvPr>
          <p:cNvSpPr/>
          <p:nvPr/>
        </p:nvSpPr>
        <p:spPr>
          <a:xfrm>
            <a:off x="6985000" y="4851400"/>
            <a:ext cx="304800" cy="228600"/>
          </a:xfrm>
          <a:prstGeom prst="downArrow">
            <a:avLst/>
          </a:prstGeom>
          <a:solidFill>
            <a:srgbClr val="6B728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9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Данные и аугментация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6EBBB0-9E2F-784D-88AE-A2A3F145B353}"/>
              </a:ext>
            </a:extLst>
          </p:cNvPr>
          <p:cNvSpPr/>
          <p:nvPr/>
        </p:nvSpPr>
        <p:spPr>
          <a:xfrm>
            <a:off x="660400" y="1905000"/>
            <a:ext cx="3479800" cy="2286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B8B8E3-E9FB-6448-80B1-0FCFB8B42B19}"/>
              </a:ext>
            </a:extLst>
          </p:cNvPr>
          <p:cNvSpPr/>
          <p:nvPr/>
        </p:nvSpPr>
        <p:spPr>
          <a:xfrm>
            <a:off x="660400" y="1905000"/>
            <a:ext cx="3479800" cy="533400"/>
          </a:xfrm>
          <a:prstGeom prst="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50800" tIns="0" rIns="50800" bIns="0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RAVDESS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6D864A2-2439-784B-9B34-FAB3DEE5E6BF}"/>
              </a:ext>
            </a:extLst>
          </p:cNvPr>
          <p:cNvSpPr/>
          <p:nvPr/>
        </p:nvSpPr>
        <p:spPr>
          <a:xfrm>
            <a:off x="4356100" y="1905000"/>
            <a:ext cx="3479800" cy="2286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CC8ABE-D073-5849-B704-6225AFC704D2}"/>
              </a:ext>
            </a:extLst>
          </p:cNvPr>
          <p:cNvSpPr/>
          <p:nvPr/>
        </p:nvSpPr>
        <p:spPr>
          <a:xfrm>
            <a:off x="4356100" y="1905000"/>
            <a:ext cx="3479800" cy="533400"/>
          </a:xfrm>
          <a:prstGeom prst="rect">
            <a:avLst/>
          </a:prstGeom>
          <a:solidFill>
            <a:srgbClr val="1F4E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50800" tIns="0" rIns="50800" bIns="0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CREMA-D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659D6B9-7E09-6945-8C18-10A4024C3D5B}"/>
              </a:ext>
            </a:extLst>
          </p:cNvPr>
          <p:cNvSpPr/>
          <p:nvPr/>
        </p:nvSpPr>
        <p:spPr>
          <a:xfrm>
            <a:off x="8051800" y="1905000"/>
            <a:ext cx="3479800" cy="2286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F7A288-EF19-EE40-9BE4-3D01AE5202F0}"/>
              </a:ext>
            </a:extLst>
          </p:cNvPr>
          <p:cNvSpPr/>
          <p:nvPr/>
        </p:nvSpPr>
        <p:spPr>
          <a:xfrm>
            <a:off x="8051800" y="1905000"/>
            <a:ext cx="3479800" cy="533400"/>
          </a:xfrm>
          <a:prstGeom prst="rect">
            <a:avLst/>
          </a:prstGeom>
          <a:solidFill>
            <a:srgbClr val="102E5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50800" tIns="0" rIns="50800" bIns="0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IEMOCAP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2FFEE1-084D-4943-8022-8A5B22861EAD}"/>
              </a:ext>
            </a:extLst>
          </p:cNvPr>
          <p:cNvSpPr txBox="1"/>
          <p:nvPr/>
        </p:nvSpPr>
        <p:spPr>
          <a:xfrm>
            <a:off x="838200" y="2540000"/>
            <a:ext cx="3124200" cy="1524000"/>
          </a:xfrm>
          <a:prstGeom prst="rect">
            <a:avLst/>
          </a:prstGeom>
          <a:noFill/>
        </p:spPr>
        <p:txBody>
          <a:bodyPr vertOverflow="overflow" vert="horz" wrap="square" lIns="25400" tIns="25400" rIns="25400" bIns="25400" rtlCol="0" anchor="t">
            <a:noAutofit/>
          </a:bodyPr>
          <a:lstStyle/>
          <a:p>
            <a:pPr>
              <a:spcAft>
                <a:spcPts val="400"/>
              </a:spcAft>
              <a:buNone/>
            </a:pPr>
            <a:r>
              <a:rPr lang="ru-RU" sz="1300" b="1" dirty="0">
                <a:solidFill>
                  <a:srgbClr val="1F4E9B"/>
                </a:solidFill>
                <a:latin typeface="HSE Sans" panose="02000000000000000000" pitchFamily="2" charset="0"/>
              </a:rPr>
              <a:t>Предобучение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24 актёра, 8 эмоций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Аудио + видео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Спикеро-независимое разбиение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416E81-5F84-024A-A206-05E86E9C6310}"/>
              </a:ext>
            </a:extLst>
          </p:cNvPr>
          <p:cNvSpPr txBox="1"/>
          <p:nvPr/>
        </p:nvSpPr>
        <p:spPr>
          <a:xfrm>
            <a:off x="4533900" y="2540000"/>
            <a:ext cx="3124200" cy="1524000"/>
          </a:xfrm>
          <a:prstGeom prst="rect">
            <a:avLst/>
          </a:prstGeom>
          <a:noFill/>
        </p:spPr>
        <p:txBody>
          <a:bodyPr vertOverflow="overflow" vert="horz" wrap="square" lIns="25400" tIns="25400" rIns="25400" bIns="25400" rtlCol="0" anchor="t">
            <a:noAutofit/>
          </a:bodyPr>
          <a:lstStyle/>
          <a:p>
            <a:pPr>
              <a:spcAft>
                <a:spcPts val="400"/>
              </a:spcAft>
              <a:buNone/>
            </a:pPr>
            <a:r>
              <a:rPr lang="ru-RU" sz="1300" b="1" dirty="0">
                <a:solidFill>
                  <a:srgbClr val="1F4E9B"/>
                </a:solidFill>
                <a:latin typeface="HSE Sans" panose="02000000000000000000" pitchFamily="2" charset="0"/>
              </a:rPr>
              <a:t>Предобучение аудиогейта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91 актёр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Эмоциональная речь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Бинарная разметка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6350C-8667-7346-9921-2DB6D226CD5A}"/>
              </a:ext>
            </a:extLst>
          </p:cNvPr>
          <p:cNvSpPr txBox="1"/>
          <p:nvPr/>
        </p:nvSpPr>
        <p:spPr>
          <a:xfrm>
            <a:off x="8229600" y="2540000"/>
            <a:ext cx="3124200" cy="1524000"/>
          </a:xfrm>
          <a:prstGeom prst="rect">
            <a:avLst/>
          </a:prstGeom>
          <a:noFill/>
        </p:spPr>
        <p:txBody>
          <a:bodyPr vertOverflow="overflow" vert="horz" wrap="square" lIns="25400" tIns="25400" rIns="25400" bIns="25400" rtlCol="0" anchor="t">
            <a:noAutofit/>
          </a:bodyPr>
          <a:lstStyle/>
          <a:p>
            <a:pPr>
              <a:spcAft>
                <a:spcPts val="400"/>
              </a:spcAft>
              <a:buNone/>
            </a:pPr>
            <a:r>
              <a:rPr lang="ru-RU" sz="1300" b="1" dirty="0">
                <a:solidFill>
                  <a:srgbClr val="102E5A"/>
                </a:solidFill>
                <a:latin typeface="HSE Sans" panose="02000000000000000000" pitchFamily="2" charset="0"/>
              </a:rPr>
              <a:t>Финальный бенчмарк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5 сессий, диалоги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4 класса эмоций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Протокол LOSO, 5 фолдов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4FB5232-9A91-2B43-8584-7FE421B7E0CE}"/>
              </a:ext>
            </a:extLst>
          </p:cNvPr>
          <p:cNvSpPr/>
          <p:nvPr/>
        </p:nvSpPr>
        <p:spPr>
          <a:xfrm>
            <a:off x="660400" y="4597400"/>
            <a:ext cx="10871200" cy="12192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5EAA8-AF0A-4646-A64E-D0FC7535C268}"/>
              </a:ext>
            </a:extLst>
          </p:cNvPr>
          <p:cNvSpPr txBox="1"/>
          <p:nvPr/>
        </p:nvSpPr>
        <p:spPr>
          <a:xfrm>
            <a:off x="863600" y="4724400"/>
            <a:ext cx="3810000" cy="304800"/>
          </a:xfrm>
          <a:prstGeom prst="rect">
            <a:avLst/>
          </a:prstGeom>
          <a:noFill/>
        </p:spPr>
        <p:txBody>
          <a:bodyPr vertOverflow="overflow" vert="horz" wrap="none" lIns="0" tIns="0" rIns="0" bIns="0" rtlCol="0" anchor="t">
            <a:noAutofit/>
          </a:bodyPr>
          <a:lstStyle/>
          <a:p>
            <a:pPr algn="l"/>
            <a:r>
              <a:rPr lang="ru-RU" sz="1500" b="1">
                <a:solidFill>
                  <a:srgbClr val="102E5A"/>
                </a:solidFill>
                <a:latin typeface="HSE Sans" panose="02000000000000000000" pitchFamily="2" charset="0"/>
              </a:rPr>
              <a:t>Офлайн-аугментация (</a:t>
            </a:r>
            <a:r>
              <a:rPr lang="en-US" sz="1500" b="1">
                <a:solidFill>
                  <a:srgbClr val="102E5A"/>
                </a:solidFill>
                <a:latin typeface="HSE Sans" panose="02000000000000000000" pitchFamily="2" charset="0"/>
              </a:rPr>
              <a:t>K = 3)</a:t>
            </a:r>
            <a:endParaRPr lang="en-US" sz="1500" b="1" dirty="0">
              <a:solidFill>
                <a:srgbClr val="102E5A"/>
              </a:solidFill>
              <a:latin typeface="HSE Sans" panose="02000000000000000000" pitchFamily="2" charset="0"/>
            </a:endParaRPr>
          </a:p>
        </p:txBody>
      </p:sp>
      <p:sp>
        <p:nvSpPr>
          <p:cNvPr id="9" name="AudioAug">
            <a:extLst>
              <a:ext uri="{FF2B5EF4-FFF2-40B4-BE49-F238E27FC236}">
                <a16:creationId xmlns:a16="http://schemas.microsoft.com/office/drawing/2014/main" id="{A33DFE62-DCA6-004C-9104-961EE7D1D010}"/>
              </a:ext>
            </a:extLst>
          </p:cNvPr>
          <p:cNvSpPr txBox="1"/>
          <p:nvPr/>
        </p:nvSpPr>
        <p:spPr>
          <a:xfrm>
            <a:off x="863600" y="5080000"/>
            <a:ext cx="5207000" cy="660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>
              <a:buNone/>
            </a:pPr>
            <a:r>
              <a:rPr lang="ru-RU" sz="1300" b="1" dirty="0">
                <a:latin typeface="HSE Sans" panose="02000000000000000000" pitchFamily="2" charset="0"/>
              </a:rPr>
              <a:t>Аудио: </a:t>
            </a:r>
            <a:r>
              <a:rPr lang="ru-RU" sz="1300" dirty="0">
                <a:latin typeface="HSE Sans" panose="02000000000000000000" pitchFamily="2" charset="0"/>
              </a:rPr>
              <a:t>GaussianSNR, Shift, Gain, TimeStretch, PitchShift</a:t>
            </a:r>
          </a:p>
        </p:txBody>
      </p:sp>
      <p:sp>
        <p:nvSpPr>
          <p:cNvPr id="12" name="VideoAug">
            <a:extLst>
              <a:ext uri="{FF2B5EF4-FFF2-40B4-BE49-F238E27FC236}">
                <a16:creationId xmlns:a16="http://schemas.microsoft.com/office/drawing/2014/main" id="{72D49F12-8F17-D144-BAF3-CE200BCB90B3}"/>
              </a:ext>
            </a:extLst>
          </p:cNvPr>
          <p:cNvSpPr txBox="1"/>
          <p:nvPr/>
        </p:nvSpPr>
        <p:spPr>
          <a:xfrm>
            <a:off x="6324600" y="5080000"/>
            <a:ext cx="5207000" cy="660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>
              <a:buNone/>
            </a:pPr>
            <a:r>
              <a:rPr lang="ru-RU" sz="1300" b="1" dirty="0">
                <a:latin typeface="HSE Sans" panose="02000000000000000000" pitchFamily="2" charset="0"/>
              </a:rPr>
              <a:t>Видео: </a:t>
            </a:r>
            <a:r>
              <a:rPr lang="ru-RU" sz="1300" dirty="0">
                <a:latin typeface="HSE Sans" panose="02000000000000000000" pitchFamily="2" charset="0"/>
              </a:rPr>
              <a:t>Crop, Flip, ColorJitter, Blur, Erasing (per-clip)</a:t>
            </a:r>
          </a:p>
        </p:txBody>
      </p:sp>
    </p:spTree>
    <p:extLst>
      <p:ext uri="{BB962C8B-B14F-4D97-AF65-F5344CB8AC3E}">
        <p14:creationId xmlns:p14="http://schemas.microsoft.com/office/powerpoint/2010/main" val="44331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аудиогейта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Intro7">
            <a:extLst>
              <a:ext uri="{FF2B5EF4-FFF2-40B4-BE49-F238E27FC236}">
                <a16:creationId xmlns:a16="http://schemas.microsoft.com/office/drawing/2014/main" id="{93E80336-36D4-6A48-959B-AA83A8B5F048}"/>
              </a:ext>
            </a:extLst>
          </p:cNvPr>
          <p:cNvSpPr txBox="1"/>
          <p:nvPr/>
        </p:nvSpPr>
        <p:spPr>
          <a:xfrm>
            <a:off x="660400" y="1905000"/>
            <a:ext cx="10871200" cy="457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r>
              <a:rPr lang="ru-RU" sz="1500" dirty="0">
                <a:latin typeface="HSE Sans" panose="02000000000000000000" pitchFamily="2" charset="0"/>
              </a:rPr>
              <a:t>Сравнение четырёх моделей на объединении RAVDESS + CREMA-D (спикеро-независимая выборка)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CA14AE8-C0EB-7B42-B6CC-6F234965FC02}"/>
              </a:ext>
            </a:extLst>
          </p:cNvPr>
          <p:cNvGraphicFramePr>
            <a:graphicFrameLocks noGrp="1"/>
          </p:cNvGraphicFramePr>
          <p:nvPr/>
        </p:nvGraphicFramePr>
        <p:xfrm>
          <a:off x="660400" y="2603500"/>
          <a:ext cx="108712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39646663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947879195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87454555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55600978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595731347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Macro F1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Инференс, мс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Размер, МБ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34575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DistilHuBERT + Linear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0.904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0.835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15.0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89.6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19015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Log-Mel + CNN (MelCNN)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0.827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0.734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3.4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FFFFFF"/>
                          </a:solidFill>
                          <a:latin typeface="HSE Sans"/>
                        </a:rPr>
                        <a:t>8.1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06948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MFCC + 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0.775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0.638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4.5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21.5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24757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Wav2Vec 2.0 + MLP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0.865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0.730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40.9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>
                          <a:solidFill>
                            <a:srgbClr val="102E5A"/>
                          </a:solidFill>
                          <a:latin typeface="HSE Sans"/>
                        </a:rPr>
                        <a:t>360.8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112254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93CFA5FF-4585-5F45-A73B-D5028D9634A1}"/>
              </a:ext>
            </a:extLst>
          </p:cNvPr>
          <p:cNvSpPr/>
          <p:nvPr/>
        </p:nvSpPr>
        <p:spPr>
          <a:xfrm>
            <a:off x="660400" y="5740400"/>
            <a:ext cx="76200" cy="711200"/>
          </a:xfrm>
          <a:prstGeom prst="rect">
            <a:avLst/>
          </a:prstGeom>
          <a:solidFill>
            <a:srgbClr val="2E7D5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Note7">
            <a:extLst>
              <a:ext uri="{FF2B5EF4-FFF2-40B4-BE49-F238E27FC236}">
                <a16:creationId xmlns:a16="http://schemas.microsoft.com/office/drawing/2014/main" id="{47DE430F-7B8A-1B46-90B2-876FA4C4CEF0}"/>
              </a:ext>
            </a:extLst>
          </p:cNvPr>
          <p:cNvSpPr txBox="1"/>
          <p:nvPr/>
        </p:nvSpPr>
        <p:spPr>
          <a:xfrm>
            <a:off x="889000" y="5740400"/>
            <a:ext cx="10642600" cy="711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r>
              <a:rPr lang="ru-RU" sz="1500" b="1" dirty="0">
                <a:latin typeface="HSE Sans" panose="02000000000000000000" pitchFamily="2" charset="0"/>
              </a:rPr>
              <a:t>Выбран MelCNN: </a:t>
            </a:r>
            <a:r>
              <a:rPr lang="ru-RU" sz="1500" dirty="0">
                <a:latin typeface="HSE Sans" panose="02000000000000000000" pitchFamily="2" charset="0"/>
              </a:rPr>
              <a:t>минимальный размер (8 МБ) и время инференса (3.4 мс) при приемлемом качестве — оптимален для гейта реального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3056126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видео-модели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5" name="VidIntro">
            <a:extLst>
              <a:ext uri="{FF2B5EF4-FFF2-40B4-BE49-F238E27FC236}">
                <a16:creationId xmlns:a16="http://schemas.microsoft.com/office/drawing/2014/main" id="{83F09764-0B9D-B342-9384-F55308FC0810}"/>
              </a:ext>
            </a:extLst>
          </p:cNvPr>
          <p:cNvSpPr txBox="1"/>
          <p:nvPr/>
        </p:nvSpPr>
        <p:spPr>
          <a:xfrm>
            <a:off x="660400" y="1905000"/>
            <a:ext cx="108712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r>
              <a:rPr lang="ru-RU" sz="1500" dirty="0">
                <a:latin typeface="HSE Sans" panose="02000000000000000000" pitchFamily="2" charset="0"/>
              </a:rPr>
              <a:t>Сравнение бэкбонов и темпоральных агрегаторов на RAVDESS (8 эмоций, спикеро-независимый тест). Детекция лиц — MediaPipe BlazeFace, 16 кадров 224×224, бэкбоны заморожены.</a:t>
            </a:r>
          </a:p>
        </p:txBody>
      </p:sp>
      <p:graphicFrame>
        <p:nvGraphicFramePr>
          <p:cNvPr id="7" name="VidTable">
            <a:extLst>
              <a:ext uri="{FF2B5EF4-FFF2-40B4-BE49-F238E27FC236}">
                <a16:creationId xmlns:a16="http://schemas.microsoft.com/office/drawing/2014/main" id="{63A65832-1DB6-084B-A5A7-7E17F5D9D2C6}"/>
              </a:ext>
            </a:extLst>
          </p:cNvPr>
          <p:cNvGraphicFramePr>
            <a:graphicFrameLocks noGrp="1"/>
          </p:cNvGraphicFramePr>
          <p:nvPr/>
        </p:nvGraphicFramePr>
        <p:xfrm>
          <a:off x="660400" y="2489200"/>
          <a:ext cx="10871200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1975938852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1469256398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1173342496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3118774811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479331677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Accuracy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Macro F1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Инференс, мс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Размер, МБ</a:t>
                      </a:r>
                    </a:p>
                  </a:txBody>
                  <a:tcPr anchor="ctr">
                    <a:solidFill>
                      <a:srgbClr val="102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576061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MobileNetV3 + BiGRU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46,3%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0,429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3,7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61891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MobileNetV3 + BiLSTM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50,8%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0,484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247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6,4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959361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MobileNetV3 + TCN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39,6%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0,383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6,8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02145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EmotiEffNet + BiGRU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67,5%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0,679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276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15,7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634328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EmotiEffNet + BiLSTM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68,3%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0,671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275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HSE Sans"/>
                        </a:rPr>
                        <a:t>21,0</a:t>
                      </a:r>
                    </a:p>
                  </a:txBody>
                  <a:tcPr anchor="ctr">
                    <a:solidFill>
                      <a:srgbClr val="2E7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912347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EmotiEffNet + TCN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60,4%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0,585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275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rgbClr val="1A1A1A"/>
                          </a:solidFill>
                          <a:latin typeface="HSE Sans"/>
                        </a:rPr>
                        <a:t>20,7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92627"/>
                  </a:ext>
                </a:extLst>
              </a:tr>
            </a:tbl>
          </a:graphicData>
        </a:graphic>
      </p:graphicFrame>
      <p:sp>
        <p:nvSpPr>
          <p:cNvPr id="11" name="VidTakeaway">
            <a:extLst>
              <a:ext uri="{FF2B5EF4-FFF2-40B4-BE49-F238E27FC236}">
                <a16:creationId xmlns:a16="http://schemas.microsoft.com/office/drawing/2014/main" id="{8E9DB1E4-A07D-184F-B75C-A2F798C2211C}"/>
              </a:ext>
            </a:extLst>
          </p:cNvPr>
          <p:cNvSpPr/>
          <p:nvPr/>
        </p:nvSpPr>
        <p:spPr>
          <a:xfrm>
            <a:off x="660400" y="5867400"/>
            <a:ext cx="10871200" cy="609600"/>
          </a:xfrm>
          <a:prstGeom prst="roundRect">
            <a:avLst/>
          </a:prstGeom>
          <a:solidFill>
            <a:srgbClr val="EAF3EE"/>
          </a:solidFill>
          <a:ln w="15875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50800" rIns="152400" bIns="50800" rtlCol="0" anchor="ctr" anchorCtr="0">
            <a:noAutofit/>
          </a:bodyPr>
          <a:lstStyle/>
          <a:p>
            <a:pPr algn="ctr"/>
            <a:r>
              <a:rPr lang="ru-RU" sz="1400" b="1" dirty="0">
                <a:solidFill>
                  <a:srgbClr val="2E7D5B"/>
                </a:solidFill>
                <a:latin typeface="HSE Sans" panose="02000000000000000000" pitchFamily="2" charset="0"/>
              </a:rPr>
              <a:t>EmotiEffNet превосходит MobileNetV3 во всех конфигурациях → выбрана EmotiEffNet + BiLSTM (наивысшая accuracy 68,3%)</a:t>
            </a:r>
          </a:p>
        </p:txBody>
      </p:sp>
    </p:spTree>
    <p:extLst>
      <p:ext uri="{BB962C8B-B14F-4D97-AF65-F5344CB8AC3E}">
        <p14:creationId xmlns:p14="http://schemas.microsoft.com/office/powerpoint/2010/main" val="4134217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Бенчмарк на IEMOCAP: качество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81784-25C4-9193-90AA-9335569EE7A0}"/>
              </a:ext>
            </a:extLst>
          </p:cNvPr>
          <p:cNvSpPr txBox="1"/>
          <p:nvPr/>
        </p:nvSpPr>
        <p:spPr>
          <a:xfrm>
            <a:off x="427766" y="2423654"/>
            <a:ext cx="6240331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Протокол Leave-One-Session-Out (5 фолдов), основная метрика — Unweighted Average Recall (UAR), mean±std.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Предложенная модель лидирует по всем трём метрикам: UAR, Macro-F1, WA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Преимущество достигается на классах neutral (F1 0,55) и angry (F1 0,58)</a:t>
            </a:r>
          </a:p>
          <a:p>
            <a:pPr marL="228600" indent="-228600" algn="just">
              <a:buFont typeface="Arial"/>
              <a:buChar char="•"/>
            </a:pPr>
            <a:r>
              <a:rPr lang="ru-RU" sz="1500" dirty="0">
                <a:latin typeface="HSE Sans" panose="02000000000000000000" pitchFamily="2" charset="0"/>
              </a:rPr>
              <a:t>Видео-baseline отстаёт на ~20 п.п. — аудио несёт критически важную информацию</a:t>
            </a:r>
          </a:p>
        </p:txBody>
      </p:sp>
    </p:spTree>
    <p:extLst>
      <p:ext uri="{BB962C8B-B14F-4D97-AF65-F5344CB8AC3E}">
        <p14:creationId xmlns:p14="http://schemas.microsoft.com/office/powerpoint/2010/main" val="39522968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предметной области</a:t>
            </a:r>
          </a:p>
          <a:p>
            <a:r>
              <a:rPr lang="ru-RU" sz="2000" dirty="0"/>
              <a:t>Стратегии выборки в рендеринге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81784-25C4-9193-90AA-9335569EE7A0}"/>
              </a:ext>
            </a:extLst>
          </p:cNvPr>
          <p:cNvSpPr txBox="1"/>
          <p:nvPr/>
        </p:nvSpPr>
        <p:spPr>
          <a:xfrm>
            <a:off x="452887" y="2314936"/>
            <a:ext cx="624033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HSE Sans" panose="02000000000000000000" pitchFamily="2" charset="0"/>
              </a:rPr>
              <a:t>Blue Noise Sampler</a:t>
            </a:r>
            <a:endParaRPr lang="ru-RU" sz="1600" b="1" dirty="0">
              <a:latin typeface="HSE Sans" panose="02000000000000000000" pitchFamily="2" charset="0"/>
            </a:endParaRPr>
          </a:p>
          <a:p>
            <a:pPr algn="ctr"/>
            <a:endParaRPr lang="en-US" sz="400" b="1" dirty="0">
              <a:latin typeface="HSE Sans" panose="02000000000000000000" pitchFamily="2" charset="0"/>
            </a:endParaRPr>
          </a:p>
          <a:p>
            <a:pPr algn="just"/>
            <a:r>
              <a:rPr lang="ru-RU" sz="1400" dirty="0">
                <a:latin typeface="HSE Sans" panose="02000000000000000000" pitchFamily="2" charset="0"/>
              </a:rPr>
              <a:t>Основная идея алгоритма – заполнить текстуру хорошо распределенными точками, сгенерировав некоторые начальные случайные точки и заполнив остальные точки, основываясь на том, что следующая точка должна находиться как можно дальше от всех существующих.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373EE7-8A74-E93E-1ED1-B9FEFB930A37}"/>
              </a:ext>
            </a:extLst>
          </p:cNvPr>
          <p:cNvSpPr txBox="1"/>
          <p:nvPr/>
        </p:nvSpPr>
        <p:spPr>
          <a:xfrm>
            <a:off x="3918827" y="6101507"/>
            <a:ext cx="36845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SE Sans" panose="02000000000000000000" pitchFamily="2" charset="0"/>
              </a:rPr>
              <a:t>Blue Noise </a:t>
            </a:r>
            <a:r>
              <a:rPr lang="ru-RU" sz="1000" dirty="0">
                <a:latin typeface="HSE Sans" panose="02000000000000000000" pitchFamily="2" charset="0"/>
              </a:rPr>
              <a:t>текстура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DF7722-3CAB-0BDE-D194-CE0EED7985DA}"/>
              </a:ext>
            </a:extLst>
          </p:cNvPr>
          <p:cNvSpPr txBox="1"/>
          <p:nvPr/>
        </p:nvSpPr>
        <p:spPr>
          <a:xfrm>
            <a:off x="6902489" y="3734412"/>
            <a:ext cx="50129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28600" indent="-228600" algn="ctr">
              <a:buFont typeface="+mj-lt"/>
              <a:buAutoNum type="arabicPeriod"/>
            </a:pPr>
            <a:r>
              <a:rPr lang="ru-RU" sz="1000" dirty="0">
                <a:latin typeface="HSE Sans" panose="02000000000000000000" pitchFamily="2" charset="0"/>
              </a:rPr>
              <a:t>Изображение, сгенерированное с применением </a:t>
            </a:r>
            <a:r>
              <a:rPr lang="en-GB" sz="1000" dirty="0">
                <a:latin typeface="HSE Sans" panose="02000000000000000000" pitchFamily="2" charset="0"/>
              </a:rPr>
              <a:t>Blue Noise Sampler</a:t>
            </a:r>
          </a:p>
          <a:p>
            <a:pPr marL="228600" indent="-228600" algn="ctr">
              <a:buFont typeface="+mj-lt"/>
              <a:buAutoNum type="arabicPeriod"/>
            </a:pPr>
            <a:r>
              <a:rPr lang="ru-RU" sz="1000" dirty="0">
                <a:latin typeface="HSE Sans" panose="02000000000000000000" pitchFamily="2" charset="0"/>
              </a:rPr>
              <a:t>Более крупно явно видимый паттерн, присутствующий на полу (добавлена яркость)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37E713-B6B1-A63B-4C94-5C3252FB6F4D}"/>
              </a:ext>
            </a:extLst>
          </p:cNvPr>
          <p:cNvSpPr txBox="1"/>
          <p:nvPr/>
        </p:nvSpPr>
        <p:spPr>
          <a:xfrm>
            <a:off x="8516405" y="6098152"/>
            <a:ext cx="18630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1000" dirty="0">
                <a:latin typeface="HSE Sans" panose="02000000000000000000" pitchFamily="2" charset="0"/>
              </a:rPr>
              <a:t>Реализация </a:t>
            </a:r>
            <a:r>
              <a:rPr lang="en-US" sz="1000" dirty="0">
                <a:latin typeface="HSE Sans" panose="02000000000000000000" pitchFamily="2" charset="0"/>
              </a:rPr>
              <a:t>Blue Noise </a:t>
            </a:r>
            <a:r>
              <a:rPr lang="en-RU" sz="1000" dirty="0">
                <a:latin typeface="HSE Sans" panose="02000000000000000000" pitchFamily="2" charset="0"/>
              </a:rPr>
              <a:t>Sampler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C5E87A-8C17-5E62-482E-422925318B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622"/>
          <a:stretch/>
        </p:blipFill>
        <p:spPr bwMode="auto">
          <a:xfrm>
            <a:off x="4570623" y="3974691"/>
            <a:ext cx="2351306" cy="220218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6E6932-A368-3112-3433-2CEF774C3856}"/>
              </a:ext>
            </a:extLst>
          </p:cNvPr>
          <p:cNvSpPr txBox="1"/>
          <p:nvPr/>
        </p:nvSpPr>
        <p:spPr>
          <a:xfrm>
            <a:off x="452887" y="4237880"/>
            <a:ext cx="40926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На текстуре можно увидеть заметный и характерный для нашего алгоритма паттерн. В данном случае он играет положительную роль, так как, учеными доказано, что фоторецепторы в наших глазах лучше воспринимают и дорисовывают синий шум, что происходит из-за строения нашего глаза.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93DDFD-C760-BA08-232F-2E3B11AB24D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84095" y="2235739"/>
            <a:ext cx="2525666" cy="1420279"/>
          </a:xfrm>
          <a:prstGeom prst="rect">
            <a:avLst/>
          </a:prstGeom>
          <a:ln w="12700" cap="flat"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17C29B-93B3-1468-9086-79CC363CF3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23845"/>
          <a:stretch/>
        </p:blipFill>
        <p:spPr bwMode="auto">
          <a:xfrm>
            <a:off x="9589236" y="2232408"/>
            <a:ext cx="2326164" cy="1431950"/>
          </a:xfrm>
          <a:prstGeom prst="rect">
            <a:avLst/>
          </a:prstGeom>
          <a:ln w="12700" cap="flat"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3F6ABA-D9E7-9031-F18D-061691A7FB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94" y="4362474"/>
            <a:ext cx="4931306" cy="1608478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5800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Сравнение алгоритмов. Результаты</a:t>
            </a:r>
          </a:p>
          <a:p>
            <a:r>
              <a:rPr lang="ru-RU" sz="2000" dirty="0"/>
              <a:t>Визуальное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28FA3-F9C2-7F0B-A7A8-B800A0ACBB0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08" y="2468891"/>
            <a:ext cx="1785990" cy="1004273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E30941-1EB7-DFE0-B6B5-40FFFA16EA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83" y="3597892"/>
            <a:ext cx="1796915" cy="1270800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145620-1EA7-E9D4-5115-40D966D5E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912" y="2468891"/>
            <a:ext cx="1785437" cy="10042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927D342-7670-20BB-27CA-A0EC753782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911" y="3590125"/>
            <a:ext cx="1796912" cy="1270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712393B-E558-69CB-5FA1-ADA4DD98695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9" y="2473131"/>
            <a:ext cx="1785437" cy="10042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6408EFB-43BB-7EC7-25E3-6F64CD0551D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9" y="3597893"/>
            <a:ext cx="1785437" cy="12626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95E0A3-A421-171D-6338-D45729346BC2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702" y="2468892"/>
            <a:ext cx="1785438" cy="100427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EB6C74C-5119-F39E-F531-00028095800D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702" y="3597892"/>
            <a:ext cx="1785438" cy="126268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9C3571E-356D-A244-10D4-42BB036294B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5795" y="2468892"/>
            <a:ext cx="1785438" cy="100427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47035F5-A51D-F2FA-B9C2-18714D71C1AF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5794" y="3597892"/>
            <a:ext cx="1785438" cy="12626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9A03473-5B5B-95F8-72BA-685B46389AEB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888" y="2468892"/>
            <a:ext cx="1800623" cy="101281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F669872-53A8-4E6E-3E75-11F27D5B290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1900" y="3597892"/>
            <a:ext cx="1785438" cy="126268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D0E43D2-A779-CE87-A018-8DE499271E4B}"/>
              </a:ext>
            </a:extLst>
          </p:cNvPr>
          <p:cNvSpPr txBox="1"/>
          <p:nvPr/>
        </p:nvSpPr>
        <p:spPr>
          <a:xfrm>
            <a:off x="1135085" y="2043949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Оригинал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568B42-E9F3-AC48-C599-5EE0776DE641}"/>
              </a:ext>
            </a:extLst>
          </p:cNvPr>
          <p:cNvSpPr txBox="1"/>
          <p:nvPr/>
        </p:nvSpPr>
        <p:spPr>
          <a:xfrm>
            <a:off x="2725044" y="204394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Standard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A311B-B9E2-6EC7-8F52-540454B28925}"/>
              </a:ext>
            </a:extLst>
          </p:cNvPr>
          <p:cNvSpPr txBox="1"/>
          <p:nvPr/>
        </p:nvSpPr>
        <p:spPr>
          <a:xfrm>
            <a:off x="4672354" y="2043949"/>
            <a:ext cx="1313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17380B-4D5A-8063-2027-7769163D02FC}"/>
              </a:ext>
            </a:extLst>
          </p:cNvPr>
          <p:cNvSpPr txBox="1"/>
          <p:nvPr/>
        </p:nvSpPr>
        <p:spPr>
          <a:xfrm>
            <a:off x="6341064" y="1945671"/>
            <a:ext cx="16641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RandomDigit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2AC3E2-DD7B-0763-F942-A7B0090DCFDD}"/>
              </a:ext>
            </a:extLst>
          </p:cNvPr>
          <p:cNvSpPr txBox="1"/>
          <p:nvPr/>
        </p:nvSpPr>
        <p:spPr>
          <a:xfrm>
            <a:off x="8466947" y="1945671"/>
            <a:ext cx="11431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Owen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315AB8-63B8-D0D0-14B6-B2622D30A3B6}"/>
              </a:ext>
            </a:extLst>
          </p:cNvPr>
          <p:cNvSpPr txBox="1"/>
          <p:nvPr/>
        </p:nvSpPr>
        <p:spPr>
          <a:xfrm>
            <a:off x="10444359" y="1943977"/>
            <a:ext cx="9605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Blue Noise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6114D3A-3B84-FBE2-B688-C4B04F386D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83" y="4988883"/>
            <a:ext cx="1796915" cy="1270801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C567E3E0-AA81-70A9-9FBC-FE35086F761C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911" y="4988883"/>
            <a:ext cx="1796914" cy="12708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A0B668D-AB89-CE19-CDF3-D666ADA8188B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BEBA8EAE-BF5A-486C-A8C5-ECC9F3942E4B}">
                <a14:imgProps xmlns:a14="http://schemas.microsoft.com/office/drawing/2010/main">
                  <a14:imgLayer r:embed="rId24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9" y="4988883"/>
            <a:ext cx="1785438" cy="1262684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9D8038E-9A38-1C24-22B3-37BCCB4466D3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BEBA8EAE-BF5A-486C-A8C5-ECC9F3942E4B}">
                <a14:imgProps xmlns:a14="http://schemas.microsoft.com/office/drawing/2010/main">
                  <a14:imgLayer r:embed="rId26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702" y="4988883"/>
            <a:ext cx="1785438" cy="1262684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1CC00DC-C354-85CA-2EB6-D3E62B9F7339}"/>
              </a:ext>
            </a:extLst>
          </p:cNvPr>
          <p:cNvPicPr>
            <a:picLocks noChangeAspect="1"/>
          </p:cNvPicPr>
          <p:nvPr/>
        </p:nvPicPr>
        <p:blipFill>
          <a:blip r:embed="rId27" cstate="print"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4263" y="4986309"/>
            <a:ext cx="1785438" cy="126268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3C6B1E3-593D-C1DC-7834-38CA3186EB45}"/>
              </a:ext>
            </a:extLst>
          </p:cNvPr>
          <p:cNvPicPr>
            <a:picLocks noChangeAspect="1"/>
          </p:cNvPicPr>
          <p:nvPr/>
        </p:nvPicPr>
        <p:blipFill>
          <a:blip r:embed="rId29" cstate="print"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7490" y="4986309"/>
            <a:ext cx="1785438" cy="126268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2CCD585-0FE3-23D3-7B0C-C28F4BA121A6}"/>
              </a:ext>
            </a:extLst>
          </p:cNvPr>
          <p:cNvSpPr txBox="1"/>
          <p:nvPr/>
        </p:nvSpPr>
        <p:spPr>
          <a:xfrm>
            <a:off x="240174" y="3928309"/>
            <a:ext cx="400110" cy="621325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SPP = 1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3090B9-AD33-CEB6-8062-182B31DF5DCF}"/>
              </a:ext>
            </a:extLst>
          </p:cNvPr>
          <p:cNvSpPr txBox="1"/>
          <p:nvPr/>
        </p:nvSpPr>
        <p:spPr>
          <a:xfrm>
            <a:off x="259699" y="5320435"/>
            <a:ext cx="400110" cy="621325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SPP = 8</a:t>
            </a:r>
            <a:endParaRPr lang="en-RU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733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Сравнение алгоритмов. Результаты</a:t>
            </a:r>
          </a:p>
          <a:p>
            <a:r>
              <a:rPr lang="ru-RU" sz="2000" dirty="0"/>
              <a:t>Визуальное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0E43D2-A779-CE87-A018-8DE499271E4B}"/>
              </a:ext>
            </a:extLst>
          </p:cNvPr>
          <p:cNvSpPr txBox="1"/>
          <p:nvPr/>
        </p:nvSpPr>
        <p:spPr>
          <a:xfrm>
            <a:off x="1135085" y="2043949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Оригинал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568B42-E9F3-AC48-C599-5EE0776DE641}"/>
              </a:ext>
            </a:extLst>
          </p:cNvPr>
          <p:cNvSpPr txBox="1"/>
          <p:nvPr/>
        </p:nvSpPr>
        <p:spPr>
          <a:xfrm>
            <a:off x="2725044" y="204394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Standard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A311B-B9E2-6EC7-8F52-540454B28925}"/>
              </a:ext>
            </a:extLst>
          </p:cNvPr>
          <p:cNvSpPr txBox="1"/>
          <p:nvPr/>
        </p:nvSpPr>
        <p:spPr>
          <a:xfrm>
            <a:off x="4672354" y="2043949"/>
            <a:ext cx="13130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17380B-4D5A-8063-2027-7769163D02FC}"/>
              </a:ext>
            </a:extLst>
          </p:cNvPr>
          <p:cNvSpPr txBox="1"/>
          <p:nvPr/>
        </p:nvSpPr>
        <p:spPr>
          <a:xfrm>
            <a:off x="6341064" y="1945671"/>
            <a:ext cx="16641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RandomDigit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2AC3E2-DD7B-0763-F942-A7B0090DCFDD}"/>
              </a:ext>
            </a:extLst>
          </p:cNvPr>
          <p:cNvSpPr txBox="1"/>
          <p:nvPr/>
        </p:nvSpPr>
        <p:spPr>
          <a:xfrm>
            <a:off x="8466947" y="1945671"/>
            <a:ext cx="11431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Halton Owen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315AB8-63B8-D0D0-14B6-B2622D30A3B6}"/>
              </a:ext>
            </a:extLst>
          </p:cNvPr>
          <p:cNvSpPr txBox="1"/>
          <p:nvPr/>
        </p:nvSpPr>
        <p:spPr>
          <a:xfrm>
            <a:off x="10444359" y="1943977"/>
            <a:ext cx="9605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Blue Noise</a:t>
            </a:r>
          </a:p>
          <a:p>
            <a:pPr algn="ctr"/>
            <a:r>
              <a:rPr lang="en-US" sz="1400" dirty="0">
                <a:latin typeface="HSE Sans" panose="02000000000000000000" pitchFamily="2" charset="0"/>
              </a:rPr>
              <a:t> Sampler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CCD585-0FE3-23D3-7B0C-C28F4BA121A6}"/>
              </a:ext>
            </a:extLst>
          </p:cNvPr>
          <p:cNvSpPr txBox="1"/>
          <p:nvPr/>
        </p:nvSpPr>
        <p:spPr>
          <a:xfrm>
            <a:off x="240174" y="3928309"/>
            <a:ext cx="400110" cy="621325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SPP = 1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3090B9-AD33-CEB6-8062-182B31DF5DCF}"/>
              </a:ext>
            </a:extLst>
          </p:cNvPr>
          <p:cNvSpPr txBox="1"/>
          <p:nvPr/>
        </p:nvSpPr>
        <p:spPr>
          <a:xfrm>
            <a:off x="259699" y="5320435"/>
            <a:ext cx="400110" cy="621325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pPr algn="ctr"/>
            <a:r>
              <a:rPr lang="en-US" sz="1400" dirty="0">
                <a:latin typeface="HSE Sans" panose="02000000000000000000" pitchFamily="2" charset="0"/>
              </a:rPr>
              <a:t>SPP = 8</a:t>
            </a:r>
            <a:endParaRPr lang="en-RU" sz="1400" dirty="0">
              <a:latin typeface="HSE Sans" panose="02000000000000000000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F9F16E-083B-B539-73D5-5745FC4860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043" y="2466644"/>
            <a:ext cx="1785438" cy="100427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2ACE98-372C-7C0A-1A2C-E8FF9338AB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46" y="2466636"/>
            <a:ext cx="1785439" cy="1004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5671C7-0031-404E-A52E-AEAE5509234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486" y="2466636"/>
            <a:ext cx="1783085" cy="10029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1B4DD6-7C87-D752-9ADB-B2E8995CAF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117" y="2466636"/>
            <a:ext cx="1783085" cy="10029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3DD6CF-8E52-7835-6457-853771D96FE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4913" y="2466636"/>
            <a:ext cx="1783085" cy="10029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7EC610-78CE-F7F8-507C-728FCAD2FA3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843" y="2466636"/>
            <a:ext cx="1783085" cy="10029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6CE319-E104-2A1C-4757-B10B03E9CD7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89" y="3673089"/>
            <a:ext cx="1785438" cy="11571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8C1F73-849C-C9D0-6D44-61487969F79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463" y="3673089"/>
            <a:ext cx="1796914" cy="116455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FE0E2D2-D68B-CA5F-637A-5FFADDCD037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814" y="3675705"/>
            <a:ext cx="1781401" cy="11545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337C601-C17A-4A58-5A67-8EF87B338A9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148" y="3673088"/>
            <a:ext cx="1796914" cy="116455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7F7A0A9-34D4-0171-17B0-56502414B56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8365" y="3665652"/>
            <a:ext cx="1796914" cy="1164559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09AADDB-168B-37C9-59D4-A0BABB01430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688" y="3665651"/>
            <a:ext cx="1796914" cy="116455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EBD3EADB-2E58-2A89-5990-1FDC24E6D081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562" y="5055152"/>
            <a:ext cx="1777365" cy="115189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AC38FDC-7143-1F4F-318C-784F6749EC6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465" y="5051475"/>
            <a:ext cx="1796912" cy="116455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15DB3F-16C7-CBA9-F5C2-3280BE9EDAC7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0197" y="5051475"/>
            <a:ext cx="1777365" cy="115189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7752D14-1D5B-3352-9F9C-115C26B099DE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170" y="5046624"/>
            <a:ext cx="1777365" cy="11518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1FC70A9-B170-4185-DEAB-22336CB0072E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308" y="5047403"/>
            <a:ext cx="1796912" cy="1164558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0C8D03D-D54F-9651-E5AC-AB2997F93248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2690" y="5033956"/>
            <a:ext cx="1796912" cy="116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066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Сравнение алгоритмов. Результаты</a:t>
            </a:r>
          </a:p>
          <a:p>
            <a:r>
              <a:rPr lang="ru-RU" sz="2000" dirty="0"/>
              <a:t>Метрика </a:t>
            </a:r>
            <a:r>
              <a:rPr lang="en-US" sz="2000" dirty="0"/>
              <a:t>MSE</a:t>
            </a:r>
            <a:endParaRPr lang="ru-RU" sz="2000" dirty="0"/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22B7C0-55CC-16BF-E196-49368442DB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88" y="2674172"/>
            <a:ext cx="5573521" cy="23223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ADA98-BAC6-ECFB-C2B5-74B83599AEBC}"/>
              </a:ext>
            </a:extLst>
          </p:cNvPr>
          <p:cNvSpPr txBox="1"/>
          <p:nvPr/>
        </p:nvSpPr>
        <p:spPr>
          <a:xfrm>
            <a:off x="1251074" y="4996522"/>
            <a:ext cx="3925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График сравнения метрики </a:t>
            </a:r>
            <a:r>
              <a:rPr lang="en-US" sz="1400" dirty="0">
                <a:latin typeface="HSE Sans" panose="02000000000000000000" pitchFamily="2" charset="0"/>
              </a:rPr>
              <a:t>MSE </a:t>
            </a:r>
            <a:r>
              <a:rPr lang="ru-RU" sz="1400" dirty="0">
                <a:latin typeface="HSE Sans" panose="02000000000000000000" pitchFamily="2" charset="0"/>
              </a:rPr>
              <a:t>на сцене «Волк»</a:t>
            </a:r>
            <a:endParaRPr lang="en-RU" sz="1400" dirty="0">
              <a:latin typeface="HSE Sans" panose="02000000000000000000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A2E16E-08D9-65AA-A142-D2EC4FEF7C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892" y="2674172"/>
            <a:ext cx="5573520" cy="23223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F9248AD-7647-E90F-F9EA-87F3429F1F46}"/>
              </a:ext>
            </a:extLst>
          </p:cNvPr>
          <p:cNvSpPr txBox="1"/>
          <p:nvPr/>
        </p:nvSpPr>
        <p:spPr>
          <a:xfrm>
            <a:off x="6982474" y="4996522"/>
            <a:ext cx="4350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График сравнения метрики </a:t>
            </a:r>
            <a:r>
              <a:rPr lang="en-US" sz="1400" dirty="0">
                <a:latin typeface="HSE Sans" panose="02000000000000000000" pitchFamily="2" charset="0"/>
              </a:rPr>
              <a:t>MSE </a:t>
            </a:r>
            <a:r>
              <a:rPr lang="ru-RU" sz="1400" dirty="0">
                <a:latin typeface="HSE Sans" panose="02000000000000000000" pitchFamily="2" charset="0"/>
              </a:rPr>
              <a:t>на сцене «</a:t>
            </a:r>
            <a:r>
              <a:rPr lang="en-US" sz="1400" dirty="0">
                <a:latin typeface="HSE Sans" panose="02000000000000000000" pitchFamily="2" charset="0"/>
              </a:rPr>
              <a:t>Cornell Box</a:t>
            </a:r>
            <a:r>
              <a:rPr lang="ru-RU" sz="1400" dirty="0">
                <a:latin typeface="HSE Sans" panose="02000000000000000000" pitchFamily="2" charset="0"/>
              </a:rPr>
              <a:t>»</a:t>
            </a:r>
            <a:endParaRPr lang="en-RU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982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Сравнение алгоритмов. Результаты</a:t>
            </a:r>
          </a:p>
          <a:p>
            <a:r>
              <a:rPr lang="ru-RU" sz="2000" dirty="0"/>
              <a:t>Метрика </a:t>
            </a:r>
            <a:r>
              <a:rPr lang="en-US" sz="2000" dirty="0"/>
              <a:t>FLIP</a:t>
            </a:r>
            <a:endParaRPr lang="ru-RU" sz="2000" dirty="0"/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ADA98-BAC6-ECFB-C2B5-74B83599AEBC}"/>
              </a:ext>
            </a:extLst>
          </p:cNvPr>
          <p:cNvSpPr txBox="1"/>
          <p:nvPr/>
        </p:nvSpPr>
        <p:spPr>
          <a:xfrm>
            <a:off x="7999104" y="2725049"/>
            <a:ext cx="26800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График сравнения  метрики </a:t>
            </a:r>
            <a:r>
              <a:rPr lang="en-US" sz="1400" dirty="0">
                <a:latin typeface="HSE Sans" panose="02000000000000000000" pitchFamily="2" charset="0"/>
              </a:rPr>
              <a:t>FLIP </a:t>
            </a:r>
          </a:p>
          <a:p>
            <a:pPr algn="ctr"/>
            <a:r>
              <a:rPr lang="ru-RU" sz="1400" dirty="0">
                <a:latin typeface="HSE Sans" panose="02000000000000000000" pitchFamily="2" charset="0"/>
              </a:rPr>
              <a:t>на сцене «Волк»</a:t>
            </a:r>
            <a:endParaRPr lang="en-RU" sz="1400" dirty="0">
              <a:latin typeface="HSE Sans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9248AD-7647-E90F-F9EA-87F3429F1F46}"/>
              </a:ext>
            </a:extLst>
          </p:cNvPr>
          <p:cNvSpPr txBox="1"/>
          <p:nvPr/>
        </p:nvSpPr>
        <p:spPr>
          <a:xfrm>
            <a:off x="7999104" y="5119595"/>
            <a:ext cx="2640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400" dirty="0">
                <a:latin typeface="HSE Sans" panose="02000000000000000000" pitchFamily="2" charset="0"/>
              </a:rPr>
              <a:t>График сравнения метрики </a:t>
            </a:r>
            <a:r>
              <a:rPr lang="en-US" sz="1400" dirty="0">
                <a:latin typeface="HSE Sans" panose="02000000000000000000" pitchFamily="2" charset="0"/>
              </a:rPr>
              <a:t>FLIP </a:t>
            </a:r>
          </a:p>
          <a:p>
            <a:pPr algn="ctr"/>
            <a:r>
              <a:rPr lang="ru-RU" sz="1400" dirty="0">
                <a:latin typeface="HSE Sans" panose="02000000000000000000" pitchFamily="2" charset="0"/>
              </a:rPr>
              <a:t>на сцене «</a:t>
            </a:r>
            <a:r>
              <a:rPr lang="en-US" sz="1400" dirty="0">
                <a:latin typeface="HSE Sans" panose="02000000000000000000" pitchFamily="2" charset="0"/>
              </a:rPr>
              <a:t>Cornell Box</a:t>
            </a:r>
            <a:r>
              <a:rPr lang="ru-RU" sz="1400" dirty="0">
                <a:latin typeface="HSE Sans" panose="02000000000000000000" pitchFamily="2" charset="0"/>
              </a:rPr>
              <a:t>»</a:t>
            </a:r>
            <a:endParaRPr lang="en-RU" sz="1400" dirty="0">
              <a:latin typeface="HSE Sans" panose="02000000000000000000" pitchFamily="2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3DADBC-5314-2849-5075-CC1C704CB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25" y="1949412"/>
            <a:ext cx="6409307" cy="22889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187729-909F-5B0C-1998-3207AB594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25" y="4368227"/>
            <a:ext cx="6409309" cy="224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84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Заключение</a:t>
            </a:r>
          </a:p>
          <a:p>
            <a:r>
              <a:rPr lang="ru-RU" sz="2000" dirty="0"/>
              <a:t>Результаты курсовой работы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1797D-E1C0-1413-7394-3F0A0E2135E1}"/>
              </a:ext>
            </a:extLst>
          </p:cNvPr>
          <p:cNvSpPr/>
          <p:nvPr/>
        </p:nvSpPr>
        <p:spPr>
          <a:xfrm>
            <a:off x="4576199" y="4584371"/>
            <a:ext cx="3039602" cy="158217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435D7-16D5-35BB-B61D-5A76F0935C93}"/>
              </a:ext>
            </a:extLst>
          </p:cNvPr>
          <p:cNvSpPr txBox="1"/>
          <p:nvPr/>
        </p:nvSpPr>
        <p:spPr>
          <a:xfrm>
            <a:off x="4752465" y="4673828"/>
            <a:ext cx="267196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Подробное изучение существующих подходов к рендерингу изображений, как они устроены изнутри, а также методы их оптимизации и дальнейшего развития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C2300B5-012E-5A1E-8609-08A14F7A17F1}"/>
              </a:ext>
            </a:extLst>
          </p:cNvPr>
          <p:cNvSpPr/>
          <p:nvPr/>
        </p:nvSpPr>
        <p:spPr>
          <a:xfrm>
            <a:off x="4576199" y="2167362"/>
            <a:ext cx="3039602" cy="185316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BBE6F1-86E3-D0C2-4C58-2B6C2C6389F2}"/>
              </a:ext>
            </a:extLst>
          </p:cNvPr>
          <p:cNvSpPr/>
          <p:nvPr/>
        </p:nvSpPr>
        <p:spPr>
          <a:xfrm>
            <a:off x="8238522" y="2167362"/>
            <a:ext cx="3039602" cy="185316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7B9441-A64E-62AE-2B59-52F9FDC8C1D2}"/>
              </a:ext>
            </a:extLst>
          </p:cNvPr>
          <p:cNvSpPr/>
          <p:nvPr/>
        </p:nvSpPr>
        <p:spPr>
          <a:xfrm>
            <a:off x="913876" y="2167362"/>
            <a:ext cx="3039602" cy="2509371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F87565-B390-B77D-C10D-8C5AFEFBACBE}"/>
              </a:ext>
            </a:extLst>
          </p:cNvPr>
          <p:cNvSpPr/>
          <p:nvPr/>
        </p:nvSpPr>
        <p:spPr>
          <a:xfrm>
            <a:off x="8238522" y="4367030"/>
            <a:ext cx="3039602" cy="179951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A2146B-9FEF-8C60-91C4-0E80193D2FF1}"/>
              </a:ext>
            </a:extLst>
          </p:cNvPr>
          <p:cNvSpPr/>
          <p:nvPr/>
        </p:nvSpPr>
        <p:spPr>
          <a:xfrm>
            <a:off x="913876" y="4952390"/>
            <a:ext cx="3039602" cy="1264732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6022D-561F-CD5F-6F84-1173545EDCF3}"/>
              </a:ext>
            </a:extLst>
          </p:cNvPr>
          <p:cNvSpPr txBox="1"/>
          <p:nvPr/>
        </p:nvSpPr>
        <p:spPr>
          <a:xfrm>
            <a:off x="4759540" y="2283917"/>
            <a:ext cx="267291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Была написана собственная программа для рендеринга изображений на С++ с нуля, с возможностью дополнять ее новыми функциями, а также продолжать работать над ней, как над серьезным проектом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1BF6-7812-4467-A137-CBD2F2444ADD}"/>
              </a:ext>
            </a:extLst>
          </p:cNvPr>
          <p:cNvSpPr txBox="1"/>
          <p:nvPr/>
        </p:nvSpPr>
        <p:spPr>
          <a:xfrm>
            <a:off x="8367951" y="2293724"/>
            <a:ext cx="278074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r>
              <a:rPr lang="ru-RU" dirty="0"/>
              <a:t>Было проведено исследование и поиск алгоритмов для генерации случайных чисел, которые могли бы поспособствовать уменьшению времени рендеринга изображений в хорошем качестве</a:t>
            </a:r>
            <a:endParaRPr lang="en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3674B-DDFB-B86A-5D67-AEDA5D83B2AE}"/>
              </a:ext>
            </a:extLst>
          </p:cNvPr>
          <p:cNvSpPr txBox="1"/>
          <p:nvPr/>
        </p:nvSpPr>
        <p:spPr>
          <a:xfrm>
            <a:off x="1049851" y="2298662"/>
            <a:ext cx="275255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r>
              <a:rPr lang="ru-RU" dirty="0"/>
              <a:t>Были выбраны и реализованы на языке С++ 4 метода генерации случайных чисел: </a:t>
            </a:r>
            <a:r>
              <a:rPr lang="en-US" dirty="0"/>
              <a:t>Halton Sampler</a:t>
            </a:r>
            <a:r>
              <a:rPr lang="ru-RU" dirty="0"/>
              <a:t>, </a:t>
            </a:r>
            <a:r>
              <a:rPr lang="en-US" dirty="0"/>
              <a:t>Halton RandomDigit Sampler</a:t>
            </a:r>
            <a:r>
              <a:rPr lang="ru-RU" dirty="0"/>
              <a:t>, </a:t>
            </a:r>
            <a:r>
              <a:rPr lang="en-US" dirty="0"/>
              <a:t>Halton Owen Sampler</a:t>
            </a:r>
            <a:r>
              <a:rPr lang="ru-RU" dirty="0"/>
              <a:t>, </a:t>
            </a:r>
            <a:r>
              <a:rPr lang="en-US" dirty="0"/>
              <a:t>Blue Noise Sampler</a:t>
            </a:r>
            <a:r>
              <a:rPr lang="ru-RU" dirty="0"/>
              <a:t>. Они были добавлены в программу рендеринга изображений и с их помощью были срендерены изображения, необходимые для сравнения</a:t>
            </a:r>
            <a:endParaRPr lang="en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0103E-EBA1-7B2D-9E27-E7BA883003B6}"/>
              </a:ext>
            </a:extLst>
          </p:cNvPr>
          <p:cNvSpPr txBox="1"/>
          <p:nvPr/>
        </p:nvSpPr>
        <p:spPr>
          <a:xfrm>
            <a:off x="8421862" y="4466568"/>
            <a:ext cx="267291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r>
              <a:rPr lang="ru-RU" dirty="0"/>
              <a:t>Было проведено сравнение и анализ написанных методов генерации случайных чисел с использованием современных метрик, использующихся в настоящих проектах по 3</a:t>
            </a:r>
            <a:r>
              <a:rPr lang="en-GB" dirty="0"/>
              <a:t>D </a:t>
            </a:r>
            <a:r>
              <a:rPr lang="ru-RU" dirty="0"/>
              <a:t>графике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03BFE-0D32-6BE2-8D37-4EE85F449373}"/>
              </a:ext>
            </a:extLst>
          </p:cNvPr>
          <p:cNvSpPr txBox="1"/>
          <p:nvPr/>
        </p:nvSpPr>
        <p:spPr>
          <a:xfrm>
            <a:off x="1097217" y="4996993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1400" dirty="0">
                <a:latin typeface="HSE Sans" panose="02000000000000000000" pitchFamily="2" charset="0"/>
              </a:rPr>
              <a:t>Были выделены алгоритмы, которые показывают наилучшие результаты за наименьшее время: </a:t>
            </a:r>
            <a:r>
              <a:rPr lang="en-GB" sz="1400" dirty="0">
                <a:latin typeface="HSE Sans" panose="02000000000000000000" pitchFamily="2" charset="0"/>
              </a:rPr>
              <a:t>Blue Noise Sampler, Halton RandomDigit Sampler</a:t>
            </a:r>
          </a:p>
        </p:txBody>
      </p:sp>
    </p:spTree>
    <p:extLst>
      <p:ext uri="{BB962C8B-B14F-4D97-AF65-F5344CB8AC3E}">
        <p14:creationId xmlns:p14="http://schemas.microsoft.com/office/powerpoint/2010/main" val="4099248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50F89-A8D7-ABE2-663D-B37F6E53162D}"/>
              </a:ext>
            </a:extLst>
          </p:cNvPr>
          <p:cNvSpPr txBox="1"/>
          <p:nvPr/>
        </p:nvSpPr>
        <p:spPr>
          <a:xfrm>
            <a:off x="2627838" y="3013501"/>
            <a:ext cx="6936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b="1" dirty="0">
                <a:latin typeface="HSE Sans" panose="02000000000000000000" pitchFamily="2" charset="0"/>
              </a:rPr>
              <a:t>Спасибо за внимание!</a:t>
            </a:r>
            <a:endParaRPr lang="en-RU" sz="4800" b="1" dirty="0">
              <a:latin typeface="HSE Sans" panose="02000000000000000000" pitchFamily="2" charset="0"/>
            </a:endParaRPr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</p:spTree>
    <p:extLst>
      <p:ext uri="{BB962C8B-B14F-4D97-AF65-F5344CB8AC3E}">
        <p14:creationId xmlns:p14="http://schemas.microsoft.com/office/powerpoint/2010/main" val="608200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26C339B-9EF2-7B09-7529-D0ED3F5000DC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803584" cy="802343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Приложение 1</a:t>
            </a:r>
          </a:p>
          <a:p>
            <a:r>
              <a:rPr lang="ru-RU" sz="2000" dirty="0"/>
              <a:t>Собственная программа для рендеринга изображения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29C427-A683-017B-DEFA-F446E7D1AB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89" y="2147570"/>
            <a:ext cx="2278380" cy="1281430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1A7F22-6D19-2230-A4D2-9B64AFC795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0969" y="2147570"/>
            <a:ext cx="2278380" cy="1281430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8EF182-E56C-805A-0ACD-FDF709B412A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24" t="25015" r="24275" b="23135"/>
          <a:stretch/>
        </p:blipFill>
        <p:spPr bwMode="auto">
          <a:xfrm>
            <a:off x="1410817" y="4111115"/>
            <a:ext cx="3533775" cy="1955165"/>
          </a:xfrm>
          <a:prstGeom prst="rect">
            <a:avLst/>
          </a:prstGeom>
          <a:ln w="12700" cap="flat">
            <a:solidFill>
              <a:schemeClr val="tx1"/>
            </a:solidFill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898F23B-EA6D-FE1F-9F18-CE97735F41D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7410" y="2147570"/>
            <a:ext cx="3205880" cy="1803308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323A17-2BA7-0E2B-C901-2362C2B5874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7410" y="4262972"/>
            <a:ext cx="3205880" cy="1803308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2180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Сравнение различных стратегий выборки в рендеринге трассировкой путей 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26C339B-9EF2-7B09-7529-D0ED3F5000DC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803584" cy="802343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Приложение 2</a:t>
            </a:r>
          </a:p>
          <a:p>
            <a:r>
              <a:rPr lang="ru-RU" sz="2000" dirty="0"/>
              <a:t>Собственная программа для рендеринга изображения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0771B9-75D4-53AA-D2BC-91C11A9F26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89" y="2989199"/>
            <a:ext cx="4398930" cy="2473912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829AF3-7338-21AB-A0C5-73FD33E885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948" y="2989199"/>
            <a:ext cx="2473912" cy="2473912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7DD0DA9-AEDE-DF0C-ED57-7627674AC7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0389" y="2374879"/>
            <a:ext cx="2963491" cy="1666964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D67FA7-7A6B-4508-7F3D-CEF534BB703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099" y="4392409"/>
            <a:ext cx="2963490" cy="1666963"/>
          </a:xfrm>
          <a:prstGeom prst="rect">
            <a:avLst/>
          </a:prstGeom>
          <a:ln w="12700" cap="flat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88385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D4ED33-31C3-364B-B334-F3160050B56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0beb44a-06ef-4079-824f-cf28bc70292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2276</TotalTime>
  <Words>1525</Words>
  <Application>Microsoft Macintosh PowerPoint</Application>
  <PresentationFormat>Widescreen</PresentationFormat>
  <Paragraphs>274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HSE Sans</vt:lpstr>
      <vt:lpstr>Office Theme</vt:lpstr>
      <vt:lpstr>Классификация выражений лиц с детектированием эмоций в речи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clashoc 28</cp:lastModifiedBy>
  <cp:revision>57</cp:revision>
  <cp:lastPrinted>2021-11-11T13:08:42Z</cp:lastPrinted>
  <dcterms:created xsi:type="dcterms:W3CDTF">2021-11-11T08:52:47Z</dcterms:created>
  <dcterms:modified xsi:type="dcterms:W3CDTF">2026-05-28T18:17:07Z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