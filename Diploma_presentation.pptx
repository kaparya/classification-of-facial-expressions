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sldIdLst>
    <p:sldId id="271" r:id="rId5"/>
    <p:sldId id="302" r:id="rId6"/>
    <p:sldId id="306" r:id="rId7"/>
    <p:sldId id="316" r:id="rId8"/>
    <p:sldId id="331" r:id="rId9"/>
    <p:sldId id="318" r:id="rId10"/>
    <p:sldId id="321" r:id="rId11"/>
    <p:sldId id="322" r:id="rId12"/>
    <p:sldId id="319" r:id="rId13"/>
    <p:sldId id="320" r:id="rId14"/>
    <p:sldId id="323" r:id="rId15"/>
    <p:sldId id="324" r:id="rId16"/>
    <p:sldId id="327" r:id="rId17"/>
    <p:sldId id="329" r:id="rId18"/>
    <p:sldId id="330" r:id="rId19"/>
    <p:sldId id="285" r:id="rId20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25" userDrawn="1">
          <p15:clr>
            <a:srgbClr val="A4A3A4"/>
          </p15:clr>
        </p15:guide>
        <p15:guide id="4" pos="1209" userDrawn="1">
          <p15:clr>
            <a:srgbClr val="A4A3A4"/>
          </p15:clr>
        </p15:guide>
        <p15:guide id="5" pos="2955" userDrawn="1">
          <p15:clr>
            <a:srgbClr val="A4A3A4"/>
          </p15:clr>
        </p15:guide>
        <p15:guide id="6" pos="2071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4702" userDrawn="1">
          <p15:clr>
            <a:srgbClr val="A4A3A4"/>
          </p15:clr>
        </p15:guide>
        <p15:guide id="11" pos="5586" userDrawn="1">
          <p15:clr>
            <a:srgbClr val="A4A3A4"/>
          </p15:clr>
        </p15:guide>
        <p15:guide id="12" pos="7333" userDrawn="1">
          <p15:clr>
            <a:srgbClr val="A4A3A4"/>
          </p15:clr>
        </p15:guide>
        <p15:guide id="13" orient="horz" pos="3952" userDrawn="1">
          <p15:clr>
            <a:srgbClr val="A4A3A4"/>
          </p15:clr>
        </p15:guide>
        <p15:guide id="15" pos="6471" userDrawn="1">
          <p15:clr>
            <a:srgbClr val="A4A3A4"/>
          </p15:clr>
        </p15:guide>
        <p15:guide id="16" orient="horz" pos="91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Кутьков Юрий Юрьевич" initials="КЮЮ" lastIdx="4" clrIdx="0">
    <p:extLst>
      <p:ext uri="{19B8F6BF-5375-455C-9EA6-DF929625EA0E}">
        <p15:presenceInfo xmlns:p15="http://schemas.microsoft.com/office/powerpoint/2012/main" userId="S::ykutkov@hse.ru::45dbd1ed-eea1-4925-9fa4-5001421b49d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0808"/>
    <a:srgbClr val="2F7D5B"/>
    <a:srgbClr val="029C63"/>
    <a:srgbClr val="1E4D9B"/>
    <a:srgbClr val="0F2B69"/>
    <a:srgbClr val="96628C"/>
    <a:srgbClr val="11A0D7"/>
    <a:srgbClr val="E61F3D"/>
    <a:srgbClr val="CD5A5A"/>
    <a:srgbClr val="FFD74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564"/>
    <p:restoredTop sz="94699"/>
  </p:normalViewPr>
  <p:slideViewPr>
    <p:cSldViewPr snapToGrid="0" snapToObjects="1">
      <p:cViewPr varScale="1">
        <p:scale>
          <a:sx n="174" d="100"/>
          <a:sy n="174" d="100"/>
        </p:scale>
        <p:origin x="208" y="960"/>
      </p:cViewPr>
      <p:guideLst>
        <p:guide pos="325"/>
        <p:guide pos="1209"/>
        <p:guide pos="2955"/>
        <p:guide pos="2071"/>
        <p:guide pos="3840"/>
        <p:guide pos="4702"/>
        <p:guide pos="5586"/>
        <p:guide pos="7333"/>
        <p:guide orient="horz" pos="3952"/>
        <p:guide pos="6471"/>
        <p:guide orient="horz" pos="91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134" d="100"/>
          <a:sy n="134" d="100"/>
        </p:scale>
        <p:origin x="3648" y="1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261BF4-8B2C-784B-9959-B59A059012C3}" type="datetimeFigureOut">
              <a:rPr lang="en-RU" smtClean="0"/>
              <a:t>5/28/26</a:t>
            </a:fld>
            <a:endParaRPr lang="en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748903-8EB5-294E-A216-6B54B0368783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31680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8" descr="A blue circle with white text&#10;&#10;Description automatically generated with low confidence">
            <a:extLst>
              <a:ext uri="{FF2B5EF4-FFF2-40B4-BE49-F238E27FC236}">
                <a16:creationId xmlns:a16="http://schemas.microsoft.com/office/drawing/2014/main" id="{BA292C80-0DA8-194A-9A66-279048FA2A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13859" y="962173"/>
            <a:ext cx="886499" cy="886499"/>
          </a:xfrm>
          <a:prstGeom prst="rect">
            <a:avLst/>
          </a:prstGeom>
        </p:spPr>
      </p:pic>
      <p:cxnSp>
        <p:nvCxnSpPr>
          <p:cNvPr id="11" name="Straight Connector 48">
            <a:extLst>
              <a:ext uri="{FF2B5EF4-FFF2-40B4-BE49-F238E27FC236}">
                <a16:creationId xmlns:a16="http://schemas.microsoft.com/office/drawing/2014/main" id="{313EF906-5BAC-0141-A198-076E155DF9E2}"/>
              </a:ext>
            </a:extLst>
          </p:cNvPr>
          <p:cNvCxnSpPr>
            <a:cxnSpLocks/>
          </p:cNvCxnSpPr>
          <p:nvPr userDrawn="1"/>
        </p:nvCxnSpPr>
        <p:spPr>
          <a:xfrm>
            <a:off x="6090212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50">
            <a:extLst>
              <a:ext uri="{FF2B5EF4-FFF2-40B4-BE49-F238E27FC236}">
                <a16:creationId xmlns:a16="http://schemas.microsoft.com/office/drawing/2014/main" id="{61206A97-26F2-E646-8775-9928FEF465B5}"/>
              </a:ext>
            </a:extLst>
          </p:cNvPr>
          <p:cNvCxnSpPr>
            <a:cxnSpLocks/>
          </p:cNvCxnSpPr>
          <p:nvPr userDrawn="1"/>
        </p:nvCxnSpPr>
        <p:spPr>
          <a:xfrm>
            <a:off x="8642581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51">
            <a:extLst>
              <a:ext uri="{FF2B5EF4-FFF2-40B4-BE49-F238E27FC236}">
                <a16:creationId xmlns:a16="http://schemas.microsoft.com/office/drawing/2014/main" id="{28E0E5F6-C1CA-9B41-B1DB-6E4FB509084D}"/>
              </a:ext>
            </a:extLst>
          </p:cNvPr>
          <p:cNvCxnSpPr>
            <a:cxnSpLocks/>
          </p:cNvCxnSpPr>
          <p:nvPr userDrawn="1"/>
        </p:nvCxnSpPr>
        <p:spPr>
          <a:xfrm>
            <a:off x="11179047" y="985336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Заголовок 15">
            <a:extLst>
              <a:ext uri="{FF2B5EF4-FFF2-40B4-BE49-F238E27FC236}">
                <a16:creationId xmlns:a16="http://schemas.microsoft.com/office/drawing/2014/main" id="{6007C52F-2E27-E24A-B9DC-AAAB052DBD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7967" y="2404670"/>
            <a:ext cx="7634059" cy="1978323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4300" b="0" i="0" baseline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презентации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может быть набрано в две </a:t>
            </a:r>
            <a:b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4400" dirty="0">
                <a:solidFill>
                  <a:srgbClr val="102D69"/>
                </a:solidFill>
                <a:latin typeface="HSE Sans" panose="02000000000000000000" pitchFamily="2" charset="0"/>
              </a:rPr>
              <a:t>или три строки (43 </a:t>
            </a:r>
            <a:r>
              <a:rPr lang="en-GB" sz="4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4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4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18109844-C2E7-354F-9C01-8834E4DCE3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74947" y="1187841"/>
            <a:ext cx="3848717" cy="435163"/>
          </a:xfrm>
        </p:spPr>
        <p:txBody>
          <a:bodyPr lIns="0" tIns="0" r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 b="0" i="0">
                <a:latin typeface="HSE Sans" panose="02000000000000000000" pitchFamily="2" charset="0"/>
              </a:defRPr>
            </a:lvl1pPr>
            <a:lvl2pPr marL="457200" indent="0" algn="l">
              <a:buNone/>
              <a:defRPr sz="1600" b="0" i="0">
                <a:latin typeface="HSE Sans" panose="02000000000000000000" pitchFamily="2" charset="0"/>
              </a:defRPr>
            </a:lvl2pPr>
            <a:lvl3pPr marL="914400" indent="0" algn="l">
              <a:buNone/>
              <a:defRPr sz="1600" b="0" i="0">
                <a:latin typeface="HSE Sans" panose="02000000000000000000" pitchFamily="2" charset="0"/>
              </a:defRPr>
            </a:lvl3pPr>
            <a:lvl4pPr marL="1371600" indent="0" algn="l">
              <a:buNone/>
              <a:defRPr sz="1600" b="0" i="0">
                <a:latin typeface="HSE Sans" panose="02000000000000000000" pitchFamily="2" charset="0"/>
              </a:defRPr>
            </a:lvl4pPr>
            <a:lvl5pPr marL="1828800" indent="0" algn="l">
              <a:buNone/>
              <a:defRPr sz="1600" b="0" i="0">
                <a:latin typeface="HSE Sans" panose="02000000000000000000" pitchFamily="2" charset="0"/>
              </a:defRPr>
            </a:lvl5pPr>
          </a:lstStyle>
          <a:p>
            <a:r>
              <a:rPr lang="ru-RU" dirty="0">
                <a:latin typeface="HSE Sans" panose="02000000000000000000" pitchFamily="2" charset="0"/>
              </a:rPr>
              <a:t>Название факультета</a:t>
            </a:r>
            <a:br>
              <a:rPr lang="ru-RU" dirty="0">
                <a:latin typeface="HSE Sans" panose="02000000000000000000" pitchFamily="2" charset="0"/>
              </a:rPr>
            </a:br>
            <a:r>
              <a:rPr lang="ru-RU" dirty="0">
                <a:latin typeface="HSE Sans" panose="02000000000000000000" pitchFamily="2" charset="0"/>
              </a:rPr>
              <a:t>в две строки</a:t>
            </a:r>
            <a:r>
              <a:rPr lang="en-GB" dirty="0">
                <a:latin typeface="HSE Sans" panose="02000000000000000000" pitchFamily="2" charset="0"/>
              </a:rPr>
              <a:t> (16 </a:t>
            </a:r>
            <a:r>
              <a:rPr lang="en-GB" dirty="0" err="1">
                <a:latin typeface="HSE Sans" panose="02000000000000000000" pitchFamily="2" charset="0"/>
              </a:rPr>
              <a:t>pt</a:t>
            </a:r>
            <a:r>
              <a:rPr lang="en-GB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5" name="Текст 24">
            <a:extLst>
              <a:ext uri="{FF2B5EF4-FFF2-40B4-BE49-F238E27FC236}">
                <a16:creationId xmlns:a16="http://schemas.microsoft.com/office/drawing/2014/main" id="{40A04329-C800-BB42-BFE0-7E3C68848D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59420" y="1173829"/>
            <a:ext cx="2278063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7" name="Текст 26">
            <a:extLst>
              <a:ext uri="{FF2B5EF4-FFF2-40B4-BE49-F238E27FC236}">
                <a16:creationId xmlns:a16="http://schemas.microsoft.com/office/drawing/2014/main" id="{98337931-3EC2-F348-99EA-860F4FFDC188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8786720" y="1173829"/>
            <a:ext cx="2217738" cy="463186"/>
          </a:xfrm>
        </p:spPr>
        <p:txBody>
          <a:bodyPr lIns="0" tIns="0" rIns="0" bIns="0" anchor="t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200" dirty="0">
                <a:latin typeface="HSE Sans" panose="02000000000000000000" pitchFamily="2" charset="0"/>
              </a:rPr>
              <a:t>Москва</a:t>
            </a:r>
            <a:br>
              <a:rPr lang="ru-RU" sz="1200" dirty="0">
                <a:latin typeface="HSE Sans" panose="02000000000000000000" pitchFamily="2" charset="0"/>
              </a:rPr>
            </a:br>
            <a:r>
              <a:rPr lang="ru-RU" sz="1200" dirty="0">
                <a:latin typeface="HSE Sans" panose="02000000000000000000" pitchFamily="2" charset="0"/>
              </a:rPr>
              <a:t>2022</a:t>
            </a:r>
            <a:r>
              <a:rPr lang="en-GB" sz="1200" dirty="0">
                <a:latin typeface="HSE Sans" panose="02000000000000000000" pitchFamily="2" charset="0"/>
              </a:rPr>
              <a:t> (12pt)</a:t>
            </a:r>
            <a:endParaRPr lang="ru-RU" sz="1200" dirty="0">
              <a:latin typeface="HSE Sans" panose="02000000000000000000" pitchFamily="2" charset="0"/>
            </a:endParaRPr>
          </a:p>
        </p:txBody>
      </p:sp>
      <p:sp>
        <p:nvSpPr>
          <p:cNvPr id="29" name="Текст 28">
            <a:extLst>
              <a:ext uri="{FF2B5EF4-FFF2-40B4-BE49-F238E27FC236}">
                <a16:creationId xmlns:a16="http://schemas.microsoft.com/office/drawing/2014/main" id="{EEA7A79B-D410-B44F-BF32-C3EAEFC20A6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27967" y="4824914"/>
            <a:ext cx="7625267" cy="652860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HSE Sans" panose="02000000000000000000" pitchFamily="2" charset="0"/>
              </a:rPr>
              <a:t>Если нужно больше места, то используйте подзаголовок</a:t>
            </a:r>
            <a:r>
              <a:rPr lang="en-GB" sz="1600" dirty="0">
                <a:latin typeface="HSE Sans" panose="02000000000000000000" pitchFamily="2" charset="0"/>
              </a:rPr>
              <a:t> (16 </a:t>
            </a:r>
            <a:r>
              <a:rPr lang="en-GB" sz="1600" dirty="0" err="1">
                <a:latin typeface="HSE Sans" panose="02000000000000000000" pitchFamily="2" charset="0"/>
              </a:rPr>
              <a:t>pt</a:t>
            </a:r>
            <a:r>
              <a:rPr lang="en-GB" sz="1600" dirty="0">
                <a:latin typeface="HSE Sans" panose="02000000000000000000" pitchFamily="2" charset="0"/>
              </a:rPr>
              <a:t>)</a:t>
            </a:r>
            <a:endParaRPr lang="ru-RU" sz="16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959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4" descr="Icon&#10;&#10;Description automatically generated">
            <a:extLst>
              <a:ext uri="{FF2B5EF4-FFF2-40B4-BE49-F238E27FC236}">
                <a16:creationId xmlns:a16="http://schemas.microsoft.com/office/drawing/2014/main" id="{4A1436AC-5F96-2A4F-BFC7-B3442083EB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11" name="Straight Connector 19">
            <a:extLst>
              <a:ext uri="{FF2B5EF4-FFF2-40B4-BE49-F238E27FC236}">
                <a16:creationId xmlns:a16="http://schemas.microsoft.com/office/drawing/2014/main" id="{067DD2ED-246D-7D41-B51F-FED98BF873F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1">
            <a:extLst>
              <a:ext uri="{FF2B5EF4-FFF2-40B4-BE49-F238E27FC236}">
                <a16:creationId xmlns:a16="http://schemas.microsoft.com/office/drawing/2014/main" id="{68E8C250-D449-A743-8975-B5BFB04D9744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25">
            <a:extLst>
              <a:ext uri="{FF2B5EF4-FFF2-40B4-BE49-F238E27FC236}">
                <a16:creationId xmlns:a16="http://schemas.microsoft.com/office/drawing/2014/main" id="{DD1C71CA-B883-AF42-959D-BCA5690AAA4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D3A12E-0E10-C441-81D2-C3C1EB6A053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9" name="Straight Connector 59">
            <a:extLst>
              <a:ext uri="{FF2B5EF4-FFF2-40B4-BE49-F238E27FC236}">
                <a16:creationId xmlns:a16="http://schemas.microsoft.com/office/drawing/2014/main" id="{3447008E-4F3B-FC4E-B96D-3927FAE1ED1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Рисунок 23">
            <a:extLst>
              <a:ext uri="{FF2B5EF4-FFF2-40B4-BE49-F238E27FC236}">
                <a16:creationId xmlns:a16="http://schemas.microsoft.com/office/drawing/2014/main" id="{61115A7A-23E5-E442-9551-F72F1CDA57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684653" y="1447790"/>
            <a:ext cx="4325167" cy="4325107"/>
          </a:xfrm>
          <a:solidFill>
            <a:srgbClr val="D9D9D9"/>
          </a:solidFill>
        </p:spPr>
        <p:txBody>
          <a:bodyPr anchor="ctr"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200">
                <a:solidFill>
                  <a:schemeClr val="bg2">
                    <a:lumMod val="1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2800" dirty="0">
                <a:solidFill>
                  <a:schemeClr val="tx1"/>
                </a:solidFill>
                <a:latin typeface="HSE Sans" panose="02000000000000000000" pitchFamily="2" charset="0"/>
              </a:rPr>
              <a:t>Чтобы слайд не выглядел пустым, сюда можно поставить иллюстрацию или фотографию</a:t>
            </a:r>
            <a:endParaRPr lang="en-RU" sz="2800">
              <a:solidFill>
                <a:schemeClr val="tx1"/>
              </a:solidFill>
              <a:latin typeface="HSE Sans" panose="02000000000000000000" pitchFamily="2" charset="0"/>
            </a:endParaRPr>
          </a:p>
        </p:txBody>
      </p:sp>
      <p:sp>
        <p:nvSpPr>
          <p:cNvPr id="32" name="Заголовок 31">
            <a:extLst>
              <a:ext uri="{FF2B5EF4-FFF2-40B4-BE49-F238E27FC236}">
                <a16:creationId xmlns:a16="http://schemas.microsoft.com/office/drawing/2014/main" id="{9ED7AA97-D972-DF4F-B662-A65F2A544C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8" y="1447790"/>
            <a:ext cx="524556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6" name="Текст 35">
            <a:extLst>
              <a:ext uri="{FF2B5EF4-FFF2-40B4-BE49-F238E27FC236}">
                <a16:creationId xmlns:a16="http://schemas.microsoft.com/office/drawing/2014/main" id="{69E35E54-2B19-7441-876F-1C6A84F4F15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5245561" cy="3393234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38" name="Текст 37">
            <a:extLst>
              <a:ext uri="{FF2B5EF4-FFF2-40B4-BE49-F238E27FC236}">
                <a16:creationId xmlns:a16="http://schemas.microsoft.com/office/drawing/2014/main" id="{7FB4A275-856E-364D-8AA4-2071AADC6A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0" name="Текст 39">
            <a:extLst>
              <a:ext uri="{FF2B5EF4-FFF2-40B4-BE49-F238E27FC236}">
                <a16:creationId xmlns:a16="http://schemas.microsoft.com/office/drawing/2014/main" id="{58FBA0EA-8BE0-A643-B258-4E5C344671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41" name="Текст 39">
            <a:extLst>
              <a:ext uri="{FF2B5EF4-FFF2-40B4-BE49-F238E27FC236}">
                <a16:creationId xmlns:a16="http://schemas.microsoft.com/office/drawing/2014/main" id="{0BEC062F-1BEB-DE4C-B7EE-C552C9D45F1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874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FDC66DB8-29BC-5940-A721-40F10021456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DE27C859-478F-3648-8A9D-2C85DBDCAC0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58EA1144-CFD8-1D47-B430-7014F576043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96EDC73C-5A3C-014E-8E52-04CAFCA9B20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5E88681-53A8-3B45-B80A-372EDFB53883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EDA7D8BF-DF37-704F-B77F-7E40752ACE25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5026DBD8-54A3-1446-9D3B-BA2B38460F1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E8AA3569-5054-7D47-AB14-BCFB0440D0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Заголовок 31">
            <a:extLst>
              <a:ext uri="{FF2B5EF4-FFF2-40B4-BE49-F238E27FC236}">
                <a16:creationId xmlns:a16="http://schemas.microsoft.com/office/drawing/2014/main" id="{76942483-EB13-0A4B-8060-DB65024C2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66FAD63B-F743-0F47-BBE3-D77317667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7" y="2379663"/>
            <a:ext cx="11057971" cy="3745092"/>
          </a:xfrm>
        </p:spPr>
        <p:txBody>
          <a:bodyPr lIns="0" tIns="0" rIns="0" numCol="3" spcCol="25200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300" dirty="0">
                <a:latin typeface="HSE Sans" panose="02000000000000000000" pitchFamily="2" charset="0"/>
              </a:rPr>
              <a:t>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 Если текста много, то рекомендуем набирать его в несколько колонок, две или три. 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</a:t>
            </a:r>
          </a:p>
        </p:txBody>
      </p:sp>
      <p:sp>
        <p:nvSpPr>
          <p:cNvPr id="18" name="Текст 39">
            <a:extLst>
              <a:ext uri="{FF2B5EF4-FFF2-40B4-BE49-F238E27FC236}">
                <a16:creationId xmlns:a16="http://schemas.microsoft.com/office/drawing/2014/main" id="{8A048480-30C9-044E-8C2E-0F67398FEE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718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екст_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0E78CA68-7A0C-CF41-9AC6-A547FB9EC3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45DC512A-A23B-B24D-A1F6-6793976867CF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21F91649-DF0F-5F45-A43B-2CED9ACDD04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3137B760-1A50-1845-B7F2-1EF31C71C72B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5ECCF8F-5855-7943-B503-5573887A534D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FB81B23D-CDD8-E64C-9887-3540F7EE1C4B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C2D710AE-3CBE-5940-A7EB-F96132E659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FCC5A33D-0A3C-F140-B745-367744A5F30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5163BE0A-A745-414A-AF21-D968BD69D2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lvl="0"/>
            <a:r>
              <a:rPr lang="ru-RU" dirty="0"/>
              <a:t>Небольшие куски текста (13</a:t>
            </a:r>
            <a:r>
              <a:rPr lang="en-US" dirty="0" err="1"/>
              <a:t>pt</a:t>
            </a:r>
            <a:r>
              <a:rPr lang="en-US" dirty="0"/>
              <a:t>) </a:t>
            </a:r>
            <a:r>
              <a:rPr lang="ru-RU" dirty="0"/>
              <a:t>можно набирать в одну колонку, но не делайте колонку на всю ширину экрана. Текст, набранный длинной строкой очень трудно читать, подумайте о тех, кто будет читать вашу презентацию. Старайтесь чтобы в строке было в среднем семь — девять слов. Большее количество слов в строке способствует хорошему сну, но не чтению. Если у вас есть свободное пространство и вы считаете, что текст одинок и ему нужна компания, то поставьте рядом небольшое изображение, которое иллюстрирует ваш текст или дополняет его.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B3D47CF6-5FC1-2346-8894-A7CC39063DE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CD14B8F3-89C2-9F45-809E-D1EAF85AC5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9892" y="2379663"/>
            <a:ext cx="5383968" cy="3451794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32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3200" dirty="0">
                <a:solidFill>
                  <a:srgbClr val="102D69"/>
                </a:solidFill>
                <a:latin typeface="HSE Sans" panose="02000000000000000000" pitchFamily="2" charset="0"/>
              </a:rPr>
              <a:t>Небольшую фразу, с важной информацией, можно выделить, набрав ее более крупным кеглем, чем обычный  текст. Делать это часто не рекомендуется.</a:t>
            </a:r>
          </a:p>
          <a:p>
            <a:pPr lvl="0"/>
            <a:endParaRPr lang="ru-RU" dirty="0"/>
          </a:p>
        </p:txBody>
      </p:sp>
      <p:sp>
        <p:nvSpPr>
          <p:cNvPr id="24" name="Текст 39">
            <a:extLst>
              <a:ext uri="{FF2B5EF4-FFF2-40B4-BE49-F238E27FC236}">
                <a16:creationId xmlns:a16="http://schemas.microsoft.com/office/drawing/2014/main" id="{3BE4279A-8109-B244-B721-18F10C696B1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5" name="Заголовок 31">
            <a:extLst>
              <a:ext uri="{FF2B5EF4-FFF2-40B4-BE49-F238E27FC236}">
                <a16:creationId xmlns:a16="http://schemas.microsoft.com/office/drawing/2014/main" id="{B32DC3D4-97A5-3E4F-A29B-422D5E3129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3795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E89D752-CAC6-0943-9A3D-4C52DBF50CE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64D89E64-93BB-044D-B3D4-8F2679C5CA4C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D0C3B169-866D-C645-AF76-00F8C2A97E9B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FDDF48AB-D8AE-0E42-A544-8EA5B8744778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6DF89EC-1E7C-3B40-85F4-6D19A7D29AC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019D6862-BD52-734D-9E19-38C147CA2D2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A9BD5ADD-B3F2-C342-82F7-83683F040D2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4F15CBC0-FC8B-744E-95A7-C9863CDC31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BC3B54AA-A0BD-E646-B3B7-C0E724D26D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B3F16318-C9C3-B948-A508-4BC53D0B771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23B3E5FB-BBCE-4149-AD9A-8CAB06CC9F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658542D3-7E45-6E46-8039-27C4C43DD61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57965DCA-4776-7546-97FD-A69317A34CF2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7113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График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11D7C3EB-CCEB-E142-9753-8B2D75A0A80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527C9F89-51CC-D243-9351-73AB081DB944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F09EE119-6C80-E846-95F9-BB3907664128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C0A681B-44BF-6A46-98D8-483EF13B9114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5A5D7C-EB12-9D4D-A99A-4B26C81B738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D4C3D74D-BE91-9547-ADCA-ACCE93C18789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3E0AB43B-5E98-6042-A282-C61E0C5A37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7388A8DF-D130-5445-A3F8-F96E1202BA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02CBC466-1703-7541-94E4-AC76F4E6D93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5812BF3C-1D24-3640-84D2-BFFCA525AE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5897" y="5183249"/>
            <a:ext cx="3934345" cy="553998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Примечания, или любая другая пояснительная или дополнительная информация набираются шрифтом размером 10 </a:t>
            </a:r>
            <a:r>
              <a:rPr lang="en-GB" sz="1000" dirty="0" err="1">
                <a:latin typeface="HSE Sans" panose="02000000000000000000" pitchFamily="2" charset="0"/>
              </a:rPr>
              <a:t>pt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21" name="Диаграмма 7">
            <a:extLst>
              <a:ext uri="{FF2B5EF4-FFF2-40B4-BE49-F238E27FC236}">
                <a16:creationId xmlns:a16="http://schemas.microsoft.com/office/drawing/2014/main" id="{BCBBDD44-9DC9-F74E-979F-120A7BBD4EE1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272097" y="1447790"/>
            <a:ext cx="6371768" cy="4289457"/>
          </a:xfrm>
        </p:spPr>
        <p:txBody>
          <a:bodyPr/>
          <a:lstStyle/>
          <a:p>
            <a:endParaRPr lang="ru-RU"/>
          </a:p>
        </p:txBody>
      </p:sp>
      <p:sp>
        <p:nvSpPr>
          <p:cNvPr id="23" name="Текст 22">
            <a:extLst>
              <a:ext uri="{FF2B5EF4-FFF2-40B4-BE49-F238E27FC236}">
                <a16:creationId xmlns:a16="http://schemas.microsoft.com/office/drawing/2014/main" id="{7C68DF7B-E804-E44B-83DF-5DC36AF76F4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8" y="1447064"/>
            <a:ext cx="4322762" cy="703205"/>
          </a:xfrm>
        </p:spPr>
        <p:txBody>
          <a:bodyPr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графика. Обратите внимание, что название графика набирается меньшим кеглем, чем заголовок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 (16pt)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8" name="Текст 35">
            <a:extLst>
              <a:ext uri="{FF2B5EF4-FFF2-40B4-BE49-F238E27FC236}">
                <a16:creationId xmlns:a16="http://schemas.microsoft.com/office/drawing/2014/main" id="{89E931D8-2901-A54D-86EA-096E47B8188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4889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ифры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Icon&#10;&#10;Description automatically generated">
            <a:extLst>
              <a:ext uri="{FF2B5EF4-FFF2-40B4-BE49-F238E27FC236}">
                <a16:creationId xmlns:a16="http://schemas.microsoft.com/office/drawing/2014/main" id="{E9A64721-E55E-8749-B29E-51DD895593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7" name="Straight Connector 19">
            <a:extLst>
              <a:ext uri="{FF2B5EF4-FFF2-40B4-BE49-F238E27FC236}">
                <a16:creationId xmlns:a16="http://schemas.microsoft.com/office/drawing/2014/main" id="{B0C162B7-B84F-874A-960E-31F512518C6E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1">
            <a:extLst>
              <a:ext uri="{FF2B5EF4-FFF2-40B4-BE49-F238E27FC236}">
                <a16:creationId xmlns:a16="http://schemas.microsoft.com/office/drawing/2014/main" id="{1CB321BB-9FE3-294F-85D8-AA7DC75CA4AF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5">
            <a:extLst>
              <a:ext uri="{FF2B5EF4-FFF2-40B4-BE49-F238E27FC236}">
                <a16:creationId xmlns:a16="http://schemas.microsoft.com/office/drawing/2014/main" id="{0A610A45-8712-8A45-AFB3-931CF468EC3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30460EF6-ECAD-8941-8132-1B3E005D6067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1" name="Straight Connector 59">
            <a:extLst>
              <a:ext uri="{FF2B5EF4-FFF2-40B4-BE49-F238E27FC236}">
                <a16:creationId xmlns:a16="http://schemas.microsoft.com/office/drawing/2014/main" id="{41AE56A2-5FAA-FD44-AE1A-338E1E304184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Текст 37">
            <a:extLst>
              <a:ext uri="{FF2B5EF4-FFF2-40B4-BE49-F238E27FC236}">
                <a16:creationId xmlns:a16="http://schemas.microsoft.com/office/drawing/2014/main" id="{D9986185-6D5E-FD48-A5CA-AF2D5B58A3E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3" name="Текст 39">
            <a:extLst>
              <a:ext uri="{FF2B5EF4-FFF2-40B4-BE49-F238E27FC236}">
                <a16:creationId xmlns:a16="http://schemas.microsoft.com/office/drawing/2014/main" id="{5DBFD327-E3A8-944A-AABF-7D813AD0F1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D206FCE0-05C3-2C45-A7D6-1FC287C017B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Заголовок 31">
            <a:extLst>
              <a:ext uri="{FF2B5EF4-FFF2-40B4-BE49-F238E27FC236}">
                <a16:creationId xmlns:a16="http://schemas.microsoft.com/office/drawing/2014/main" id="{3B28B62E-5EE9-834C-9BB6-BD66079B81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7" y="1447790"/>
            <a:ext cx="11057955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Заголовок может быть набран в две или три строки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 (24 </a:t>
            </a:r>
            <a:r>
              <a:rPr lang="en-GB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24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24" name="Текст 35">
            <a:extLst>
              <a:ext uri="{FF2B5EF4-FFF2-40B4-BE49-F238E27FC236}">
                <a16:creationId xmlns:a16="http://schemas.microsoft.com/office/drawing/2014/main" id="{621215DE-C1FD-2B4C-B236-AF679CF906B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5076" y="4103994"/>
            <a:ext cx="2758143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5" name="Текст 35">
            <a:extLst>
              <a:ext uri="{FF2B5EF4-FFF2-40B4-BE49-F238E27FC236}">
                <a16:creationId xmlns:a16="http://schemas.microsoft.com/office/drawing/2014/main" id="{8BC2F90D-0CE0-574C-A7C1-EAA3E6F1AB5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47007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6" name="Текст 35">
            <a:extLst>
              <a:ext uri="{FF2B5EF4-FFF2-40B4-BE49-F238E27FC236}">
                <a16:creationId xmlns:a16="http://schemas.microsoft.com/office/drawing/2014/main" id="{239E188B-2696-8A48-9F8A-36223EEF61E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18938" y="4103994"/>
            <a:ext cx="2757612" cy="156966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Если у вас мало данных, то не переживайте. Сделайте несколько крупных цифр и аккуратные подписи к ним, это позволит подать информацию красиво и аккуратно.</a:t>
            </a:r>
          </a:p>
        </p:txBody>
      </p:sp>
      <p:sp>
        <p:nvSpPr>
          <p:cNvPr id="28" name="Текст 27">
            <a:extLst>
              <a:ext uri="{FF2B5EF4-FFF2-40B4-BE49-F238E27FC236}">
                <a16:creationId xmlns:a16="http://schemas.microsoft.com/office/drawing/2014/main" id="{379BF4C6-F899-294C-B88E-8363AFBEEC2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75076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152</a:t>
            </a:r>
            <a:endParaRPr lang="ru-RU" dirty="0"/>
          </a:p>
        </p:txBody>
      </p:sp>
      <p:sp>
        <p:nvSpPr>
          <p:cNvPr id="29" name="Текст 27">
            <a:extLst>
              <a:ext uri="{FF2B5EF4-FFF2-40B4-BE49-F238E27FC236}">
                <a16:creationId xmlns:a16="http://schemas.microsoft.com/office/drawing/2014/main" id="{DE7F352B-F6D9-B545-A835-443A55956E7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047007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95</a:t>
            </a:r>
            <a:endParaRPr lang="ru-RU" dirty="0"/>
          </a:p>
        </p:txBody>
      </p:sp>
      <p:sp>
        <p:nvSpPr>
          <p:cNvPr id="30" name="Текст 27">
            <a:extLst>
              <a:ext uri="{FF2B5EF4-FFF2-40B4-BE49-F238E27FC236}">
                <a16:creationId xmlns:a16="http://schemas.microsoft.com/office/drawing/2014/main" id="{D1D5AF9F-C1B0-7842-8789-1DB8963D981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518938" y="2710235"/>
            <a:ext cx="2758143" cy="116411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9600">
                <a:latin typeface="HSE Sans" panose="02000000000000000000" pitchFamily="2" charset="0"/>
              </a:defRPr>
            </a:lvl1pPr>
            <a:lvl2pPr>
              <a:defRPr sz="9600">
                <a:latin typeface="HSE Sans" panose="02000000000000000000" pitchFamily="2" charset="0"/>
              </a:defRPr>
            </a:lvl2pPr>
            <a:lvl3pPr>
              <a:defRPr sz="9600">
                <a:latin typeface="HSE Sans" panose="02000000000000000000" pitchFamily="2" charset="0"/>
              </a:defRPr>
            </a:lvl3pPr>
            <a:lvl4pPr>
              <a:defRPr sz="9600">
                <a:latin typeface="HSE Sans" panose="02000000000000000000" pitchFamily="2" charset="0"/>
              </a:defRPr>
            </a:lvl4pPr>
            <a:lvl5pPr>
              <a:defRPr sz="9600">
                <a:latin typeface="HSE Sans" panose="02000000000000000000" pitchFamily="2" charset="0"/>
              </a:defRPr>
            </a:lvl5pPr>
          </a:lstStyle>
          <a:p>
            <a:pPr lvl="0"/>
            <a:r>
              <a:rPr lang="ru-RU" sz="9600" dirty="0">
                <a:solidFill>
                  <a:srgbClr val="102D69"/>
                </a:solidFill>
                <a:latin typeface="HSE Sans" panose="02000000000000000000" pitchFamily="2" charset="0"/>
              </a:rPr>
              <a:t>284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57052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Icon&#10;&#10;Description automatically generated">
            <a:extLst>
              <a:ext uri="{FF2B5EF4-FFF2-40B4-BE49-F238E27FC236}">
                <a16:creationId xmlns:a16="http://schemas.microsoft.com/office/drawing/2014/main" id="{C5425806-16DD-844E-927C-26E7143A9ED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6" name="Straight Connector 19">
            <a:extLst>
              <a:ext uri="{FF2B5EF4-FFF2-40B4-BE49-F238E27FC236}">
                <a16:creationId xmlns:a16="http://schemas.microsoft.com/office/drawing/2014/main" id="{479746FF-3282-DF46-9D7C-D80431604A55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21">
            <a:extLst>
              <a:ext uri="{FF2B5EF4-FFF2-40B4-BE49-F238E27FC236}">
                <a16:creationId xmlns:a16="http://schemas.microsoft.com/office/drawing/2014/main" id="{51B44297-B0E7-D74D-B291-D39A0D468B42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25">
            <a:extLst>
              <a:ext uri="{FF2B5EF4-FFF2-40B4-BE49-F238E27FC236}">
                <a16:creationId xmlns:a16="http://schemas.microsoft.com/office/drawing/2014/main" id="{0EA4A057-F0CB-E04F-B472-4A1ABFB64C66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764502F5-56EE-354B-A3B1-E79F8B00517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0" name="Straight Connector 59">
            <a:extLst>
              <a:ext uri="{FF2B5EF4-FFF2-40B4-BE49-F238E27FC236}">
                <a16:creationId xmlns:a16="http://schemas.microsoft.com/office/drawing/2014/main" id="{A80E0956-5C10-CC40-A426-CBD2E0C4158E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Текст 37">
            <a:extLst>
              <a:ext uri="{FF2B5EF4-FFF2-40B4-BE49-F238E27FC236}">
                <a16:creationId xmlns:a16="http://schemas.microsoft.com/office/drawing/2014/main" id="{6EC59AAD-5962-8D49-BF4D-7DA5D57307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2" name="Текст 39">
            <a:extLst>
              <a:ext uri="{FF2B5EF4-FFF2-40B4-BE49-F238E27FC236}">
                <a16:creationId xmlns:a16="http://schemas.microsoft.com/office/drawing/2014/main" id="{49041ACC-EEF4-D34B-A7DE-87B1AF2ED38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BF93B2CC-81A4-0943-AF6C-C865767929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22">
            <a:extLst>
              <a:ext uri="{FF2B5EF4-FFF2-40B4-BE49-F238E27FC236}">
                <a16:creationId xmlns:a16="http://schemas.microsoft.com/office/drawing/2014/main" id="{51340CB4-0355-3640-A212-F684523CDC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5"/>
            <a:ext cx="11058065" cy="30777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8C6F2EA4-CEDC-324C-9C06-8713118041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19" name="Таблица 18">
            <a:extLst>
              <a:ext uri="{FF2B5EF4-FFF2-40B4-BE49-F238E27FC236}">
                <a16:creationId xmlns:a16="http://schemas.microsoft.com/office/drawing/2014/main" id="{7B291085-A9B9-D842-B1A7-96258FAF012C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1984076"/>
            <a:ext cx="11058527" cy="3519576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0160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аблица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259ABC72-D738-1143-BF2A-D85AE9A4F73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237A1E42-2FC3-8841-8C41-992C5BC2368D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47503EA0-3883-E24D-9EB8-7B6175182929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E0144DF2-9891-324D-B34E-AFA025FBCBF9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33F65D6-1072-F140-B6A5-758D7B595A9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5F1F09D4-22FA-7B4B-9488-F8FDDCC2D447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44D0326E-FD7A-3541-A998-62A1C30E27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279CCCA0-F959-5245-8321-106D3C5E83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8B839C6B-8494-8841-9714-4C8F710F84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8" name="Текст 22">
            <a:extLst>
              <a:ext uri="{FF2B5EF4-FFF2-40B4-BE49-F238E27FC236}">
                <a16:creationId xmlns:a16="http://schemas.microsoft.com/office/drawing/2014/main" id="{4D940599-2B77-CE47-91E6-CDB51ADE184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5787" y="1447064"/>
            <a:ext cx="7617877" cy="537011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6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600" dirty="0">
                <a:solidFill>
                  <a:srgbClr val="102D69"/>
                </a:solidFill>
                <a:latin typeface="HSE Sans" panose="02000000000000000000" pitchFamily="2" charset="0"/>
              </a:rPr>
              <a:t>Название таблицы. Обратите внимание, что название графика набирается меньшим кеглем, чем заголовок (16</a:t>
            </a:r>
            <a:r>
              <a:rPr lang="en-GB" sz="1600" dirty="0" err="1">
                <a:solidFill>
                  <a:srgbClr val="102D69"/>
                </a:solidFill>
                <a:latin typeface="HSE Sans" panose="02000000000000000000" pitchFamily="2" charset="0"/>
              </a:rPr>
              <a:t>pt</a:t>
            </a:r>
            <a:r>
              <a:rPr lang="en-GB" sz="1600" dirty="0">
                <a:solidFill>
                  <a:srgbClr val="102D69"/>
                </a:solidFill>
                <a:latin typeface="HSE Sans" panose="02000000000000000000" pitchFamily="2" charset="0"/>
              </a:rPr>
              <a:t>)</a:t>
            </a:r>
            <a:endParaRPr lang="ru-RU" sz="16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19" name="Текст 16">
            <a:extLst>
              <a:ext uri="{FF2B5EF4-FFF2-40B4-BE49-F238E27FC236}">
                <a16:creationId xmlns:a16="http://schemas.microsoft.com/office/drawing/2014/main" id="{A7333712-9DED-4F4B-B209-2F13075EDB3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5788" y="5739189"/>
            <a:ext cx="6824303" cy="703205"/>
          </a:xfrm>
        </p:spPr>
        <p:txBody>
          <a:bodyPr lIns="0" tIns="0" rIns="0" b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300" b="0" dirty="0">
                <a:ln>
                  <a:noFill/>
                </a:ln>
                <a:latin typeface="HSE Sans" panose="02000000000000000000" pitchFamily="2" charset="0"/>
              </a:rPr>
              <a:t>Мы рекомендуем очень аккуратно использовать жирное начертание, старайтесь выделять жирным самое важное. </a:t>
            </a:r>
            <a:r>
              <a:rPr lang="ru-RU" sz="1300" dirty="0">
                <a:latin typeface="HSE Sans" panose="02000000000000000000" pitchFamily="2" charset="0"/>
              </a:rPr>
              <a:t>Также старайтесь не использовать выделение жирным начертанием вместе с заливкой ячеек каким-либо цветом, достаточно и одного акцента.</a:t>
            </a:r>
            <a:endParaRPr lang="en-RU" sz="1300" b="0">
              <a:ln>
                <a:noFill/>
              </a:ln>
              <a:latin typeface="HSE Sans" panose="02000000000000000000" pitchFamily="2" charset="0"/>
            </a:endParaRPr>
          </a:p>
        </p:txBody>
      </p:sp>
      <p:sp>
        <p:nvSpPr>
          <p:cNvPr id="20" name="Таблица 18">
            <a:extLst>
              <a:ext uri="{FF2B5EF4-FFF2-40B4-BE49-F238E27FC236}">
                <a16:creationId xmlns:a16="http://schemas.microsoft.com/office/drawing/2014/main" id="{DD467C42-8209-B740-8419-DBB6A6F7D5EE}"/>
              </a:ext>
            </a:extLst>
          </p:cNvPr>
          <p:cNvSpPr>
            <a:spLocks noGrp="1"/>
          </p:cNvSpPr>
          <p:nvPr>
            <p:ph type="tbl" sz="quarter" idx="19"/>
          </p:nvPr>
        </p:nvSpPr>
        <p:spPr>
          <a:xfrm>
            <a:off x="585787" y="2208362"/>
            <a:ext cx="7617895" cy="329529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35">
            <a:extLst>
              <a:ext uri="{FF2B5EF4-FFF2-40B4-BE49-F238E27FC236}">
                <a16:creationId xmlns:a16="http://schemas.microsoft.com/office/drawing/2014/main" id="{B4309850-76EA-224C-A9E2-B6BBDBF99D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686807" y="2208363"/>
            <a:ext cx="2930666" cy="2570672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en-GB" sz="1300" dirty="0">
                <a:latin typeface="HSE Sans" panose="02000000000000000000" pitchFamily="2" charset="0"/>
              </a:rPr>
              <a:t>Lorem ipsum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sit </a:t>
            </a:r>
            <a:r>
              <a:rPr lang="en-GB" sz="1300" dirty="0" err="1">
                <a:latin typeface="HSE Sans" panose="02000000000000000000" pitchFamily="2" charset="0"/>
              </a:rPr>
              <a:t>amet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consectetur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adipiscing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elit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sed</a:t>
            </a:r>
            <a:r>
              <a:rPr lang="en-GB" sz="1300" dirty="0">
                <a:latin typeface="HSE Sans" panose="02000000000000000000" pitchFamily="2" charset="0"/>
              </a:rPr>
              <a:t> do </a:t>
            </a:r>
            <a:r>
              <a:rPr lang="en-GB" sz="1300" dirty="0" err="1">
                <a:latin typeface="HSE Sans" panose="02000000000000000000" pitchFamily="2" charset="0"/>
              </a:rPr>
              <a:t>eiusmod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tempor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incididunt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labore</a:t>
            </a:r>
            <a:r>
              <a:rPr lang="en-GB" sz="1300" dirty="0">
                <a:latin typeface="HSE Sans" panose="02000000000000000000" pitchFamily="2" charset="0"/>
              </a:rPr>
              <a:t> et dolore magna </a:t>
            </a:r>
            <a:r>
              <a:rPr lang="en-GB" sz="1300" dirty="0" err="1">
                <a:latin typeface="HSE Sans" panose="02000000000000000000" pitchFamily="2" charset="0"/>
              </a:rPr>
              <a:t>aliqua</a:t>
            </a:r>
            <a:r>
              <a:rPr lang="en-GB" sz="1300" dirty="0">
                <a:latin typeface="HSE Sans" panose="02000000000000000000" pitchFamily="2" charset="0"/>
              </a:rPr>
              <a:t>. Ut </a:t>
            </a:r>
            <a:r>
              <a:rPr lang="en-GB" sz="1300" dirty="0" err="1">
                <a:latin typeface="HSE Sans" panose="02000000000000000000" pitchFamily="2" charset="0"/>
              </a:rPr>
              <a:t>enim</a:t>
            </a:r>
            <a:r>
              <a:rPr lang="en-GB" sz="1300" dirty="0">
                <a:latin typeface="HSE Sans" panose="02000000000000000000" pitchFamily="2" charset="0"/>
              </a:rPr>
              <a:t> ad minim </a:t>
            </a:r>
            <a:r>
              <a:rPr lang="en-GB" sz="1300" dirty="0" err="1">
                <a:latin typeface="HSE Sans" panose="02000000000000000000" pitchFamily="2" charset="0"/>
              </a:rPr>
              <a:t>veniam</a:t>
            </a:r>
            <a:r>
              <a:rPr lang="en-GB" sz="1300" dirty="0">
                <a:latin typeface="HSE Sans" panose="02000000000000000000" pitchFamily="2" charset="0"/>
              </a:rPr>
              <a:t>, </a:t>
            </a:r>
            <a:r>
              <a:rPr lang="en-GB" sz="1300" dirty="0" err="1">
                <a:latin typeface="HSE Sans" panose="02000000000000000000" pitchFamily="2" charset="0"/>
              </a:rPr>
              <a:t>quis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nostrud</a:t>
            </a:r>
            <a:r>
              <a:rPr lang="en-GB" sz="1300" dirty="0">
                <a:latin typeface="HSE Sans" panose="02000000000000000000" pitchFamily="2" charset="0"/>
              </a:rPr>
              <a:t> exercitation </a:t>
            </a:r>
            <a:r>
              <a:rPr lang="en-GB" sz="1300" dirty="0" err="1">
                <a:latin typeface="HSE Sans" panose="02000000000000000000" pitchFamily="2" charset="0"/>
              </a:rPr>
              <a:t>ullamco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laboris</a:t>
            </a:r>
            <a:r>
              <a:rPr lang="en-GB" sz="1300" dirty="0">
                <a:latin typeface="HSE Sans" panose="02000000000000000000" pitchFamily="2" charset="0"/>
              </a:rPr>
              <a:t> nisi </a:t>
            </a:r>
            <a:r>
              <a:rPr lang="en-GB" sz="1300" dirty="0" err="1">
                <a:latin typeface="HSE Sans" panose="02000000000000000000" pitchFamily="2" charset="0"/>
              </a:rPr>
              <a:t>ut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aliquip</a:t>
            </a:r>
            <a:r>
              <a:rPr lang="en-GB" sz="1300" dirty="0">
                <a:latin typeface="HSE Sans" panose="02000000000000000000" pitchFamily="2" charset="0"/>
              </a:rPr>
              <a:t> ex </a:t>
            </a:r>
            <a:r>
              <a:rPr lang="en-GB" sz="1300" dirty="0" err="1">
                <a:latin typeface="HSE Sans" panose="02000000000000000000" pitchFamily="2" charset="0"/>
              </a:rPr>
              <a:t>ea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commodo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consequat</a:t>
            </a:r>
            <a:r>
              <a:rPr lang="en-GB" sz="1300" dirty="0">
                <a:latin typeface="HSE Sans" panose="02000000000000000000" pitchFamily="2" charset="0"/>
              </a:rPr>
              <a:t>. Duis </a:t>
            </a:r>
            <a:r>
              <a:rPr lang="en-GB" sz="1300" dirty="0" err="1">
                <a:latin typeface="HSE Sans" panose="02000000000000000000" pitchFamily="2" charset="0"/>
              </a:rPr>
              <a:t>aute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irure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dolor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reprehenderit</a:t>
            </a:r>
            <a:r>
              <a:rPr lang="en-GB" sz="1300" dirty="0">
                <a:latin typeface="HSE Sans" panose="02000000000000000000" pitchFamily="2" charset="0"/>
              </a:rPr>
              <a:t> in </a:t>
            </a:r>
            <a:r>
              <a:rPr lang="en-GB" sz="1300" dirty="0" err="1">
                <a:latin typeface="HSE Sans" panose="02000000000000000000" pitchFamily="2" charset="0"/>
              </a:rPr>
              <a:t>voluptate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velit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esse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cillum</a:t>
            </a:r>
            <a:r>
              <a:rPr lang="en-GB" sz="1300" dirty="0">
                <a:latin typeface="HSE Sans" panose="02000000000000000000" pitchFamily="2" charset="0"/>
              </a:rPr>
              <a:t> dolore </a:t>
            </a:r>
            <a:r>
              <a:rPr lang="en-GB" sz="1300" dirty="0" err="1">
                <a:latin typeface="HSE Sans" panose="02000000000000000000" pitchFamily="2" charset="0"/>
              </a:rPr>
              <a:t>eu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fugiat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nulla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pariatur</a:t>
            </a:r>
            <a:r>
              <a:rPr lang="en-GB" sz="1300" dirty="0">
                <a:latin typeface="HSE Sans" panose="02000000000000000000" pitchFamily="2" charset="0"/>
              </a:rPr>
              <a:t>. </a:t>
            </a:r>
            <a:r>
              <a:rPr lang="en-GB" sz="1300" dirty="0" err="1">
                <a:latin typeface="HSE Sans" panose="02000000000000000000" pitchFamily="2" charset="0"/>
              </a:rPr>
              <a:t>Excepteur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sint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occaecat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cupidatat</a:t>
            </a:r>
            <a:r>
              <a:rPr lang="en-GB" sz="1300" dirty="0">
                <a:latin typeface="HSE Sans" panose="02000000000000000000" pitchFamily="2" charset="0"/>
              </a:rPr>
              <a:t> non </a:t>
            </a:r>
            <a:r>
              <a:rPr lang="en-GB" sz="1300" dirty="0" err="1">
                <a:latin typeface="HSE Sans" panose="02000000000000000000" pitchFamily="2" charset="0"/>
              </a:rPr>
              <a:t>proident</a:t>
            </a:r>
            <a:r>
              <a:rPr lang="en-GB" sz="1300" dirty="0">
                <a:latin typeface="HSE Sans" panose="02000000000000000000" pitchFamily="2" charset="0"/>
              </a:rPr>
              <a:t>, sunt in culpa qui </a:t>
            </a:r>
            <a:r>
              <a:rPr lang="en-GB" sz="1300" dirty="0" err="1">
                <a:latin typeface="HSE Sans" panose="02000000000000000000" pitchFamily="2" charset="0"/>
              </a:rPr>
              <a:t>officia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deserunt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mollit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anim</a:t>
            </a:r>
            <a:r>
              <a:rPr lang="en-GB" sz="1300" dirty="0">
                <a:latin typeface="HSE Sans" panose="02000000000000000000" pitchFamily="2" charset="0"/>
              </a:rPr>
              <a:t> id </a:t>
            </a:r>
            <a:r>
              <a:rPr lang="en-GB" sz="1300" dirty="0" err="1">
                <a:latin typeface="HSE Sans" panose="02000000000000000000" pitchFamily="2" charset="0"/>
              </a:rPr>
              <a:t>est</a:t>
            </a:r>
            <a:r>
              <a:rPr lang="en-GB" sz="1300" dirty="0">
                <a:latin typeface="HSE Sans" panose="02000000000000000000" pitchFamily="2" charset="0"/>
              </a:rPr>
              <a:t> </a:t>
            </a:r>
            <a:r>
              <a:rPr lang="en-GB" sz="1300" dirty="0" err="1">
                <a:latin typeface="HSE Sans" panose="02000000000000000000" pitchFamily="2" charset="0"/>
              </a:rPr>
              <a:t>laborum</a:t>
            </a:r>
            <a:r>
              <a:rPr lang="en-GB" sz="1300" dirty="0">
                <a:latin typeface="HSE Sans" panose="02000000000000000000" pitchFamily="2" charset="0"/>
              </a:rPr>
              <a:t>.</a:t>
            </a:r>
            <a:endParaRPr lang="ru-RU" sz="13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677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Icon&#10;&#10;Description automatically generated">
            <a:extLst>
              <a:ext uri="{FF2B5EF4-FFF2-40B4-BE49-F238E27FC236}">
                <a16:creationId xmlns:a16="http://schemas.microsoft.com/office/drawing/2014/main" id="{9328428E-0D3D-6E4B-BAC0-3F63BAF7DB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8" name="Straight Connector 19">
            <a:extLst>
              <a:ext uri="{FF2B5EF4-FFF2-40B4-BE49-F238E27FC236}">
                <a16:creationId xmlns:a16="http://schemas.microsoft.com/office/drawing/2014/main" id="{86CF47C6-D972-9E44-A717-6848F3489399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21">
            <a:extLst>
              <a:ext uri="{FF2B5EF4-FFF2-40B4-BE49-F238E27FC236}">
                <a16:creationId xmlns:a16="http://schemas.microsoft.com/office/drawing/2014/main" id="{412FEF63-77C0-7C4A-B9BE-4BC0EEEEB78C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5">
            <a:extLst>
              <a:ext uri="{FF2B5EF4-FFF2-40B4-BE49-F238E27FC236}">
                <a16:creationId xmlns:a16="http://schemas.microsoft.com/office/drawing/2014/main" id="{C4F550E9-E979-284D-B65F-44E092DD9D02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A39D099-B515-F343-BF7A-A95468DA3860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2" name="Straight Connector 59">
            <a:extLst>
              <a:ext uri="{FF2B5EF4-FFF2-40B4-BE49-F238E27FC236}">
                <a16:creationId xmlns:a16="http://schemas.microsoft.com/office/drawing/2014/main" id="{396B1F99-9711-C64F-A7C9-4F1D89E7F11D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Текст 37">
            <a:extLst>
              <a:ext uri="{FF2B5EF4-FFF2-40B4-BE49-F238E27FC236}">
                <a16:creationId xmlns:a16="http://schemas.microsoft.com/office/drawing/2014/main" id="{9C21DFE9-C3B2-C54E-9275-7776355F73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4" name="Текст 39">
            <a:extLst>
              <a:ext uri="{FF2B5EF4-FFF2-40B4-BE49-F238E27FC236}">
                <a16:creationId xmlns:a16="http://schemas.microsoft.com/office/drawing/2014/main" id="{5A73F99D-6D58-724E-ADB3-150D9B24F8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6" name="Текст 39">
            <a:extLst>
              <a:ext uri="{FF2B5EF4-FFF2-40B4-BE49-F238E27FC236}">
                <a16:creationId xmlns:a16="http://schemas.microsoft.com/office/drawing/2014/main" id="{7E89E360-BE39-5041-BAD6-C7B708340AA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9" name="Заголовок 31">
            <a:extLst>
              <a:ext uri="{FF2B5EF4-FFF2-40B4-BE49-F238E27FC236}">
                <a16:creationId xmlns:a16="http://schemas.microsoft.com/office/drawing/2014/main" id="{1C20890C-BC1C-0745-9AF3-46700BA27C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5899" y="1447790"/>
            <a:ext cx="4322530" cy="777025"/>
          </a:xfrm>
        </p:spPr>
        <p:txBody>
          <a:bodyPr lIns="0" tIns="0" rIns="0" bIns="0" anchor="t">
            <a:normAutofit/>
          </a:bodyPr>
          <a:lstStyle>
            <a:lvl1pPr>
              <a:lnSpc>
                <a:spcPct val="100000"/>
              </a:lnSpc>
              <a:defRPr sz="2400" b="0" i="0">
                <a:latin typeface="HSE Sans" panose="02000000000000000000" pitchFamily="2" charset="0"/>
              </a:defRPr>
            </a:lvl1pPr>
          </a:lstStyle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Дополнительная </a:t>
            </a:r>
            <a:b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</a:b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цветовая гамма</a:t>
            </a:r>
          </a:p>
        </p:txBody>
      </p:sp>
      <p:sp>
        <p:nvSpPr>
          <p:cNvPr id="20" name="Текст 35">
            <a:extLst>
              <a:ext uri="{FF2B5EF4-FFF2-40B4-BE49-F238E27FC236}">
                <a16:creationId xmlns:a16="http://schemas.microsoft.com/office/drawing/2014/main" id="{CA2589F7-4500-024F-8E07-D726629A599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5898" y="2379663"/>
            <a:ext cx="4322531" cy="2399371"/>
          </a:xfrm>
        </p:spPr>
        <p:txBody>
          <a:bodyPr lIns="0" tIns="0" rIns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 algn="l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300" dirty="0">
                <a:latin typeface="HSE Sans" panose="02000000000000000000" pitchFamily="2" charset="0"/>
              </a:rPr>
              <a:t>Для оформления графиков, таблиц, диаграмм могут потребоваться дополнительные цвета и вы совершенно правы, задавая вопрос, какие цвета использовать и где их взять. Мы предлагаем использовать палитру цветов Вышки для этих целей.</a:t>
            </a:r>
          </a:p>
        </p:txBody>
      </p:sp>
      <p:sp>
        <p:nvSpPr>
          <p:cNvPr id="21" name="Oval 5">
            <a:extLst>
              <a:ext uri="{FF2B5EF4-FFF2-40B4-BE49-F238E27FC236}">
                <a16:creationId xmlns:a16="http://schemas.microsoft.com/office/drawing/2014/main" id="{D2CA403A-98E7-6C42-8F44-30AB6622C802}"/>
              </a:ext>
            </a:extLst>
          </p:cNvPr>
          <p:cNvSpPr/>
          <p:nvPr userDrawn="1"/>
        </p:nvSpPr>
        <p:spPr>
          <a:xfrm>
            <a:off x="5392982" y="1447790"/>
            <a:ext cx="830997" cy="830997"/>
          </a:xfrm>
          <a:prstGeom prst="ellipse">
            <a:avLst/>
          </a:prstGeom>
          <a:solidFill>
            <a:srgbClr val="0E2D69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2" name="Oval 20">
            <a:extLst>
              <a:ext uri="{FF2B5EF4-FFF2-40B4-BE49-F238E27FC236}">
                <a16:creationId xmlns:a16="http://schemas.microsoft.com/office/drawing/2014/main" id="{42ABAA5D-E7AB-6E48-9D43-A48178C9BDD4}"/>
              </a:ext>
            </a:extLst>
          </p:cNvPr>
          <p:cNvSpPr/>
          <p:nvPr userDrawn="1"/>
        </p:nvSpPr>
        <p:spPr>
          <a:xfrm>
            <a:off x="6742925" y="1447790"/>
            <a:ext cx="830997" cy="830997"/>
          </a:xfrm>
          <a:prstGeom prst="ellipse">
            <a:avLst/>
          </a:prstGeom>
          <a:solidFill>
            <a:srgbClr val="234A9B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09F185A-8F67-9C42-A7C5-87E483F4FC19}"/>
              </a:ext>
            </a:extLst>
          </p:cNvPr>
          <p:cNvSpPr/>
          <p:nvPr userDrawn="1"/>
        </p:nvSpPr>
        <p:spPr>
          <a:xfrm>
            <a:off x="8092868" y="1447790"/>
            <a:ext cx="830997" cy="830997"/>
          </a:xfrm>
          <a:prstGeom prst="ellipse">
            <a:avLst/>
          </a:prstGeom>
          <a:solidFill>
            <a:srgbClr val="11A0D7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79AE0F6-4E37-6C4D-AF45-824EEE489A15}"/>
              </a:ext>
            </a:extLst>
          </p:cNvPr>
          <p:cNvSpPr/>
          <p:nvPr userDrawn="1"/>
        </p:nvSpPr>
        <p:spPr>
          <a:xfrm>
            <a:off x="9442811" y="1447790"/>
            <a:ext cx="830997" cy="830997"/>
          </a:xfrm>
          <a:prstGeom prst="ellipse">
            <a:avLst/>
          </a:prstGeom>
          <a:solidFill>
            <a:srgbClr val="029C6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5" name="Oval 26">
            <a:extLst>
              <a:ext uri="{FF2B5EF4-FFF2-40B4-BE49-F238E27FC236}">
                <a16:creationId xmlns:a16="http://schemas.microsoft.com/office/drawing/2014/main" id="{330C0EA4-7FD1-CE4D-AC95-8C484C5AC790}"/>
              </a:ext>
            </a:extLst>
          </p:cNvPr>
          <p:cNvSpPr/>
          <p:nvPr userDrawn="1"/>
        </p:nvSpPr>
        <p:spPr>
          <a:xfrm>
            <a:off x="10792754" y="1447790"/>
            <a:ext cx="830997" cy="830997"/>
          </a:xfrm>
          <a:prstGeom prst="ellipse">
            <a:avLst/>
          </a:prstGeom>
          <a:solidFill>
            <a:srgbClr val="EB681F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6" name="Oval 29">
            <a:extLst>
              <a:ext uri="{FF2B5EF4-FFF2-40B4-BE49-F238E27FC236}">
                <a16:creationId xmlns:a16="http://schemas.microsoft.com/office/drawing/2014/main" id="{4C53CF3D-7EFB-DF4F-8EA6-5644574E9AFB}"/>
              </a:ext>
            </a:extLst>
          </p:cNvPr>
          <p:cNvSpPr/>
          <p:nvPr userDrawn="1"/>
        </p:nvSpPr>
        <p:spPr>
          <a:xfrm>
            <a:off x="5392982" y="2708699"/>
            <a:ext cx="830997" cy="830997"/>
          </a:xfrm>
          <a:prstGeom prst="ellipse">
            <a:avLst/>
          </a:prstGeom>
          <a:solidFill>
            <a:srgbClr val="7D4EB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7" name="Oval 33">
            <a:extLst>
              <a:ext uri="{FF2B5EF4-FFF2-40B4-BE49-F238E27FC236}">
                <a16:creationId xmlns:a16="http://schemas.microsoft.com/office/drawing/2014/main" id="{B42CE88A-E9A3-2A4E-BD50-EB37311F39EC}"/>
              </a:ext>
            </a:extLst>
          </p:cNvPr>
          <p:cNvSpPr/>
          <p:nvPr userDrawn="1"/>
        </p:nvSpPr>
        <p:spPr>
          <a:xfrm>
            <a:off x="6742925" y="2708699"/>
            <a:ext cx="830997" cy="830997"/>
          </a:xfrm>
          <a:prstGeom prst="ellipse">
            <a:avLst/>
          </a:prstGeom>
          <a:solidFill>
            <a:srgbClr val="E61F3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" name="Oval 34">
            <a:extLst>
              <a:ext uri="{FF2B5EF4-FFF2-40B4-BE49-F238E27FC236}">
                <a16:creationId xmlns:a16="http://schemas.microsoft.com/office/drawing/2014/main" id="{B699EFDF-DB9D-3C4F-9D1F-461508017BDA}"/>
              </a:ext>
            </a:extLst>
          </p:cNvPr>
          <p:cNvSpPr/>
          <p:nvPr userDrawn="1"/>
        </p:nvSpPr>
        <p:spPr>
          <a:xfrm>
            <a:off x="8092868" y="2708699"/>
            <a:ext cx="830997" cy="830997"/>
          </a:xfrm>
          <a:prstGeom prst="ellipse">
            <a:avLst/>
          </a:prstGeom>
          <a:solidFill>
            <a:srgbClr val="FBBA0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" name="Oval 35">
            <a:extLst>
              <a:ext uri="{FF2B5EF4-FFF2-40B4-BE49-F238E27FC236}">
                <a16:creationId xmlns:a16="http://schemas.microsoft.com/office/drawing/2014/main" id="{5DF3131C-EEA1-5446-B567-C9DA0A2A1AFF}"/>
              </a:ext>
            </a:extLst>
          </p:cNvPr>
          <p:cNvSpPr/>
          <p:nvPr userDrawn="1"/>
        </p:nvSpPr>
        <p:spPr>
          <a:xfrm>
            <a:off x="9442811" y="2708699"/>
            <a:ext cx="830997" cy="830997"/>
          </a:xfrm>
          <a:prstGeom prst="ellipse">
            <a:avLst/>
          </a:prstGeom>
          <a:solidFill>
            <a:srgbClr val="7DA0D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0" name="Oval 36">
            <a:extLst>
              <a:ext uri="{FF2B5EF4-FFF2-40B4-BE49-F238E27FC236}">
                <a16:creationId xmlns:a16="http://schemas.microsoft.com/office/drawing/2014/main" id="{6D03B317-B61D-2945-8C0A-A6EBD87ACD07}"/>
              </a:ext>
            </a:extLst>
          </p:cNvPr>
          <p:cNvSpPr/>
          <p:nvPr userDrawn="1"/>
        </p:nvSpPr>
        <p:spPr>
          <a:xfrm>
            <a:off x="10792754" y="2708699"/>
            <a:ext cx="830997" cy="830997"/>
          </a:xfrm>
          <a:prstGeom prst="ellipse">
            <a:avLst/>
          </a:prstGeom>
          <a:solidFill>
            <a:srgbClr val="47A0A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1" name="Oval 37">
            <a:extLst>
              <a:ext uri="{FF2B5EF4-FFF2-40B4-BE49-F238E27FC236}">
                <a16:creationId xmlns:a16="http://schemas.microsoft.com/office/drawing/2014/main" id="{9C0266F1-C0B7-624A-A873-5F2C8801E766}"/>
              </a:ext>
            </a:extLst>
          </p:cNvPr>
          <p:cNvSpPr/>
          <p:nvPr userDrawn="1"/>
        </p:nvSpPr>
        <p:spPr>
          <a:xfrm>
            <a:off x="5392982" y="3969609"/>
            <a:ext cx="830997" cy="830997"/>
          </a:xfrm>
          <a:prstGeom prst="ellipse">
            <a:avLst/>
          </a:prstGeom>
          <a:solidFill>
            <a:srgbClr val="EB8C3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2" name="Oval 38">
            <a:extLst>
              <a:ext uri="{FF2B5EF4-FFF2-40B4-BE49-F238E27FC236}">
                <a16:creationId xmlns:a16="http://schemas.microsoft.com/office/drawing/2014/main" id="{30C0C10E-388C-9843-8270-19D471BD3756}"/>
              </a:ext>
            </a:extLst>
          </p:cNvPr>
          <p:cNvSpPr/>
          <p:nvPr userDrawn="1"/>
        </p:nvSpPr>
        <p:spPr>
          <a:xfrm>
            <a:off x="6742925" y="3969609"/>
            <a:ext cx="830997" cy="830997"/>
          </a:xfrm>
          <a:prstGeom prst="ellipse">
            <a:avLst/>
          </a:prstGeom>
          <a:solidFill>
            <a:srgbClr val="96628C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" name="Oval 39">
            <a:extLst>
              <a:ext uri="{FF2B5EF4-FFF2-40B4-BE49-F238E27FC236}">
                <a16:creationId xmlns:a16="http://schemas.microsoft.com/office/drawing/2014/main" id="{87047EA3-79D2-8644-A568-E64AA1D7D370}"/>
              </a:ext>
            </a:extLst>
          </p:cNvPr>
          <p:cNvSpPr/>
          <p:nvPr userDrawn="1"/>
        </p:nvSpPr>
        <p:spPr>
          <a:xfrm>
            <a:off x="8092868" y="3969609"/>
            <a:ext cx="830997" cy="830997"/>
          </a:xfrm>
          <a:prstGeom prst="ellipse">
            <a:avLst/>
          </a:prstGeom>
          <a:solidFill>
            <a:srgbClr val="CD5A5A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4" name="Oval 40">
            <a:extLst>
              <a:ext uri="{FF2B5EF4-FFF2-40B4-BE49-F238E27FC236}">
                <a16:creationId xmlns:a16="http://schemas.microsoft.com/office/drawing/2014/main" id="{7F5D1C6B-4E6B-0346-A5DC-C511DB14EFD6}"/>
              </a:ext>
            </a:extLst>
          </p:cNvPr>
          <p:cNvSpPr/>
          <p:nvPr userDrawn="1"/>
        </p:nvSpPr>
        <p:spPr>
          <a:xfrm>
            <a:off x="9442811" y="3969609"/>
            <a:ext cx="830997" cy="830997"/>
          </a:xfrm>
          <a:prstGeom prst="ellipse">
            <a:avLst/>
          </a:prstGeom>
          <a:solidFill>
            <a:srgbClr val="FFD746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5" name="Oval 41">
            <a:extLst>
              <a:ext uri="{FF2B5EF4-FFF2-40B4-BE49-F238E27FC236}">
                <a16:creationId xmlns:a16="http://schemas.microsoft.com/office/drawing/2014/main" id="{EB421DBA-35DE-2C4F-A89E-27F0998EF4E8}"/>
              </a:ext>
            </a:extLst>
          </p:cNvPr>
          <p:cNvSpPr/>
          <p:nvPr userDrawn="1"/>
        </p:nvSpPr>
        <p:spPr>
          <a:xfrm>
            <a:off x="10792754" y="3969609"/>
            <a:ext cx="830997" cy="830997"/>
          </a:xfrm>
          <a:prstGeom prst="ellipse">
            <a:avLst/>
          </a:prstGeom>
          <a:solidFill>
            <a:srgbClr val="CDDDF0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6" name="Oval 42">
            <a:extLst>
              <a:ext uri="{FF2B5EF4-FFF2-40B4-BE49-F238E27FC236}">
                <a16:creationId xmlns:a16="http://schemas.microsoft.com/office/drawing/2014/main" id="{081BD842-A9A1-5B44-81ED-A97BA390032B}"/>
              </a:ext>
            </a:extLst>
          </p:cNvPr>
          <p:cNvSpPr/>
          <p:nvPr userDrawn="1"/>
        </p:nvSpPr>
        <p:spPr>
          <a:xfrm>
            <a:off x="5392982" y="5249769"/>
            <a:ext cx="830997" cy="830997"/>
          </a:xfrm>
          <a:prstGeom prst="ellipse">
            <a:avLst/>
          </a:prstGeom>
          <a:solidFill>
            <a:srgbClr val="D7EBB4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7" name="Oval 43">
            <a:extLst>
              <a:ext uri="{FF2B5EF4-FFF2-40B4-BE49-F238E27FC236}">
                <a16:creationId xmlns:a16="http://schemas.microsoft.com/office/drawing/2014/main" id="{036EE7D2-A33A-434C-B272-C82E2CDD4D4D}"/>
              </a:ext>
            </a:extLst>
          </p:cNvPr>
          <p:cNvSpPr/>
          <p:nvPr userDrawn="1"/>
        </p:nvSpPr>
        <p:spPr>
          <a:xfrm>
            <a:off x="6742925" y="5249769"/>
            <a:ext cx="830997" cy="830997"/>
          </a:xfrm>
          <a:prstGeom prst="ellipse">
            <a:avLst/>
          </a:prstGeom>
          <a:solidFill>
            <a:srgbClr val="FFDC9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8" name="Oval 44">
            <a:extLst>
              <a:ext uri="{FF2B5EF4-FFF2-40B4-BE49-F238E27FC236}">
                <a16:creationId xmlns:a16="http://schemas.microsoft.com/office/drawing/2014/main" id="{7DD65DA4-F076-C242-813E-8C17DCABCCFB}"/>
              </a:ext>
            </a:extLst>
          </p:cNvPr>
          <p:cNvSpPr/>
          <p:nvPr userDrawn="1"/>
        </p:nvSpPr>
        <p:spPr>
          <a:xfrm>
            <a:off x="8092868" y="5249769"/>
            <a:ext cx="830997" cy="830997"/>
          </a:xfrm>
          <a:prstGeom prst="ellipse">
            <a:avLst/>
          </a:prstGeom>
          <a:solidFill>
            <a:srgbClr val="D7C3F1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9" name="Oval 45">
            <a:extLst>
              <a:ext uri="{FF2B5EF4-FFF2-40B4-BE49-F238E27FC236}">
                <a16:creationId xmlns:a16="http://schemas.microsoft.com/office/drawing/2014/main" id="{8A44D99D-BF66-2848-B460-F59D8ECF5690}"/>
              </a:ext>
            </a:extLst>
          </p:cNvPr>
          <p:cNvSpPr/>
          <p:nvPr userDrawn="1"/>
        </p:nvSpPr>
        <p:spPr>
          <a:xfrm>
            <a:off x="9442811" y="5249769"/>
            <a:ext cx="830997" cy="830997"/>
          </a:xfrm>
          <a:prstGeom prst="ellipse">
            <a:avLst/>
          </a:prstGeom>
          <a:solidFill>
            <a:srgbClr val="F6C3C3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0" name="Oval 46">
            <a:extLst>
              <a:ext uri="{FF2B5EF4-FFF2-40B4-BE49-F238E27FC236}">
                <a16:creationId xmlns:a16="http://schemas.microsoft.com/office/drawing/2014/main" id="{9B130CEB-3D74-B647-BA6B-32F7D70FD354}"/>
              </a:ext>
            </a:extLst>
          </p:cNvPr>
          <p:cNvSpPr/>
          <p:nvPr userDrawn="1"/>
        </p:nvSpPr>
        <p:spPr>
          <a:xfrm>
            <a:off x="10792754" y="5249769"/>
            <a:ext cx="830997" cy="830997"/>
          </a:xfrm>
          <a:prstGeom prst="ellipse">
            <a:avLst/>
          </a:prstGeom>
          <a:solidFill>
            <a:srgbClr val="FFF07D"/>
          </a:solidFill>
          <a:ln w="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67054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_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4" descr="Icon&#10;&#10;Description automatically generated">
            <a:extLst>
              <a:ext uri="{FF2B5EF4-FFF2-40B4-BE49-F238E27FC236}">
                <a16:creationId xmlns:a16="http://schemas.microsoft.com/office/drawing/2014/main" id="{A7FA04E4-3213-8F41-B068-4DC28144142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17199" y="464363"/>
            <a:ext cx="448276" cy="448276"/>
          </a:xfrm>
          <a:prstGeom prst="rect">
            <a:avLst/>
          </a:prstGeom>
        </p:spPr>
      </p:pic>
      <p:cxnSp>
        <p:nvCxnSpPr>
          <p:cNvPr id="9" name="Straight Connector 19">
            <a:extLst>
              <a:ext uri="{FF2B5EF4-FFF2-40B4-BE49-F238E27FC236}">
                <a16:creationId xmlns:a16="http://schemas.microsoft.com/office/drawing/2014/main" id="{938052A0-3DF0-DC47-B7E0-C20EF981C230}"/>
              </a:ext>
            </a:extLst>
          </p:cNvPr>
          <p:cNvCxnSpPr>
            <a:cxnSpLocks/>
          </p:cNvCxnSpPr>
          <p:nvPr userDrawn="1"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21">
            <a:extLst>
              <a:ext uri="{FF2B5EF4-FFF2-40B4-BE49-F238E27FC236}">
                <a16:creationId xmlns:a16="http://schemas.microsoft.com/office/drawing/2014/main" id="{8C6147F0-3CA1-264C-B2B2-F88597196943}"/>
              </a:ext>
            </a:extLst>
          </p:cNvPr>
          <p:cNvCxnSpPr>
            <a:cxnSpLocks/>
          </p:cNvCxnSpPr>
          <p:nvPr userDrawn="1"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5">
            <a:extLst>
              <a:ext uri="{FF2B5EF4-FFF2-40B4-BE49-F238E27FC236}">
                <a16:creationId xmlns:a16="http://schemas.microsoft.com/office/drawing/2014/main" id="{62CDF50E-4D58-AF4A-ABFD-140AF88B3681}"/>
              </a:ext>
            </a:extLst>
          </p:cNvPr>
          <p:cNvCxnSpPr>
            <a:cxnSpLocks/>
          </p:cNvCxnSpPr>
          <p:nvPr userDrawn="1"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62171D1-2A5B-7A4A-9760-17CCE51B9802}"/>
              </a:ext>
            </a:extLst>
          </p:cNvPr>
          <p:cNvSpPr txBox="1"/>
          <p:nvPr userDrawn="1"/>
        </p:nvSpPr>
        <p:spPr>
          <a:xfrm>
            <a:off x="10410201" y="532278"/>
            <a:ext cx="671977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32AF94B5-93D7-5247-B727-C7089232F508}" type="slidenum">
              <a:rPr lang="ru-RU" sz="2000" smtClean="0">
                <a:solidFill>
                  <a:srgbClr val="102D69"/>
                </a:solidFill>
                <a:latin typeface="HSE Sans" panose="02000000000000000000" pitchFamily="2" charset="0"/>
              </a:rPr>
              <a:t>‹#›</a:t>
            </a:fld>
            <a:endParaRPr lang="ru-RU" sz="20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cxnSp>
        <p:nvCxnSpPr>
          <p:cNvPr id="13" name="Straight Connector 59">
            <a:extLst>
              <a:ext uri="{FF2B5EF4-FFF2-40B4-BE49-F238E27FC236}">
                <a16:creationId xmlns:a16="http://schemas.microsoft.com/office/drawing/2014/main" id="{3C71A0C3-CD3E-0748-98E5-6B2507CAB296}"/>
              </a:ext>
            </a:extLst>
          </p:cNvPr>
          <p:cNvCxnSpPr>
            <a:cxnSpLocks/>
          </p:cNvCxnSpPr>
          <p:nvPr userDrawn="1"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Текст 37">
            <a:extLst>
              <a:ext uri="{FF2B5EF4-FFF2-40B4-BE49-F238E27FC236}">
                <a16:creationId xmlns:a16="http://schemas.microsoft.com/office/drawing/2014/main" id="{9856D01B-EC9A-6047-B7FB-D47084AB3F5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3689" y="540904"/>
            <a:ext cx="1901825" cy="415925"/>
          </a:xfrm>
        </p:spPr>
        <p:txBody>
          <a:bodyPr lIns="0" tIns="0" rIns="0" b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>
                <a:latin typeface="HSE Sans" panose="02000000000000000000" pitchFamily="2" charset="0"/>
              </a:defRPr>
            </a:lvl1pPr>
            <a:lvl2pPr marL="4572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2pPr>
            <a:lvl3pPr marL="9144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3pPr>
            <a:lvl4pPr marL="13716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4pPr>
            <a:lvl5pPr marL="1828800" indent="0">
              <a:lnSpc>
                <a:spcPct val="100000"/>
              </a:lnSpc>
              <a:buNone/>
              <a:defRPr sz="1000" b="0" i="0">
                <a:latin typeface="HSE Sans" panose="02000000000000000000" pitchFamily="2" charset="0"/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ru-RU" sz="1000" dirty="0">
                <a:latin typeface="HSE Sans" panose="02000000000000000000" pitchFamily="2" charset="0"/>
              </a:rPr>
              <a:t>Название подразделения</a:t>
            </a:r>
            <a:br>
              <a:rPr lang="ru-RU" sz="1000" dirty="0">
                <a:latin typeface="HSE Sans" panose="02000000000000000000" pitchFamily="2" charset="0"/>
              </a:rPr>
            </a:br>
            <a:r>
              <a:rPr lang="ru-RU" sz="1000" dirty="0">
                <a:latin typeface="HSE Sans" panose="02000000000000000000" pitchFamily="2" charset="0"/>
              </a:rPr>
              <a:t>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5" name="Текст 39">
            <a:extLst>
              <a:ext uri="{FF2B5EF4-FFF2-40B4-BE49-F238E27FC236}">
                <a16:creationId xmlns:a16="http://schemas.microsoft.com/office/drawing/2014/main" id="{83E23342-AC91-354A-9A28-A14FF7BADC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9163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презентации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  <p:sp>
        <p:nvSpPr>
          <p:cNvPr id="17" name="Текст 39">
            <a:extLst>
              <a:ext uri="{FF2B5EF4-FFF2-40B4-BE49-F238E27FC236}">
                <a16:creationId xmlns:a16="http://schemas.microsoft.com/office/drawing/2014/main" id="{BB1CCE68-8F57-1A41-BC43-633D2EFC801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59892" y="548720"/>
            <a:ext cx="2070100" cy="408109"/>
          </a:xfrm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1pPr>
            <a:lvl2pPr marL="4572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2pPr>
            <a:lvl3pPr marL="9144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3pPr>
            <a:lvl4pPr marL="13716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4pPr>
            <a:lvl5pPr marL="1828800" indent="0">
              <a:buNone/>
              <a:defRPr sz="1000" b="0" i="0">
                <a:solidFill>
                  <a:srgbClr val="0E2D69"/>
                </a:solidFill>
                <a:latin typeface="HSE Sans" panose="02000000000000000000" pitchFamily="2" charset="0"/>
              </a:defRPr>
            </a:lvl5pPr>
          </a:lstStyle>
          <a:p>
            <a:r>
              <a:rPr lang="ru-RU" sz="1000" dirty="0">
                <a:latin typeface="HSE Sans" panose="02000000000000000000" pitchFamily="2" charset="0"/>
              </a:rPr>
              <a:t>Название раздела может быть набрано в две или три строки</a:t>
            </a:r>
            <a:r>
              <a:rPr lang="en-GB" sz="1000" dirty="0">
                <a:latin typeface="HSE Sans" panose="02000000000000000000" pitchFamily="2" charset="0"/>
              </a:rPr>
              <a:t> (10pt)</a:t>
            </a:r>
            <a:endParaRPr lang="ru-RU" sz="10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5209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исты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234703-C735-5D41-99C2-019C7EBECCF4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2F59B5-E815-AE43-BAE2-FA594BB42C0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5310809" y="2643809"/>
            <a:ext cx="1570383" cy="1570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064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33F8FDE-7383-E947-8568-FF6B7A776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8E6541-45CA-8B42-98B4-D42737B85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70645B-C5D9-8544-BBF2-E4A13F8E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63DFB-8595-A44B-9F09-A50FA310E559}" type="datetimeFigureOut">
              <a:rPr lang="en-RU" smtClean="0"/>
              <a:t>5/28/26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52289-7F57-544F-95EE-F8B2E10627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C5F56-F795-5643-ABE3-DDED218698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20F133-126C-5944-A0E4-6A9616EDC0DA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5785060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56" r:id="rId9"/>
    <p:sldLayoutId id="2147483658" r:id="rId10"/>
    <p:sldLayoutId id="2147483657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95C0D-D7DC-EF40-9E45-F5F0A4817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658" y="2548490"/>
            <a:ext cx="9057327" cy="1411892"/>
          </a:xfrm>
        </p:spPr>
        <p:txBody>
          <a:bodyPr>
            <a:normAutofit/>
          </a:bodyPr>
          <a:lstStyle/>
          <a:p>
            <a:r>
              <a:rPr lang="ru-RU" sz="4000" dirty="0"/>
              <a:t>Классификация выражений лиц с детектированием эмоций в речи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B85EA7E-BEC4-B745-B2A8-D4E4AFC614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B8D49EC-434A-5443-AC3F-85F01995E63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 dirty="0"/>
              <a:t>Программная Инженерия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6FAE0FA-3CAF-BA4B-8F9F-5FEF3C2F3CC6}"/>
              </a:ext>
            </a:extLst>
          </p:cNvPr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lang="ru-RU" dirty="0"/>
              <a:t>Нижний Новгород</a:t>
            </a:r>
          </a:p>
          <a:p>
            <a:r>
              <a:rPr lang="ru-RU" dirty="0"/>
              <a:t>2026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4AFB2BF-A7AB-5648-ADCD-2A7F1BD358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887204" y="5427304"/>
            <a:ext cx="3003177" cy="386100"/>
          </a:xfrm>
        </p:spPr>
        <p:txBody>
          <a:bodyPr>
            <a:noAutofit/>
          </a:bodyPr>
          <a:lstStyle/>
          <a:p>
            <a:r>
              <a:rPr lang="ru-RU" sz="1050" dirty="0"/>
              <a:t>Выполнил студент группы 22ПИ-1:</a:t>
            </a:r>
          </a:p>
          <a:p>
            <a:r>
              <a:rPr lang="ru-RU" sz="1200" dirty="0"/>
              <a:t>Канделов Дамир Русланович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A4BD5903-5BBA-18F6-7C9A-E503C42693C2}"/>
              </a:ext>
            </a:extLst>
          </p:cNvPr>
          <p:cNvSpPr txBox="1">
            <a:spLocks/>
          </p:cNvSpPr>
          <p:nvPr/>
        </p:nvSpPr>
        <p:spPr>
          <a:xfrm>
            <a:off x="1093658" y="4269540"/>
            <a:ext cx="3217950" cy="8063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Научный руководитель:</a:t>
            </a:r>
          </a:p>
          <a:p>
            <a:r>
              <a:rPr lang="ru-RU" sz="1200" dirty="0"/>
              <a:t>к.т.н., доцент, кафедра информационных систем и технологий НИУ ВШЭ – Нижний Новгород</a:t>
            </a:r>
          </a:p>
          <a:p>
            <a:r>
              <a:rPr lang="ru-RU" sz="1200" dirty="0"/>
              <a:t>Савченко Людмила Васильевна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FEE5189A-EA6F-12AC-A2B9-572812FCB60E}"/>
              </a:ext>
            </a:extLst>
          </p:cNvPr>
          <p:cNvSpPr txBox="1">
            <a:spLocks/>
          </p:cNvSpPr>
          <p:nvPr/>
        </p:nvSpPr>
        <p:spPr>
          <a:xfrm>
            <a:off x="1093658" y="5075840"/>
            <a:ext cx="3433521" cy="73756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6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050" dirty="0"/>
              <a:t>Рецензент:</a:t>
            </a:r>
            <a:endParaRPr lang="en-US" sz="1050" dirty="0"/>
          </a:p>
          <a:p>
            <a:r>
              <a:rPr lang="ru-RU" sz="1200" dirty="0"/>
              <a:t>приглашенный преподаватель базовой кафедры группы компаний «</a:t>
            </a:r>
            <a:r>
              <a:rPr lang="en-US" sz="1200" dirty="0"/>
              <a:t>MERA</a:t>
            </a:r>
            <a:r>
              <a:rPr lang="ru-RU" sz="1200" dirty="0"/>
              <a:t>»</a:t>
            </a:r>
          </a:p>
          <a:p>
            <a:r>
              <a:rPr lang="ru-RU" sz="1200" dirty="0" err="1"/>
              <a:t>Лемайкина</a:t>
            </a:r>
            <a:r>
              <a:rPr lang="ru-RU" sz="1200" dirty="0"/>
              <a:t> Елена Александровна</a:t>
            </a:r>
          </a:p>
        </p:txBody>
      </p:sp>
    </p:spTree>
    <p:extLst>
      <p:ext uri="{BB962C8B-B14F-4D97-AF65-F5344CB8AC3E}">
        <p14:creationId xmlns:p14="http://schemas.microsoft.com/office/powerpoint/2010/main" val="982325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3EB29DC1-D5D4-FB41-9E2D-AA4750D0CC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3689" y="540904"/>
            <a:ext cx="2070100" cy="415925"/>
          </a:xfrm>
        </p:spPr>
        <p:txBody>
          <a:bodyPr/>
          <a:lstStyle/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5B6DD1A-BEFA-D842-9B7A-78D7BD1A52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59162" y="548720"/>
            <a:ext cx="2341003" cy="408109"/>
          </a:xfrm>
        </p:spPr>
        <p:txBody>
          <a:bodyPr/>
          <a:lstStyle/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88968744-3B75-9B47-92FD-77E1E725F2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EC7666-D881-28EB-4A49-9EA84557AE7C}"/>
              </a:ext>
            </a:extLst>
          </p:cNvPr>
          <p:cNvSpPr txBox="1"/>
          <p:nvPr/>
        </p:nvSpPr>
        <p:spPr>
          <a:xfrm>
            <a:off x="678229" y="1651832"/>
            <a:ext cx="10304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Понимание эмоционального состояния человека позволяет компьютерным системам получать больше информации о состоянии человека, а также отвечать более естественным образом. Это может быть полезно в: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6970255-550C-8CD7-9C55-47FBEF2A3AB0}"/>
              </a:ext>
            </a:extLst>
          </p:cNvPr>
          <p:cNvSpPr txBox="1"/>
          <p:nvPr/>
        </p:nvSpPr>
        <p:spPr>
          <a:xfrm>
            <a:off x="4594375" y="4009616"/>
            <a:ext cx="28911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Мониторинг</a:t>
            </a:r>
            <a:r>
              <a:rPr lang="en-US" dirty="0">
                <a:latin typeface="HSE Sans" panose="02000000000000000000" pitchFamily="2" charset="0"/>
              </a:rPr>
              <a:t> </a:t>
            </a:r>
            <a:r>
              <a:rPr lang="ru-RU" dirty="0">
                <a:latin typeface="HSE Sans" panose="02000000000000000000" pitchFamily="2" charset="0"/>
              </a:rPr>
              <a:t>обслуживания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клиентов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38A1E6-075C-F798-037B-21A2F8982A7C}"/>
              </a:ext>
            </a:extLst>
          </p:cNvPr>
          <p:cNvSpPr txBox="1"/>
          <p:nvPr/>
        </p:nvSpPr>
        <p:spPr>
          <a:xfrm>
            <a:off x="8830392" y="4007218"/>
            <a:ext cx="21526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Контроль состояния</a:t>
            </a:r>
          </a:p>
          <a:p>
            <a:pPr algn="ctr"/>
            <a:r>
              <a:rPr lang="ru-RU" dirty="0">
                <a:latin typeface="HSE Sans" panose="02000000000000000000" pitchFamily="2" charset="0"/>
              </a:rPr>
              <a:t>водителя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B14A5-9463-9896-1033-8497F29689BB}"/>
              </a:ext>
            </a:extLst>
          </p:cNvPr>
          <p:cNvSpPr txBox="1"/>
          <p:nvPr/>
        </p:nvSpPr>
        <p:spPr>
          <a:xfrm>
            <a:off x="678230" y="4888847"/>
            <a:ext cx="103048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600" dirty="0">
                <a:latin typeface="HSE Sans" panose="02000000000000000000" pitchFamily="2" charset="0"/>
              </a:rPr>
              <a:t>Текущие архитектуры для распознавания эмоций тяжелые, ресурсозатратные или имеют низкие метрики качества, что приводит к высокой стоимости использования таких систем. В данной работе я представляю новую, более эффективную и менее ресурсозатратную </a:t>
            </a:r>
            <a:r>
              <a:rPr lang="ru-RU" sz="1600" i="1" dirty="0">
                <a:latin typeface="HSE Sans" panose="02000000000000000000" pitchFamily="2" charset="0"/>
              </a:rPr>
              <a:t>каскадную</a:t>
            </a:r>
            <a:r>
              <a:rPr lang="ru-RU" sz="1600" dirty="0">
                <a:latin typeface="HSE Sans" panose="02000000000000000000" pitchFamily="2" charset="0"/>
              </a:rPr>
              <a:t> архитектуру.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94BEC0-7A07-45AF-EE3E-6E16A718F3D1}"/>
              </a:ext>
            </a:extLst>
          </p:cNvPr>
          <p:cNvSpPr txBox="1"/>
          <p:nvPr/>
        </p:nvSpPr>
        <p:spPr>
          <a:xfrm>
            <a:off x="678231" y="449096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b="1" dirty="0">
                <a:latin typeface="HSE Sans" panose="02000000000000000000" pitchFamily="2" charset="0"/>
              </a:rPr>
              <a:t>Актуальность</a:t>
            </a:r>
          </a:p>
        </p:txBody>
      </p:sp>
      <p:sp>
        <p:nvSpPr>
          <p:cNvPr id="18" name="Заголовок 2">
            <a:extLst>
              <a:ext uri="{FF2B5EF4-FFF2-40B4-BE49-F238E27FC236}">
                <a16:creationId xmlns:a16="http://schemas.microsoft.com/office/drawing/2014/main" id="{42509E92-A773-7C3F-E8E0-BA554B1508C2}"/>
              </a:ext>
            </a:extLst>
          </p:cNvPr>
          <p:cNvSpPr txBox="1">
            <a:spLocks/>
          </p:cNvSpPr>
          <p:nvPr/>
        </p:nvSpPr>
        <p:spPr>
          <a:xfrm>
            <a:off x="768318" y="1295394"/>
            <a:ext cx="6313799" cy="415926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Эмоции в человеко-машинном взаимодействии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03B6D0-97D1-92E8-4120-674805D734DA}"/>
              </a:ext>
            </a:extLst>
          </p:cNvPr>
          <p:cNvSpPr txBox="1"/>
          <p:nvPr/>
        </p:nvSpPr>
        <p:spPr>
          <a:xfrm>
            <a:off x="747927" y="4005412"/>
            <a:ext cx="2630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>
                <a:latin typeface="HSE Sans" panose="02000000000000000000" pitchFamily="2" charset="0"/>
              </a:rPr>
              <a:t>Виртуальные ассистенты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17198EC-481B-D87C-6C96-7AA7CCE096C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59" b="11154"/>
          <a:stretch>
            <a:fillRect/>
          </a:stretch>
        </p:blipFill>
        <p:spPr>
          <a:xfrm>
            <a:off x="1416555" y="3351364"/>
            <a:ext cx="1293527" cy="654048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458F1C-2E46-BA6C-57F4-05D583C60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067" y="2356680"/>
            <a:ext cx="2057794" cy="748925"/>
          </a:xfrm>
          <a:prstGeom prst="roundRect">
            <a:avLst/>
          </a:prstGeom>
          <a:ln>
            <a:solidFill>
              <a:srgbClr val="0F2B69"/>
            </a:solidFill>
          </a:ln>
        </p:spPr>
      </p:pic>
      <p:pic>
        <p:nvPicPr>
          <p:cNvPr id="1028" name="Picture 4" descr="Как улучшить обслуживание клиентов – улучшаем качество клиентского сервиса">
            <a:extLst>
              <a:ext uri="{FF2B5EF4-FFF2-40B4-BE49-F238E27FC236}">
                <a16:creationId xmlns:a16="http://schemas.microsoft.com/office/drawing/2014/main" id="{739A5663-5041-09BD-5A65-8F939CDD89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28" b="15843"/>
          <a:stretch>
            <a:fillRect/>
          </a:stretch>
        </p:blipFill>
        <p:spPr bwMode="auto">
          <a:xfrm>
            <a:off x="4578427" y="2355908"/>
            <a:ext cx="2923072" cy="1651309"/>
          </a:xfrm>
          <a:prstGeom prst="roundRect">
            <a:avLst>
              <a:gd name="adj" fmla="val 9699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«Это не лечится»: каким людям не стоит водить автомобиль - Газета.Ru |  Новости">
            <a:extLst>
              <a:ext uri="{FF2B5EF4-FFF2-40B4-BE49-F238E27FC236}">
                <a16:creationId xmlns:a16="http://schemas.microsoft.com/office/drawing/2014/main" id="{97CBA637-DF2C-8FC7-4E43-B5DB70D89E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03"/>
          <a:stretch>
            <a:fillRect/>
          </a:stretch>
        </p:blipFill>
        <p:spPr bwMode="auto">
          <a:xfrm>
            <a:off x="8813289" y="2355909"/>
            <a:ext cx="2169744" cy="1651309"/>
          </a:xfrm>
          <a:prstGeom prst="roundRect">
            <a:avLst>
              <a:gd name="adj" fmla="val 6723"/>
            </a:avLst>
          </a:prstGeom>
          <a:ln>
            <a:solidFill>
              <a:srgbClr val="0F2B69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6EE90E2-18D1-C678-DFDD-799BF112B65D}"/>
              </a:ext>
            </a:extLst>
          </p:cNvPr>
          <p:cNvSpPr txBox="1"/>
          <p:nvPr/>
        </p:nvSpPr>
        <p:spPr>
          <a:xfrm>
            <a:off x="678230" y="5790658"/>
            <a:ext cx="14594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Практическая потребность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466055-9C7E-361B-58A2-63FCA57B3B47}"/>
              </a:ext>
            </a:extLst>
          </p:cNvPr>
          <p:cNvSpPr txBox="1"/>
          <p:nvPr/>
        </p:nvSpPr>
        <p:spPr>
          <a:xfrm>
            <a:off x="2605330" y="5790138"/>
            <a:ext cx="23992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Отсутствие в литературе каскадных </a:t>
            </a:r>
            <a:r>
              <a:rPr lang="en-US" sz="1400" dirty="0">
                <a:latin typeface="HSE Sans" panose="02000000000000000000" pitchFamily="2" charset="0"/>
              </a:rPr>
              <a:t>MER </a:t>
            </a:r>
            <a:r>
              <a:rPr lang="ru-RU" sz="1400" dirty="0">
                <a:latin typeface="HSE Sans" panose="02000000000000000000" pitchFamily="2" charset="0"/>
              </a:rPr>
              <a:t>систем с аудиогейтом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C071027-5388-7E4C-CDC8-E70D23D26904}"/>
              </a:ext>
            </a:extLst>
          </p:cNvPr>
          <p:cNvSpPr txBox="1"/>
          <p:nvPr/>
        </p:nvSpPr>
        <p:spPr>
          <a:xfrm>
            <a:off x="5930746" y="5790138"/>
            <a:ext cx="239924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Необходимость в прозрачной методологии оценки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1D457C-C015-2A03-C164-50F7C2788D13}"/>
              </a:ext>
            </a:extLst>
          </p:cNvPr>
          <p:cNvSpPr txBox="1"/>
          <p:nvPr/>
        </p:nvSpPr>
        <p:spPr>
          <a:xfrm>
            <a:off x="8747831" y="5790138"/>
            <a:ext cx="265266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Возможность значительного сокращения вычислительных затрат без потери качества</a:t>
            </a:r>
            <a:endParaRPr lang="en-US" sz="1400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6014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903921" y="1408532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Цель работы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D8BF91-77AF-5F00-BE94-6D57F3A4553B}"/>
              </a:ext>
            </a:extLst>
          </p:cNvPr>
          <p:cNvSpPr txBox="1"/>
          <p:nvPr/>
        </p:nvSpPr>
        <p:spPr>
          <a:xfrm>
            <a:off x="815583" y="1915040"/>
            <a:ext cx="10560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>
                <a:latin typeface="HSE Sans" panose="02000000000000000000" pitchFamily="2" charset="0"/>
              </a:rPr>
              <a:t>Разработка и экспериментальная оценка двухстадийной мультимодальной системы распознавания эмоций, снижающей вычислительные затраты без значимой потери точности классификации.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20" name="Заголовок 2">
            <a:extLst>
              <a:ext uri="{FF2B5EF4-FFF2-40B4-BE49-F238E27FC236}">
                <a16:creationId xmlns:a16="http://schemas.microsoft.com/office/drawing/2014/main" id="{9624D299-3924-C7CD-7C50-31CD86689DA2}"/>
              </a:ext>
            </a:extLst>
          </p:cNvPr>
          <p:cNvSpPr txBox="1">
            <a:spLocks/>
          </p:cNvSpPr>
          <p:nvPr/>
        </p:nvSpPr>
        <p:spPr>
          <a:xfrm>
            <a:off x="903921" y="2783841"/>
            <a:ext cx="2268230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Задачи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359327D-CADD-DF10-AEEE-D70492B85AF1}"/>
              </a:ext>
            </a:extLst>
          </p:cNvPr>
          <p:cNvSpPr txBox="1"/>
          <p:nvPr/>
        </p:nvSpPr>
        <p:spPr>
          <a:xfrm>
            <a:off x="815583" y="3266441"/>
            <a:ext cx="511652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Анализ подходов к распознаванию эмоций по речи (SER), лицу (FER) и по обеим модальностям (MER)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Поиск возможностей оптимизации за счёт последовательной обработки аудио и видео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Подготовка данных: анализ, выбор и предобработка датасетов</a:t>
            </a:r>
          </a:p>
          <a:p>
            <a:pPr marL="228600" indent="-228600" algn="just">
              <a:buAutoNum type="arabicPeriod"/>
            </a:pPr>
            <a:r>
              <a:rPr lang="ru-RU" dirty="0">
                <a:latin typeface="HSE Sans" panose="02000000000000000000" pitchFamily="2" charset="0"/>
              </a:rPr>
              <a:t>Разработка аудиогейта и сравнение подходов по качеству, скорости и весу моделей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141F91-5AEE-0FBA-534B-F99B2AFD06E3}"/>
              </a:ext>
            </a:extLst>
          </p:cNvPr>
          <p:cNvSpPr txBox="1"/>
          <p:nvPr/>
        </p:nvSpPr>
        <p:spPr>
          <a:xfrm>
            <a:off x="6259892" y="3266441"/>
            <a:ext cx="511652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Построение видео-классификатора: выбор экстрактора признаков и модели-классификатора.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Сборка двухстадийного пайплайна: объединение аудиогейта и классификатора по аудио и видео в одну архитектуру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Бенчмарк для сравнения нашей архитектуры по: качеству, времени и памяти против лучших моделей</a:t>
            </a:r>
          </a:p>
          <a:p>
            <a:pPr marL="342900" indent="-342900" algn="just">
              <a:buFont typeface="+mj-lt"/>
              <a:buAutoNum type="arabicPeriod" startAt="5"/>
            </a:pPr>
            <a:r>
              <a:rPr lang="ru-RU" dirty="0">
                <a:latin typeface="HSE Sans" panose="02000000000000000000" pitchFamily="2" charset="0"/>
              </a:rPr>
              <a:t>Реализация прототипа реального времени (веб-камера и микрофон)</a:t>
            </a:r>
          </a:p>
        </p:txBody>
      </p:sp>
    </p:spTree>
    <p:extLst>
      <p:ext uri="{BB962C8B-B14F-4D97-AF65-F5344CB8AC3E}">
        <p14:creationId xmlns:p14="http://schemas.microsoft.com/office/powerpoint/2010/main" val="21613879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100071" cy="802343"/>
          </a:xfrm>
          <a:prstGeom prst="rect">
            <a:avLst/>
          </a:prstGeom>
        </p:spPr>
        <p:txBody>
          <a:bodyPr vert="horz" lIns="0" tIns="0" rIns="0" bIns="0" rtlCol="0" anchor="t">
            <a:normAutofit fontScale="92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Исследование предметной области</a:t>
            </a:r>
            <a:endParaRPr lang="en-US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>
                <a:solidFill>
                  <a:srgbClr val="0F2C68"/>
                </a:solidFill>
                <a:latin typeface="Calibri" panose="020F0502020204030204"/>
                <a:ea typeface="+mn-ea"/>
                <a:cs typeface="+mn-cs"/>
              </a:rPr>
              <a:t>Виды определения эмоций по различным модальностям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0F2C68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endParaRPr lang="ru-RU" b="1" dirty="0"/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B1BC534-618A-0E4F-A8FA-BED4A06AFBCD}"/>
              </a:ext>
            </a:extLst>
          </p:cNvPr>
          <p:cNvSpPr/>
          <p:nvPr/>
        </p:nvSpPr>
        <p:spPr>
          <a:xfrm>
            <a:off x="5588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1AC2AA-AE36-4744-B185-DFACEA92ACA1}"/>
              </a:ext>
            </a:extLst>
          </p:cNvPr>
          <p:cNvSpPr/>
          <p:nvPr/>
        </p:nvSpPr>
        <p:spPr>
          <a:xfrm>
            <a:off x="558800" y="2286000"/>
            <a:ext cx="3581400" cy="635000"/>
          </a:xfrm>
          <a:prstGeom prst="rect">
            <a:avLst/>
          </a:prstGeom>
          <a:solidFill>
            <a:srgbClr val="1F4E9B"/>
          </a:solidFill>
          <a:ln w="19050" cap="flat" cmpd="sng" algn="ctr">
            <a:solidFill>
              <a:srgbClr val="1E4D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Speech Emotion Recognition (SER)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AE8516-91FB-3949-A256-958854349ABC}"/>
              </a:ext>
            </a:extLst>
          </p:cNvPr>
          <p:cNvSpPr txBox="1"/>
          <p:nvPr/>
        </p:nvSpPr>
        <p:spPr>
          <a:xfrm>
            <a:off x="724487" y="3094125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/>
          <a:p>
            <a:pPr algn="l"/>
            <a:r>
              <a:rPr lang="ru-RU" sz="1400" dirty="0">
                <a:solidFill>
                  <a:srgbClr val="1A1A1A"/>
                </a:solidFill>
              </a:rPr>
              <a:t>Определение эмоций по речи</a:t>
            </a:r>
            <a:endParaRPr lang="en-US" sz="1400" dirty="0">
              <a:solidFill>
                <a:srgbClr val="1A1A1A"/>
              </a:solidFill>
              <a:latin typeface="HSE Sans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CEF2E0-0E84-C846-BE7B-C27C284AEB33}"/>
              </a:ext>
            </a:extLst>
          </p:cNvPr>
          <p:cNvSpPr txBox="1"/>
          <p:nvPr/>
        </p:nvSpPr>
        <p:spPr>
          <a:xfrm>
            <a:off x="736600" y="3561076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en-US" sz="1400" dirty="0">
                <a:solidFill>
                  <a:srgbClr val="1A1A1A"/>
                </a:solidFill>
                <a:latin typeface="HSE Sans"/>
              </a:rPr>
              <a:t>•  MFCC + SVM,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лог-мел спектрограммы
•  Трансформеры: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Wav2Vec 2.0, DistilHuBERT
•  CNN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на спектральных представлениях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2C0AA11-27EF-D749-B825-49D92198B864}"/>
              </a:ext>
            </a:extLst>
          </p:cNvPr>
          <p:cNvSpPr/>
          <p:nvPr/>
        </p:nvSpPr>
        <p:spPr>
          <a:xfrm>
            <a:off x="43053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9576DE-F2DC-2048-AF8C-7C9DAABDA50D}"/>
              </a:ext>
            </a:extLst>
          </p:cNvPr>
          <p:cNvSpPr/>
          <p:nvPr/>
        </p:nvSpPr>
        <p:spPr>
          <a:xfrm>
            <a:off x="4305300" y="2286000"/>
            <a:ext cx="3581400" cy="635000"/>
          </a:xfrm>
          <a:prstGeom prst="rect">
            <a:avLst/>
          </a:prstGeom>
          <a:solidFill>
            <a:srgbClr val="2F7D5B"/>
          </a:solidFill>
          <a:ln w="19050" cap="flat" cmpd="sng" algn="ctr">
            <a:solidFill>
              <a:srgbClr val="2F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Facial expression Emotion Recognition (FER)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BC742F3-F422-8C42-B0DF-A02566AD766C}"/>
              </a:ext>
            </a:extLst>
          </p:cNvPr>
          <p:cNvSpPr txBox="1"/>
          <p:nvPr/>
        </p:nvSpPr>
        <p:spPr>
          <a:xfrm>
            <a:off x="4432300" y="3066896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>
            <a:defPPr>
              <a:defRPr lang="en-RU"/>
            </a:defPPr>
            <a:lvl1pPr>
              <a:defRPr sz="1400">
                <a:solidFill>
                  <a:srgbClr val="1A1A1A"/>
                </a:solidFill>
              </a:defRPr>
            </a:lvl1pPr>
          </a:lstStyle>
          <a:p>
            <a:r>
              <a:rPr lang="ru-RU" dirty="0"/>
              <a:t>Определение эмоций по выражению лиц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2BC867-2429-9F40-B79B-AF14B5B51709}"/>
              </a:ext>
            </a:extLst>
          </p:cNvPr>
          <p:cNvSpPr txBox="1"/>
          <p:nvPr/>
        </p:nvSpPr>
        <p:spPr>
          <a:xfrm>
            <a:off x="4483100" y="3561076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•  Детекция лиц: </a:t>
            </a:r>
            <a:r>
              <a:rPr lang="en-US" sz="1400" dirty="0" err="1">
                <a:solidFill>
                  <a:srgbClr val="1A1A1A"/>
                </a:solidFill>
                <a:latin typeface="HSE Sans"/>
              </a:rPr>
              <a:t>MediaPipe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 </a:t>
            </a:r>
            <a:r>
              <a:rPr lang="en-US" sz="1400" dirty="0" err="1">
                <a:solidFill>
                  <a:srgbClr val="1A1A1A"/>
                </a:solidFill>
                <a:latin typeface="HSE Sans"/>
              </a:rPr>
              <a:t>BlazeFace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
• 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Лёгкие </a:t>
            </a:r>
            <a:r>
              <a:rPr lang="ru-RU" sz="1400" dirty="0" err="1">
                <a:solidFill>
                  <a:srgbClr val="1A1A1A"/>
                </a:solidFill>
                <a:latin typeface="HSE Sans" panose="02000000000000000000" pitchFamily="2" charset="0"/>
              </a:rPr>
              <a:t>бэкбоны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MobileNetV3, EmotiEffNet
• 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Темпоральные агрегаторы: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BiGRU, BiLSTM, TCN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366672-C854-8746-BA8D-E6CE3CDC44B8}"/>
              </a:ext>
            </a:extLst>
          </p:cNvPr>
          <p:cNvSpPr/>
          <p:nvPr/>
        </p:nvSpPr>
        <p:spPr>
          <a:xfrm>
            <a:off x="8051800" y="2286000"/>
            <a:ext cx="3581400" cy="3810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82708D-89D8-AD4C-9ADF-3E7F98B2C29E}"/>
              </a:ext>
            </a:extLst>
          </p:cNvPr>
          <p:cNvSpPr/>
          <p:nvPr/>
        </p:nvSpPr>
        <p:spPr>
          <a:xfrm>
            <a:off x="8051800" y="2286000"/>
            <a:ext cx="3581400" cy="635000"/>
          </a:xfrm>
          <a:prstGeom prst="rect">
            <a:avLst/>
          </a:prstGeom>
          <a:solidFill>
            <a:schemeClr val="tx1"/>
          </a:solidFill>
          <a:ln w="1905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HSE Sans"/>
              </a:rPr>
              <a:t>Multimodal Emotion Recognition (MER)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F8AFC4-AF5F-BD47-920B-E2AB5FC0C112}"/>
              </a:ext>
            </a:extLst>
          </p:cNvPr>
          <p:cNvSpPr txBox="1"/>
          <p:nvPr/>
        </p:nvSpPr>
        <p:spPr>
          <a:xfrm>
            <a:off x="8178800" y="3066896"/>
            <a:ext cx="3327400" cy="304800"/>
          </a:xfrm>
          <a:prstGeom prst="rect">
            <a:avLst/>
          </a:prstGeom>
          <a:noFill/>
        </p:spPr>
        <p:txBody>
          <a:bodyPr vertOverflow="overflow" vert="horz" wrap="square" lIns="25400" tIns="0" rIns="25400" bIns="0" rtlCol="0" anchor="t">
            <a:noAutofit/>
          </a:bodyPr>
          <a:lstStyle>
            <a:defPPr>
              <a:defRPr lang="en-RU"/>
            </a:defPPr>
            <a:lvl1pPr>
              <a:defRPr sz="1400">
                <a:solidFill>
                  <a:srgbClr val="1A1A1A"/>
                </a:solidFill>
              </a:defRPr>
            </a:lvl1pPr>
          </a:lstStyle>
          <a:p>
            <a:r>
              <a:rPr lang="ru-RU" dirty="0"/>
              <a:t>Определение эмоций</a:t>
            </a:r>
            <a:r>
              <a:rPr lang="en-US" dirty="0"/>
              <a:t> </a:t>
            </a:r>
            <a:r>
              <a:rPr lang="ru-RU" dirty="0"/>
              <a:t>по двум и более модальностям </a:t>
            </a:r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0568C2-DBC8-814F-B1F1-615C9C1B2E5A}"/>
              </a:ext>
            </a:extLst>
          </p:cNvPr>
          <p:cNvSpPr txBox="1"/>
          <p:nvPr/>
        </p:nvSpPr>
        <p:spPr>
          <a:xfrm>
            <a:off x="8229600" y="3561076"/>
            <a:ext cx="3225800" cy="2540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algn="l"/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•  Стратегии слияния модальностей
•  Современные архитектуры для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IEMOCAP
• 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Тренд: лёгкие и динамические модели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</p:spTree>
    <p:extLst>
      <p:ext uri="{BB962C8B-B14F-4D97-AF65-F5344CB8AC3E}">
        <p14:creationId xmlns:p14="http://schemas.microsoft.com/office/powerpoint/2010/main" val="2838494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Датасеты и аугментация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tx1"/>
                </a:solidFill>
              </a:rPr>
              <a:t>Канделов Дамир Русланович </a:t>
            </a:r>
          </a:p>
          <a:p>
            <a:r>
              <a:rPr lang="ru-RU" dirty="0">
                <a:solidFill>
                  <a:schemeClr val="tx1"/>
                </a:solidFill>
              </a:rPr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D6BDA7-65B8-7248-A4BC-256B35919C76}"/>
              </a:ext>
            </a:extLst>
          </p:cNvPr>
          <p:cNvSpPr txBox="1"/>
          <p:nvPr/>
        </p:nvSpPr>
        <p:spPr>
          <a:xfrm>
            <a:off x="896620" y="2514564"/>
            <a:ext cx="3741217" cy="835783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400" dirty="0">
                <a:latin typeface="HSE Sans" panose="02000000000000000000" pitchFamily="2" charset="0"/>
              </a:rPr>
              <a:t>7356 </a:t>
            </a:r>
            <a:r>
              <a:rPr lang="ru-RU" sz="1400" dirty="0">
                <a:latin typeface="HSE Sans" panose="02000000000000000000" pitchFamily="2" charset="0"/>
              </a:rPr>
              <a:t>аудиовизуальных записей</a:t>
            </a:r>
            <a:endParaRPr lang="en-US" sz="1400" dirty="0">
              <a:latin typeface="HSE Sans" panose="02000000000000000000" pitchFamily="2" charset="0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400" dirty="0">
                <a:latin typeface="HSE Sans" panose="02000000000000000000" pitchFamily="2" charset="0"/>
              </a:rPr>
              <a:t>24 актёра, профессиональные актеры
8 эмоций
Источник для видео-модели и гейта</a:t>
            </a:r>
            <a:endParaRPr lang="en-US" sz="1400" dirty="0">
              <a:latin typeface="HSE San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2E1C880-6384-B443-89F8-97AD2D2BE2EA}"/>
              </a:ext>
            </a:extLst>
          </p:cNvPr>
          <p:cNvSpPr txBox="1"/>
          <p:nvPr/>
        </p:nvSpPr>
        <p:spPr>
          <a:xfrm>
            <a:off x="896620" y="3865981"/>
            <a:ext cx="4684878" cy="786538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7442 видео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91 актёр, 48 мужчин и 43 женщины, добровольцы
6 эмоций
Расширяет аудио-данные для гейта</a:t>
            </a:r>
            <a:endParaRPr lang="en-US" sz="1300" dirty="0">
              <a:latin typeface="HSE Sans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0EE0CBB-FAB3-6E47-A61F-20AA1A910F62}"/>
              </a:ext>
            </a:extLst>
          </p:cNvPr>
          <p:cNvSpPr txBox="1"/>
          <p:nvPr/>
        </p:nvSpPr>
        <p:spPr>
          <a:xfrm>
            <a:off x="896620" y="5213503"/>
            <a:ext cx="7003943" cy="887374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12 часов записанных диалогов (5 сессий)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Спонтанные импровизации и диалоги по заранее написанному сценарию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ru-RU" sz="1300" dirty="0">
                <a:latin typeface="HSE Sans" panose="02000000000000000000" pitchFamily="2" charset="0"/>
              </a:rPr>
              <a:t>10 актеров: 5 мужчин и 5 женщин
4 класса: </a:t>
            </a:r>
            <a:r>
              <a:rPr lang="en-US" sz="1300" dirty="0">
                <a:latin typeface="HSE Sans"/>
              </a:rPr>
              <a:t>neutral, happy, sad, angry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DF8336E1-E670-3446-A244-8019EAFEEE85}"/>
              </a:ext>
            </a:extLst>
          </p:cNvPr>
          <p:cNvSpPr/>
          <p:nvPr/>
        </p:nvSpPr>
        <p:spPr>
          <a:xfrm>
            <a:off x="7975600" y="1905000"/>
            <a:ext cx="3810000" cy="45466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81090A-D17C-A74C-A759-4648FBD0CA8F}"/>
              </a:ext>
            </a:extLst>
          </p:cNvPr>
          <p:cNvSpPr txBox="1"/>
          <p:nvPr/>
        </p:nvSpPr>
        <p:spPr>
          <a:xfrm>
            <a:off x="8077200" y="1981200"/>
            <a:ext cx="3606800" cy="63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ctr" anchorCtr="0">
            <a:noAutofit/>
          </a:bodyPr>
          <a:lstStyle/>
          <a:p>
            <a:pPr algn="ctr"/>
            <a:r>
              <a:rPr lang="ru-RU" sz="1300" b="1" dirty="0">
                <a:latin typeface="HSE Sans" panose="02000000000000000000" pitchFamily="2" charset="0"/>
              </a:rPr>
              <a:t>Офлайн-аугментации (</a:t>
            </a:r>
            <a:r>
              <a:rPr lang="en-US" sz="1300" b="1" dirty="0">
                <a:latin typeface="HSE Sans"/>
              </a:rPr>
              <a:t>K=3)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6CF86BB-2374-3B46-91C8-DD23FE574D02}"/>
              </a:ext>
            </a:extLst>
          </p:cNvPr>
          <p:cNvSpPr txBox="1"/>
          <p:nvPr/>
        </p:nvSpPr>
        <p:spPr>
          <a:xfrm>
            <a:off x="8140700" y="2579625"/>
            <a:ext cx="3479800" cy="14986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ru-RU" sz="1300" b="1" dirty="0">
                <a:solidFill>
                  <a:srgbClr val="1F4E9B"/>
                </a:solidFill>
                <a:latin typeface="HSE Sans" panose="02000000000000000000" pitchFamily="2" charset="0"/>
              </a:rPr>
              <a:t>Аудио:</a:t>
            </a:r>
          </a:p>
          <a:p>
            <a:pPr marL="0" indent="0">
              <a:buNone/>
            </a:pPr>
            <a:endParaRPr lang="ru-RU" sz="800" b="1" dirty="0">
              <a:solidFill>
                <a:srgbClr val="1F4E9B"/>
              </a:solidFill>
              <a:latin typeface="HSE Sans" panose="02000000000000000000" pitchFamily="2" charset="0"/>
            </a:endParaRP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AddGaussianSNR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гауссовский шум, SNR 5–25 дБ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Shift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временной сдвиг ±1 с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Gain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громкость −9…+6 дБ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TimeStretch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растяжение/сжатие ×0,9–1,1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PitchShift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сдвиг тона ±2 полутона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6AB03B8-4D23-2041-9F3A-FAD9A5663AF5}"/>
              </a:ext>
            </a:extLst>
          </p:cNvPr>
          <p:cNvSpPr txBox="1"/>
          <p:nvPr/>
        </p:nvSpPr>
        <p:spPr>
          <a:xfrm>
            <a:off x="8153400" y="4279925"/>
            <a:ext cx="3479800" cy="1905000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ru-RU" sz="1300" b="1" dirty="0">
                <a:solidFill>
                  <a:srgbClr val="2E7D5B"/>
                </a:solidFill>
                <a:latin typeface="HSE Sans" panose="02000000000000000000" pitchFamily="2" charset="0"/>
              </a:rPr>
              <a:t>Видео:</a:t>
            </a:r>
          </a:p>
          <a:p>
            <a:pPr marL="0" indent="0">
              <a:buNone/>
            </a:pPr>
            <a:endParaRPr lang="ru-RU" sz="800" b="1" dirty="0">
              <a:solidFill>
                <a:srgbClr val="2E7D5B"/>
              </a:solidFill>
              <a:latin typeface="HSE Sans" panose="02000000000000000000" pitchFamily="2" charset="0"/>
            </a:endParaRP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RandomResizedCrop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случайная обрезка, масштаб 0,85–1,0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HFlip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зеркальное отражение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ColorJitter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яркость / контраст / насыщенность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GaussianBlur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размытие по Гауссу</a:t>
            </a:r>
          </a:p>
          <a:p>
            <a:pPr marL="171450" indent="-171450">
              <a:lnSpc>
                <a:spcPts val="1250"/>
              </a:lnSpc>
              <a:spcAft>
                <a:spcPts val="300"/>
              </a:spcAft>
              <a:buFont typeface="Arial"/>
              <a:buChar char="•"/>
            </a:pPr>
            <a:r>
              <a:rPr lang="en-US" sz="1100" b="1" dirty="0">
                <a:solidFill>
                  <a:srgbClr val="1A1A1A"/>
                </a:solidFill>
                <a:latin typeface="HSE Sans" panose="02000000000000000000" pitchFamily="2" charset="0"/>
              </a:rPr>
              <a:t>RandomErasing</a:t>
            </a:r>
            <a:r>
              <a:rPr lang="ru-RU" sz="1100" dirty="0">
                <a:solidFill>
                  <a:srgbClr val="1A1A1A"/>
                </a:solidFill>
                <a:latin typeface="HSE Sans" panose="02000000000000000000" pitchFamily="2" charset="0"/>
              </a:rPr>
              <a:t> — случайное стирание (cutout)</a:t>
            </a:r>
          </a:p>
        </p:txBody>
      </p:sp>
      <p:sp>
        <p:nvSpPr>
          <p:cNvPr id="6" name="Заголовок 2">
            <a:extLst>
              <a:ext uri="{FF2B5EF4-FFF2-40B4-BE49-F238E27FC236}">
                <a16:creationId xmlns:a16="http://schemas.microsoft.com/office/drawing/2014/main" id="{5D016CD5-829C-2010-254B-20D6B882D503}"/>
              </a:ext>
            </a:extLst>
          </p:cNvPr>
          <p:cNvSpPr txBox="1">
            <a:spLocks/>
          </p:cNvSpPr>
          <p:nvPr/>
        </p:nvSpPr>
        <p:spPr>
          <a:xfrm>
            <a:off x="666489" y="1861070"/>
            <a:ext cx="3525887" cy="415926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sz="1800" b="1" dirty="0"/>
              <a:t>Используемые датасеты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03B039-D87C-7B4E-3028-369F683F91C0}"/>
              </a:ext>
            </a:extLst>
          </p:cNvPr>
          <p:cNvSpPr txBox="1"/>
          <p:nvPr/>
        </p:nvSpPr>
        <p:spPr>
          <a:xfrm>
            <a:off x="604520" y="2145233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 algn="just">
              <a:buAutoNum type="arabicPeriod"/>
            </a:pPr>
            <a:r>
              <a:rPr lang="ru-RU" dirty="0" err="1"/>
              <a:t>Ryerson</a:t>
            </a:r>
            <a:r>
              <a:rPr lang="ru-RU" dirty="0"/>
              <a:t> Audio-Visual Database </a:t>
            </a:r>
            <a:r>
              <a:rPr lang="ru-RU" dirty="0" err="1"/>
              <a:t>of</a:t>
            </a:r>
            <a:r>
              <a:rPr lang="ru-RU" dirty="0"/>
              <a:t>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Speech</a:t>
            </a:r>
            <a:r>
              <a:rPr lang="ru-RU" dirty="0"/>
              <a:t>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Song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RAVDESS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7EEC3B-7375-400B-F2B7-467E7DE6809A}"/>
              </a:ext>
            </a:extLst>
          </p:cNvPr>
          <p:cNvSpPr txBox="1"/>
          <p:nvPr/>
        </p:nvSpPr>
        <p:spPr>
          <a:xfrm>
            <a:off x="604520" y="3496649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/>
              <a:t>2. </a:t>
            </a:r>
            <a:r>
              <a:rPr lang="ru-RU" dirty="0"/>
              <a:t>Crowd-</a:t>
            </a:r>
            <a:r>
              <a:rPr lang="ru-RU" dirty="0" err="1"/>
              <a:t>sourced</a:t>
            </a:r>
            <a:r>
              <a:rPr lang="ru-RU" dirty="0"/>
              <a:t>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Multimodal</a:t>
            </a:r>
            <a:r>
              <a:rPr lang="ru-RU" dirty="0"/>
              <a:t> </a:t>
            </a:r>
            <a:r>
              <a:rPr lang="ru-RU" dirty="0" err="1"/>
              <a:t>Actors</a:t>
            </a:r>
            <a:r>
              <a:rPr lang="ru-RU" dirty="0"/>
              <a:t> </a:t>
            </a:r>
            <a:r>
              <a:rPr lang="ru-RU" dirty="0" err="1"/>
              <a:t>Dataset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CREMA-D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1EEC80-1DB7-4790-AFD5-235F3FC86D11}"/>
              </a:ext>
            </a:extLst>
          </p:cNvPr>
          <p:cNvSpPr txBox="1"/>
          <p:nvPr/>
        </p:nvSpPr>
        <p:spPr>
          <a:xfrm>
            <a:off x="669537" y="4840557"/>
            <a:ext cx="7272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dirty="0"/>
              <a:t>3</a:t>
            </a:r>
            <a:r>
              <a:rPr lang="en-US" dirty="0"/>
              <a:t>. </a:t>
            </a:r>
            <a:r>
              <a:rPr lang="ru-RU" dirty="0"/>
              <a:t>Interactive </a:t>
            </a:r>
            <a:r>
              <a:rPr lang="ru-RU" dirty="0" err="1"/>
              <a:t>emotional</a:t>
            </a:r>
            <a:r>
              <a:rPr lang="ru-RU" dirty="0"/>
              <a:t> </a:t>
            </a:r>
            <a:r>
              <a:rPr lang="ru-RU" dirty="0" err="1"/>
              <a:t>dyadic</a:t>
            </a:r>
            <a:r>
              <a:rPr lang="ru-RU" dirty="0"/>
              <a:t> </a:t>
            </a:r>
            <a:r>
              <a:rPr lang="ru-RU" dirty="0" err="1"/>
              <a:t>motion</a:t>
            </a:r>
            <a:r>
              <a:rPr lang="ru-RU" dirty="0"/>
              <a:t> </a:t>
            </a:r>
            <a:r>
              <a:rPr lang="ru-RU" dirty="0" err="1"/>
              <a:t>capture</a:t>
            </a:r>
            <a:r>
              <a:rPr lang="ru-RU" dirty="0"/>
              <a:t> </a:t>
            </a:r>
            <a:r>
              <a:rPr lang="ru-RU" dirty="0" err="1"/>
              <a:t>database</a:t>
            </a:r>
            <a:r>
              <a:rPr lang="en-US" dirty="0"/>
              <a:t> (</a:t>
            </a:r>
            <a:r>
              <a:rPr lang="en-US" b="1" dirty="0">
                <a:latin typeface="HSE Sans" panose="02000000000000000000" pitchFamily="2" charset="0"/>
              </a:rPr>
              <a:t>IEMOCAP</a:t>
            </a:r>
            <a:r>
              <a:rPr lang="en-US" dirty="0">
                <a:latin typeface="HSE Sans" panose="02000000000000000000" pitchFamily="2" charset="0"/>
              </a:rPr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580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675843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Общая архитектура предлагаемого решения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hesis">
            <a:extLst>
              <a:ext uri="{FF2B5EF4-FFF2-40B4-BE49-F238E27FC236}">
                <a16:creationId xmlns:a16="http://schemas.microsoft.com/office/drawing/2014/main" id="{EF433B54-F4EC-7146-8C9B-288A38E196AB}"/>
              </a:ext>
            </a:extLst>
          </p:cNvPr>
          <p:cNvSpPr txBox="1"/>
          <p:nvPr/>
        </p:nvSpPr>
        <p:spPr>
          <a:xfrm>
            <a:off x="660400" y="2159000"/>
            <a:ext cx="4299306" cy="3810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just"/>
            <a:r>
              <a:rPr lang="ru-RU" sz="1500" dirty="0">
                <a:solidFill>
                  <a:srgbClr val="1A1A1A"/>
                </a:solidFill>
                <a:latin typeface="HSE Sans" panose="02000000000000000000" pitchFamily="2" charset="0"/>
              </a:rPr>
              <a:t>•  Жёсткий двухстадийный каскад с ранним решением об активации видео ветви
•  Лёгкий бинарный классификатор на входе фильтрует нейтральную речь
•  Обработка видео и бимодальный классификатор запускаются только для эмоциональной речи
•  Возврат метки «нейтрально» без запуска детектора лиц и видео-ветви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9C7289-3EB8-F165-8A73-667819B43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0" y="1905000"/>
            <a:ext cx="4064000" cy="4282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516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аудиогейта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6A876C-057E-374C-819B-5ADA3745C017}"/>
              </a:ext>
            </a:extLst>
          </p:cNvPr>
          <p:cNvSpPr txBox="1"/>
          <p:nvPr/>
        </p:nvSpPr>
        <p:spPr>
          <a:xfrm>
            <a:off x="666489" y="2006600"/>
            <a:ext cx="10708648" cy="762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Сравнивались 4 модели. Аудиогейтом выбран </a:t>
            </a:r>
            <a:r>
              <a:rPr lang="en-US" sz="1400" dirty="0" err="1">
                <a:solidFill>
                  <a:srgbClr val="1A1A1A"/>
                </a:solidFill>
                <a:latin typeface="HSE Sans"/>
              </a:rPr>
              <a:t>MelCNN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 (Log-Mel + CNN):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лучший баланс качества и стоимости — 0,827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acc / 0,734 macro F1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при 3,4 мс и 8,1 МБ.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DistilHuBERT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точнее (0,904), но 89,6 МБ и 15 мс;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Wav2Vec2 — 360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МБ; 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MFCC + SVM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заметно слабее.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1C56F9-CF95-0B15-9D06-0F2DFDED72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13" y="2932312"/>
            <a:ext cx="10942324" cy="2713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8615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Выбор видео-модели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608D0-359F-3E40-BF29-3346EA0AFAC1}"/>
              </a:ext>
            </a:extLst>
          </p:cNvPr>
          <p:cNvSpPr txBox="1"/>
          <p:nvPr/>
        </p:nvSpPr>
        <p:spPr>
          <a:xfrm>
            <a:off x="457200" y="2006600"/>
            <a:ext cx="11328400" cy="762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6 конфигураций «бэкбон × агрегатор»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RAVDESS (8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эмоций). Выбран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EmotiEffNet + BiLSTM (0,683 acc / 0,671 F1): EmotiEffNet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существенно превосходит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MobileNetV3-Small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по качеству при сопоставимом времени инференса (~247–276 мс).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678BCCA-8FC4-B26E-AF90-18FCA4A1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3048000"/>
            <a:ext cx="11176000" cy="3336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530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Итоговая архитектура системы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Intro7">
            <a:extLst>
              <a:ext uri="{FF2B5EF4-FFF2-40B4-BE49-F238E27FC236}">
                <a16:creationId xmlns:a16="http://schemas.microsoft.com/office/drawing/2014/main" id="{186E8000-AD89-7442-A431-F1FCCEFC7CC5}"/>
              </a:ext>
            </a:extLst>
          </p:cNvPr>
          <p:cNvSpPr txBox="1"/>
          <p:nvPr/>
        </p:nvSpPr>
        <p:spPr>
          <a:xfrm>
            <a:off x="666489" y="5165396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25400" rIns="50800" bIns="25400" rtlCol="0" anchor="t">
            <a:noAutofit/>
          </a:bodyPr>
          <a:lstStyle/>
          <a:p>
            <a:pPr algn="l"/>
            <a:r>
              <a:rPr lang="en-US" sz="1400" dirty="0" err="1">
                <a:solidFill>
                  <a:srgbClr val="1A1A1A"/>
                </a:solidFill>
                <a:latin typeface="HSE Sans"/>
              </a:rPr>
              <a:t>MelCNN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-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гейт отсеивает нейтральные реплики; при эмоциональной речи активируется бимодальная голова </a:t>
            </a:r>
            <a:r>
              <a:rPr lang="en-US" sz="1400" dirty="0" err="1">
                <a:solidFill>
                  <a:srgbClr val="1A1A1A"/>
                </a:solidFill>
                <a:latin typeface="HSE Sans"/>
              </a:rPr>
              <a:t>BiLSTMBimodal</a:t>
            </a:r>
            <a:r>
              <a:rPr lang="en-US" sz="1400" dirty="0">
                <a:solidFill>
                  <a:srgbClr val="1A1A1A"/>
                </a:solidFill>
                <a:latin typeface="HSE Sans"/>
              </a:rPr>
              <a:t>.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Лог-мел спектрограмма переиспользуется гейтом и аудио-веткой.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4ACC085-AFBB-EDC2-67B8-EF7CE5FFD4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49" t="2880" r="6791" b="28790"/>
          <a:stretch>
            <a:fillRect/>
          </a:stretch>
        </p:blipFill>
        <p:spPr>
          <a:xfrm>
            <a:off x="1864156" y="2179928"/>
            <a:ext cx="8463687" cy="269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165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Бимодальная голова: позднее слияние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3CE62E5-4DEE-3849-A1F9-FADA7378860B}"/>
              </a:ext>
            </a:extLst>
          </p:cNvPr>
          <p:cNvSpPr txBox="1"/>
          <p:nvPr/>
        </p:nvSpPr>
        <p:spPr>
          <a:xfrm>
            <a:off x="660400" y="1905000"/>
            <a:ext cx="10871200" cy="6350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en-US" sz="1500">
                <a:solidFill>
                  <a:srgbClr val="1A1A1A"/>
                </a:solidFill>
                <a:latin typeface="HSE Sans"/>
              </a:rPr>
              <a:t>Late fusion: </a:t>
            </a:r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аудио- и видео-признаки извлекаются раздельно, конкатенируются в общий вектор (512) и подаются в линейный классификатор на 4 класса. Аудио-ветка повторяет </a:t>
            </a:r>
            <a:r>
              <a:rPr lang="en-US" sz="1500">
                <a:solidFill>
                  <a:srgbClr val="1A1A1A"/>
                </a:solidFill>
                <a:latin typeface="HSE Sans"/>
              </a:rPr>
              <a:t>MelCNN, </a:t>
            </a:r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видео-ветка — </a:t>
            </a:r>
            <a:r>
              <a:rPr lang="en-US" sz="1500">
                <a:solidFill>
                  <a:srgbClr val="1A1A1A"/>
                </a:solidFill>
                <a:latin typeface="HSE Sans"/>
              </a:rPr>
              <a:t>EmotiEffNet + BiLSTM.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33D80E-1855-91F9-8069-073B57C8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710" y="2692400"/>
            <a:ext cx="8496578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057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Матрицы ошибок на IEMOCAP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5EDBD0-F632-E64C-85B2-1998AD022AC5}"/>
              </a:ext>
            </a:extLst>
          </p:cNvPr>
          <p:cNvSpPr txBox="1"/>
          <p:nvPr/>
        </p:nvSpPr>
        <p:spPr>
          <a:xfrm>
            <a:off x="508000" y="1905000"/>
            <a:ext cx="11176000" cy="6096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en-US" sz="1400">
                <a:solidFill>
                  <a:srgbClr val="1A1A1A"/>
                </a:solidFill>
                <a:latin typeface="HSE Sans"/>
              </a:rPr>
              <a:t>Ours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уверенно распознаёт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neutral (0,71)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и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angry (0,62);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основная ошибка — путаница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happy ↔ angry (excited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объединён с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happy).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Трансформерные конкуренты лучше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happy,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но слабее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neutral.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89C21F-85A1-8BB7-F623-BC11DDBF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0" y="2438400"/>
            <a:ext cx="6604000" cy="3975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0044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Эффективность и итоговое сравнение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C6D35F-A3FA-F94B-8683-2A75781DC1B1}"/>
              </a:ext>
            </a:extLst>
          </p:cNvPr>
          <p:cNvSpPr txBox="1"/>
          <p:nvPr/>
        </p:nvSpPr>
        <p:spPr>
          <a:xfrm>
            <a:off x="508000" y="1905000"/>
            <a:ext cx="11176000" cy="584200"/>
          </a:xfrm>
          <a:prstGeom prst="rect">
            <a:avLst/>
          </a:prstGeom>
          <a:noFill/>
        </p:spPr>
        <p:txBody>
          <a:bodyPr vertOverflow="overflow" vert="horz" wrap="square" lIns="50800" tIns="50800" rIns="50800" bIns="50800" rtlCol="0" anchor="t">
            <a:noAutofit/>
          </a:bodyPr>
          <a:lstStyle/>
          <a:p>
            <a:pPr algn="l"/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Предложенная модель достигает парето-оптимума: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UAR 0,509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и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Macro-F1 0,494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при размере всего 37,3 МБ и времени 216 мс. Конкуренты на </a:t>
            </a:r>
            <a:r>
              <a:rPr lang="en-US" sz="1400">
                <a:solidFill>
                  <a:srgbClr val="1A1A1A"/>
                </a:solidFill>
                <a:latin typeface="HSE Sans"/>
              </a:rPr>
              <a:t>Wav2Vec2 — ~379 </a:t>
            </a:r>
            <a:r>
              <a:rPr lang="ru-RU" sz="1400">
                <a:solidFill>
                  <a:srgbClr val="1A1A1A"/>
                </a:solidFill>
                <a:latin typeface="HSE Sans" panose="02000000000000000000" pitchFamily="2" charset="0"/>
              </a:rPr>
              <a:t>МБ и ~610 мс при более низком качестве.</a:t>
            </a:r>
            <a:endParaRPr lang="en-US" sz="1400" dirty="0">
              <a:solidFill>
                <a:srgbClr val="1A1A1A"/>
              </a:solidFill>
              <a:latin typeface="HSE San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1CBF05-3900-DF2B-9B8C-22D06B85B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420" y="2540000"/>
            <a:ext cx="7929158" cy="39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7182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Прототип реального времени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142098-D07C-234B-AD57-80716B005A0E}"/>
              </a:ext>
            </a:extLst>
          </p:cNvPr>
          <p:cNvSpPr txBox="1"/>
          <p:nvPr/>
        </p:nvSpPr>
        <p:spPr>
          <a:xfrm>
            <a:off x="660400" y="1905000"/>
            <a:ext cx="10871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500">
                <a:solidFill>
                  <a:srgbClr val="1A1A1A"/>
                </a:solidFill>
                <a:latin typeface="HSE Sans" panose="02000000000000000000" pitchFamily="2" charset="0"/>
              </a:rPr>
              <a:t>Прототип повторяет логику финальной модели и работает в три параллельных потока:</a:t>
            </a:r>
            <a:endParaRPr lang="en-US" sz="15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6DFC2F28-8C31-E147-B6D8-7AF9C7E7C503}"/>
              </a:ext>
            </a:extLst>
          </p:cNvPr>
          <p:cNvSpPr/>
          <p:nvPr/>
        </p:nvSpPr>
        <p:spPr>
          <a:xfrm>
            <a:off x="6604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F4E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854243-6D16-CD44-B8E9-C768C3E2D949}"/>
              </a:ext>
            </a:extLst>
          </p:cNvPr>
          <p:cNvSpPr/>
          <p:nvPr/>
        </p:nvSpPr>
        <p:spPr>
          <a:xfrm>
            <a:off x="660400" y="2413000"/>
            <a:ext cx="3454400" cy="482600"/>
          </a:xfrm>
          <a:prstGeom prst="rect">
            <a:avLst/>
          </a:prstGeom>
          <a:solidFill>
            <a:srgbClr val="1F4E9B"/>
          </a:solidFill>
          <a:ln w="19050" cap="flat" cmpd="sng" algn="ctr">
            <a:solidFill>
              <a:srgbClr val="1E4D9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Аудио-поток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DD06-2F4E-1B43-A052-2555203CDFE7}"/>
              </a:ext>
            </a:extLst>
          </p:cNvPr>
          <p:cNvSpPr txBox="1"/>
          <p:nvPr/>
        </p:nvSpPr>
        <p:spPr>
          <a:xfrm>
            <a:off x="8382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Непрерывно опрашивает микрофон
• 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Silero VAD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сегментирует речь на отдельные фразы
•  Накопление в буфере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EAFA8D6-A064-9746-8649-2931C68410AD}"/>
              </a:ext>
            </a:extLst>
          </p:cNvPr>
          <p:cNvSpPr/>
          <p:nvPr/>
        </p:nvSpPr>
        <p:spPr>
          <a:xfrm>
            <a:off x="43688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2E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FA7017-7267-ED41-B40E-20A600152EE1}"/>
              </a:ext>
            </a:extLst>
          </p:cNvPr>
          <p:cNvSpPr/>
          <p:nvPr/>
        </p:nvSpPr>
        <p:spPr>
          <a:xfrm>
            <a:off x="4368800" y="2413000"/>
            <a:ext cx="3454400" cy="482600"/>
          </a:xfrm>
          <a:prstGeom prst="rect">
            <a:avLst/>
          </a:prstGeom>
          <a:solidFill>
            <a:srgbClr val="2F7D5B"/>
          </a:solidFill>
          <a:ln w="19050" cap="flat" cmpd="sng" algn="ctr">
            <a:solidFill>
              <a:srgbClr val="2F7D5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Видео-поток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BC6F8F-2363-154C-B13B-33FA73D1EBF5}"/>
              </a:ext>
            </a:extLst>
          </p:cNvPr>
          <p:cNvSpPr txBox="1"/>
          <p:nvPr/>
        </p:nvSpPr>
        <p:spPr>
          <a:xfrm>
            <a:off x="45466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Читает кадры с веб-камеры в фоне
•  Кольцевой буфер ~3 секунды
•  Готов к выборке 16 кадров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33FB9B-9223-C84F-B980-75594DF4CEB6}"/>
              </a:ext>
            </a:extLst>
          </p:cNvPr>
          <p:cNvSpPr/>
          <p:nvPr/>
        </p:nvSpPr>
        <p:spPr>
          <a:xfrm>
            <a:off x="8077200" y="2413000"/>
            <a:ext cx="3454400" cy="2159000"/>
          </a:xfrm>
          <a:prstGeom prst="roundRect">
            <a:avLst/>
          </a:prstGeom>
          <a:solidFill>
            <a:srgbClr val="E8EEF7"/>
          </a:solidFill>
          <a:ln w="1905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8022F8A-915B-BE4A-8405-0AF4C78BFF65}"/>
              </a:ext>
            </a:extLst>
          </p:cNvPr>
          <p:cNvSpPr/>
          <p:nvPr/>
        </p:nvSpPr>
        <p:spPr>
          <a:xfrm>
            <a:off x="8077200" y="2413000"/>
            <a:ext cx="3454400" cy="482600"/>
          </a:xfrm>
          <a:prstGeom prst="rect">
            <a:avLst/>
          </a:prstGeom>
          <a:solidFill>
            <a:schemeClr val="tx1"/>
          </a:solidFill>
          <a:ln w="19050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01600" tIns="25400" rIns="101600" bIns="25400" rtlCol="0" anchor="ctr" anchorCtr="0">
            <a:noAutofit/>
          </a:bodyPr>
          <a:lstStyle/>
          <a:p>
            <a:pPr algn="ctr"/>
            <a:r>
              <a:rPr lang="ru-RU" sz="1600" b="1">
                <a:solidFill>
                  <a:srgbClr val="FFFFFF"/>
                </a:solidFill>
              </a:rPr>
              <a:t>Поток инференса</a:t>
            </a:r>
            <a:endParaRPr lang="en-US" sz="1600" b="1">
              <a:solidFill>
                <a:srgbClr val="FFFFFF"/>
              </a:solidFill>
              <a:latin typeface="HSE San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FE2D7E-B081-594D-9FAD-9510023008B9}"/>
              </a:ext>
            </a:extLst>
          </p:cNvPr>
          <p:cNvSpPr txBox="1"/>
          <p:nvPr/>
        </p:nvSpPr>
        <p:spPr>
          <a:xfrm>
            <a:off x="8255000" y="3022600"/>
            <a:ext cx="3098800" cy="1447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•  Запускается при завершении фразы
•  Каскадный инференс (гейт → голова)
•  Флаг </a:t>
            </a:r>
            <a:r>
              <a:rPr lang="en-US" sz="1300">
                <a:solidFill>
                  <a:srgbClr val="1A1A1A"/>
                </a:solidFill>
                <a:latin typeface="HSE Sans"/>
              </a:rPr>
              <a:t>processing </a:t>
            </a:r>
            <a:r>
              <a:rPr lang="ru-RU" sz="1300">
                <a:solidFill>
                  <a:srgbClr val="1A1A1A"/>
                </a:solidFill>
                <a:latin typeface="HSE Sans" panose="02000000000000000000" pitchFamily="2" charset="0"/>
              </a:rPr>
              <a:t>против гонок</a:t>
            </a:r>
            <a:endParaRPr lang="en-US" sz="1300" dirty="0">
              <a:solidFill>
                <a:srgbClr val="1A1A1A"/>
              </a:solidFill>
              <a:latin typeface="HSE San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B201F6-BB71-0149-93F2-C6C919BCE5F6}"/>
              </a:ext>
            </a:extLst>
          </p:cNvPr>
          <p:cNvSpPr/>
          <p:nvPr/>
        </p:nvSpPr>
        <p:spPr>
          <a:xfrm>
            <a:off x="660400" y="4724400"/>
            <a:ext cx="10871200" cy="1371600"/>
          </a:xfrm>
          <a:prstGeom prst="roundRect">
            <a:avLst/>
          </a:prstGeom>
          <a:solidFill>
            <a:srgbClr val="F4F7FC"/>
          </a:solidFill>
          <a:ln w="12700" cap="flat" cmpd="sng" algn="ctr">
            <a:solidFill>
              <a:srgbClr val="102E5A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>
              <a:spcAft>
                <a:spcPts val="600"/>
              </a:spcAft>
            </a:pPr>
            <a:r>
              <a:rPr lang="ru-RU" sz="1400" b="1" dirty="0">
                <a:solidFill>
                  <a:srgbClr val="2E7D5B"/>
                </a:solidFill>
                <a:latin typeface="HSE Sans" panose="02000000000000000000" pitchFamily="2" charset="0"/>
              </a:rPr>
              <a:t>Производительность: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нейтральные фразы — менее 10 мс, эмоциональные — 60–110 мс на Apple M1 Pro (MPS), без потери плавности интерфейса.</a:t>
            </a:r>
          </a:p>
          <a:p>
            <a:r>
              <a:rPr lang="ru-RU" sz="1400" b="1" dirty="0">
                <a:solidFill>
                  <a:srgbClr val="102E5A"/>
                </a:solidFill>
                <a:latin typeface="HSE Sans" panose="02000000000000000000" pitchFamily="2" charset="0"/>
              </a:rPr>
              <a:t>Ограничения: </a:t>
            </a:r>
            <a:r>
              <a:rPr lang="ru-RU" sz="1400" dirty="0">
                <a:solidFill>
                  <a:srgbClr val="1A1A1A"/>
                </a:solidFill>
                <a:latin typeface="HSE Sans" panose="02000000000000000000" pitchFamily="2" charset="0"/>
              </a:rPr>
              <a:t>нет очереди фраз; возможное расхождение аудио- и видео-окон; обработка одного лица; упрощённый fallback детекции; чувствительность к освещению.</a:t>
            </a:r>
          </a:p>
        </p:txBody>
      </p:sp>
    </p:spTree>
    <p:extLst>
      <p:ext uri="{BB962C8B-B14F-4D97-AF65-F5344CB8AC3E}">
        <p14:creationId xmlns:p14="http://schemas.microsoft.com/office/powerpoint/2010/main" val="3272054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Заголовок 2">
            <a:extLst>
              <a:ext uri="{FF2B5EF4-FFF2-40B4-BE49-F238E27FC236}">
                <a16:creationId xmlns:a16="http://schemas.microsoft.com/office/drawing/2014/main" id="{9BF64647-BA7F-C64D-E3FA-FB6C83CF295F}"/>
              </a:ext>
            </a:extLst>
          </p:cNvPr>
          <p:cNvSpPr txBox="1">
            <a:spLocks/>
          </p:cNvSpPr>
          <p:nvPr/>
        </p:nvSpPr>
        <p:spPr>
          <a:xfrm>
            <a:off x="666489" y="1160924"/>
            <a:ext cx="5094599" cy="802343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i="0" kern="1200">
                <a:solidFill>
                  <a:schemeClr val="tx1"/>
                </a:solidFill>
                <a:latin typeface="HSE Sans" panose="02000000000000000000" pitchFamily="2" charset="0"/>
                <a:ea typeface="+mj-ea"/>
                <a:cs typeface="+mj-cs"/>
              </a:defRPr>
            </a:lvl1pPr>
          </a:lstStyle>
          <a:p>
            <a:r>
              <a:rPr lang="ru-RU" b="1" dirty="0"/>
              <a:t>Заключение</a:t>
            </a:r>
          </a:p>
        </p:txBody>
      </p:sp>
      <p:sp>
        <p:nvSpPr>
          <p:cNvPr id="17" name="Текст 4">
            <a:extLst>
              <a:ext uri="{FF2B5EF4-FFF2-40B4-BE49-F238E27FC236}">
                <a16:creationId xmlns:a16="http://schemas.microsoft.com/office/drawing/2014/main" id="{C6642543-AAFE-405A-C69F-4ADB20EF03A0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18" name="Текст 5">
            <a:extLst>
              <a:ext uri="{FF2B5EF4-FFF2-40B4-BE49-F238E27FC236}">
                <a16:creationId xmlns:a16="http://schemas.microsoft.com/office/drawing/2014/main" id="{4949D8FC-408D-1D67-134C-9A8B217B2D50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19" name="Текст 6">
            <a:extLst>
              <a:ext uri="{FF2B5EF4-FFF2-40B4-BE49-F238E27FC236}">
                <a16:creationId xmlns:a16="http://schemas.microsoft.com/office/drawing/2014/main" id="{C38E8207-B0A4-013A-867A-665C45ADC6D4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0DA963-E9B5-6F1D-7BB4-EC614E37D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RU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BA1797D-E1C0-1413-7394-3F0A0E2135E1}"/>
              </a:ext>
            </a:extLst>
          </p:cNvPr>
          <p:cNvSpPr/>
          <p:nvPr/>
        </p:nvSpPr>
        <p:spPr>
          <a:xfrm>
            <a:off x="4576199" y="4584371"/>
            <a:ext cx="3039602" cy="158217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1E435D7-16D5-35BB-B61D-5A76F0935C93}"/>
              </a:ext>
            </a:extLst>
          </p:cNvPr>
          <p:cNvSpPr txBox="1"/>
          <p:nvPr/>
        </p:nvSpPr>
        <p:spPr>
          <a:xfrm>
            <a:off x="4752465" y="4673828"/>
            <a:ext cx="267196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 потоковый real-time прототип: нейтральные фразы обрабатываются менее чем за 10 мс, эмоциональные — за 60–110 мс.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C2300B5-012E-5A1E-8609-08A14F7A17F1}"/>
              </a:ext>
            </a:extLst>
          </p:cNvPr>
          <p:cNvSpPr/>
          <p:nvPr/>
        </p:nvSpPr>
        <p:spPr>
          <a:xfrm>
            <a:off x="4576199" y="2167362"/>
            <a:ext cx="3039602" cy="1853164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BBE6F1-86E3-D0C2-4C58-2B6C2C6389F2}"/>
              </a:ext>
            </a:extLst>
          </p:cNvPr>
          <p:cNvSpPr/>
          <p:nvPr/>
        </p:nvSpPr>
        <p:spPr>
          <a:xfrm>
            <a:off x="8238522" y="2167362"/>
            <a:ext cx="3039602" cy="1853163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27B9441-A64E-62AE-2B59-52F9FDC8C1D2}"/>
              </a:ext>
            </a:extLst>
          </p:cNvPr>
          <p:cNvSpPr/>
          <p:nvPr/>
        </p:nvSpPr>
        <p:spPr>
          <a:xfrm>
            <a:off x="913876" y="2167362"/>
            <a:ext cx="3039602" cy="2509371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80F87565-B390-B77D-C10D-8C5AFEFBACBE}"/>
              </a:ext>
            </a:extLst>
          </p:cNvPr>
          <p:cNvSpPr/>
          <p:nvPr/>
        </p:nvSpPr>
        <p:spPr>
          <a:xfrm>
            <a:off x="8238522" y="4367030"/>
            <a:ext cx="3039602" cy="1799514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2A2146B-9FEF-8C60-91C4-0E80193D2FF1}"/>
              </a:ext>
            </a:extLst>
          </p:cNvPr>
          <p:cNvSpPr/>
          <p:nvPr/>
        </p:nvSpPr>
        <p:spPr>
          <a:xfrm>
            <a:off x="913876" y="4952390"/>
            <a:ext cx="3039602" cy="1264732"/>
          </a:xfrm>
          <a:prstGeom prst="roundRect">
            <a:avLst>
              <a:gd name="adj" fmla="val 19569"/>
            </a:avLst>
          </a:prstGeom>
          <a:noFill/>
          <a:ln w="38100">
            <a:solidFill>
              <a:srgbClr val="0F2B6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56022D-561F-CD5F-6F84-1173545EDCF3}"/>
              </a:ext>
            </a:extLst>
          </p:cNvPr>
          <p:cNvSpPr txBox="1"/>
          <p:nvPr/>
        </p:nvSpPr>
        <p:spPr>
          <a:xfrm>
            <a:off x="4759540" y="2283917"/>
            <a:ext cx="267291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Разработана оригинальная двухстадийная каскадная архитектура с лёгким аудиогейтом MelCNN, отсеивающим нейтральные реплики.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C2B1BF6-7812-4467-A137-CBD2F2444ADD}"/>
              </a:ext>
            </a:extLst>
          </p:cNvPr>
          <p:cNvSpPr txBox="1"/>
          <p:nvPr/>
        </p:nvSpPr>
        <p:spPr>
          <a:xfrm>
            <a:off x="8367951" y="2293724"/>
            <a:ext cx="278074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Реализовано переиспользование одной лог-мел спектрограммы в гейте и аудио-ветви — отказ от тяжёлых энкодеров, итоговый размер 37 МБ.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3674B-DDFB-B86A-5D67-AEDA5D83B2AE}"/>
              </a:ext>
            </a:extLst>
          </p:cNvPr>
          <p:cNvSpPr txBox="1"/>
          <p:nvPr/>
        </p:nvSpPr>
        <p:spPr>
          <a:xfrm>
            <a:off x="1049851" y="2298662"/>
            <a:ext cx="275255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Проанализированы современные подходы SER, FER и MER; выявлено их ключевое ограничение — высокая вычислительная сложность при параллельной обработке модальностей.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90103E-EBA1-7B2D-9E27-E7BA883003B6}"/>
              </a:ext>
            </a:extLst>
          </p:cNvPr>
          <p:cNvSpPr txBox="1"/>
          <p:nvPr/>
        </p:nvSpPr>
        <p:spPr>
          <a:xfrm>
            <a:off x="8421862" y="4466568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RU"/>
            </a:defPPr>
            <a:lvl1pPr algn="just">
              <a:defRPr sz="1400">
                <a:latin typeface="HSE Sans" panose="02000000000000000000" pitchFamily="2" charset="0"/>
              </a:defRPr>
            </a:lvl1pPr>
          </a:lstStyle>
          <a:p>
            <a:pPr algn="just"/>
            <a:r>
              <a:rPr lang="ru-RU" sz="1400" dirty="0">
                <a:latin typeface="HSE Sans" panose="02000000000000000000" pitchFamily="2" charset="0"/>
              </a:rPr>
              <a:t>Практическая ценность результатов. Код доступен на GitHub: </a:t>
            </a:r>
            <a:r>
              <a:rPr lang="en-US" sz="1400" b="1" dirty="0">
                <a:latin typeface="HSE Sans" panose="02000000000000000000" pitchFamily="2" charset="0"/>
              </a:rPr>
              <a:t>github.com/Kaparya/Classification-of-Facial-Expressions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1003BFE-0D32-6BE2-8D37-4EE85F449373}"/>
              </a:ext>
            </a:extLst>
          </p:cNvPr>
          <p:cNvSpPr txBox="1"/>
          <p:nvPr/>
        </p:nvSpPr>
        <p:spPr>
          <a:xfrm>
            <a:off x="1097217" y="4996993"/>
            <a:ext cx="2672919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1400" dirty="0">
                <a:latin typeface="HSE Sans" panose="02000000000000000000" pitchFamily="2" charset="0"/>
              </a:rPr>
              <a:t>Построен единый воспроизводимый LOSO-бенчмарк на IEMOCAP: UAR 0,5094 — лучший результат среди 6 моделей.</a:t>
            </a:r>
          </a:p>
        </p:txBody>
      </p:sp>
    </p:spTree>
    <p:extLst>
      <p:ext uri="{BB962C8B-B14F-4D97-AF65-F5344CB8AC3E}">
        <p14:creationId xmlns:p14="http://schemas.microsoft.com/office/powerpoint/2010/main" val="37742850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50F89-A8D7-ABE2-663D-B37F6E53162D}"/>
              </a:ext>
            </a:extLst>
          </p:cNvPr>
          <p:cNvSpPr txBox="1"/>
          <p:nvPr/>
        </p:nvSpPr>
        <p:spPr>
          <a:xfrm>
            <a:off x="2627838" y="3013501"/>
            <a:ext cx="69363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b="1" dirty="0">
                <a:latin typeface="HSE Sans" panose="02000000000000000000" pitchFamily="2" charset="0"/>
              </a:rPr>
              <a:t>Спасибо за внимание!</a:t>
            </a:r>
            <a:endParaRPr lang="en-RU" sz="4800" b="1" dirty="0">
              <a:latin typeface="HSE Sans" panose="02000000000000000000" pitchFamily="2" charset="0"/>
            </a:endParaRPr>
          </a:p>
        </p:txBody>
      </p:sp>
      <p:sp>
        <p:nvSpPr>
          <p:cNvPr id="6" name="Текст 4">
            <a:extLst>
              <a:ext uri="{FF2B5EF4-FFF2-40B4-BE49-F238E27FC236}">
                <a16:creationId xmlns:a16="http://schemas.microsoft.com/office/drawing/2014/main" id="{3729DA24-8405-CD3A-BD58-BF095EB2ECE9}"/>
              </a:ext>
            </a:extLst>
          </p:cNvPr>
          <p:cNvSpPr txBox="1">
            <a:spLocks/>
          </p:cNvSpPr>
          <p:nvPr/>
        </p:nvSpPr>
        <p:spPr>
          <a:xfrm>
            <a:off x="1143689" y="540904"/>
            <a:ext cx="2070100" cy="4159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chemeClr val="tx1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Факультет информатики, математики и компьютерных наук</a:t>
            </a:r>
          </a:p>
        </p:txBody>
      </p:sp>
      <p:sp>
        <p:nvSpPr>
          <p:cNvPr id="7" name="Текст 5">
            <a:extLst>
              <a:ext uri="{FF2B5EF4-FFF2-40B4-BE49-F238E27FC236}">
                <a16:creationId xmlns:a16="http://schemas.microsoft.com/office/drawing/2014/main" id="{955B5CB5-86AC-C332-6C2B-66568CC24A07}"/>
              </a:ext>
            </a:extLst>
          </p:cNvPr>
          <p:cNvSpPr txBox="1">
            <a:spLocks/>
          </p:cNvSpPr>
          <p:nvPr/>
        </p:nvSpPr>
        <p:spPr>
          <a:xfrm>
            <a:off x="3459162" y="548720"/>
            <a:ext cx="2341003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Классификация выражений лиц с детектированием эмоций в речи</a:t>
            </a:r>
          </a:p>
        </p:txBody>
      </p:sp>
      <p:sp>
        <p:nvSpPr>
          <p:cNvPr id="8" name="Текст 6">
            <a:extLst>
              <a:ext uri="{FF2B5EF4-FFF2-40B4-BE49-F238E27FC236}">
                <a16:creationId xmlns:a16="http://schemas.microsoft.com/office/drawing/2014/main" id="{2F7BAEAD-2084-C0FB-8BD0-9CEB72328C01}"/>
              </a:ext>
            </a:extLst>
          </p:cNvPr>
          <p:cNvSpPr txBox="1">
            <a:spLocks/>
          </p:cNvSpPr>
          <p:nvPr/>
        </p:nvSpPr>
        <p:spPr>
          <a:xfrm>
            <a:off x="6259892" y="548720"/>
            <a:ext cx="2070100" cy="40810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000" b="0" i="0" kern="1200">
                <a:solidFill>
                  <a:srgbClr val="0E2D69"/>
                </a:solidFill>
                <a:latin typeface="HSE Sans" panose="02000000000000000000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Канделов Дамир Русланович </a:t>
            </a:r>
          </a:p>
          <a:p>
            <a:r>
              <a:rPr lang="ru-RU" dirty="0"/>
              <a:t>Группа: 22ПИ-1</a:t>
            </a:r>
          </a:p>
        </p:txBody>
      </p:sp>
    </p:spTree>
    <p:extLst>
      <p:ext uri="{BB962C8B-B14F-4D97-AF65-F5344CB8AC3E}">
        <p14:creationId xmlns:p14="http://schemas.microsoft.com/office/powerpoint/2010/main" val="40625528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21619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Пользовательские 1">
      <a:dk1>
        <a:srgbClr val="0F2C68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000" dirty="0">
            <a:latin typeface="HSE Sans" panose="02000000000000000000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DD4ED33-31C3-364B-B334-F3160050B56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0beb44a-06ef-4079-824f-cf28bc702924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2A9C74E6E830D74E9B0FDDB4017A5417" ma:contentTypeVersion="13" ma:contentTypeDescription="Создание документа." ma:contentTypeScope="" ma:versionID="d4e423622451d608a8a05f4da7a1e1a2">
  <xsd:schema xmlns:xsd="http://www.w3.org/2001/XMLSchema" xmlns:xs="http://www.w3.org/2001/XMLSchema" xmlns:p="http://schemas.microsoft.com/office/2006/metadata/properties" xmlns:ns2="9875bd71-cde8-496c-a136-433f55d5e6d0" xmlns:ns3="e96afe77-3acb-4328-97fc-408e1bde3ecd" targetNamespace="http://schemas.microsoft.com/office/2006/metadata/properties" ma:root="true" ma:fieldsID="4831203c63c08b9f52ea6d3ee0d7a96e" ns2:_="" ns3:_="">
    <xsd:import namespace="9875bd71-cde8-496c-a136-433f55d5e6d0"/>
    <xsd:import namespace="e96afe77-3acb-4328-97fc-408e1bde3e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75bd71-cde8-496c-a136-433f55d5e6d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6afe77-3acb-4328-97fc-408e1bde3ecd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Общий доступ с использованием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Совместно с подробностями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D4651DD-DCCC-4759-B2F6-7F520BDCC2B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875bd71-cde8-496c-a136-433f55d5e6d0"/>
    <ds:schemaRef ds:uri="e96afe77-3acb-4328-97fc-408e1bde3e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34386AA-1848-4C75-B336-1053927CB02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33DAF31-D8A6-49A0-9A5D-8B2EA5B1C511}">
  <ds:schemaRefs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e96afe77-3acb-4328-97fc-408e1bde3ecd"/>
    <ds:schemaRef ds:uri="http://schemas.microsoft.com/office/2006/metadata/properties"/>
    <ds:schemaRef ds:uri="http://purl.org/dc/terms/"/>
    <ds:schemaRef ds:uri="http://www.w3.org/XML/1998/namespace"/>
    <ds:schemaRef ds:uri="http://schemas.openxmlformats.org/package/2006/metadata/core-properties"/>
    <ds:schemaRef ds:uri="9875bd71-cde8-496c-a136-433f55d5e6d0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2351</TotalTime>
  <Words>1422</Words>
  <Application>Microsoft Macintosh PowerPoint</Application>
  <PresentationFormat>Widescreen</PresentationFormat>
  <Paragraphs>163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Calibri Light</vt:lpstr>
      <vt:lpstr>HSE Sans</vt:lpstr>
      <vt:lpstr>Office Theme</vt:lpstr>
      <vt:lpstr>Классификация выражений лиц с детектированием эмоций в речи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Кутьков Юрий Юрьевич</dc:creator>
  <cp:lastModifiedBy>clashoc 28</cp:lastModifiedBy>
  <cp:revision>63</cp:revision>
  <cp:lastPrinted>2021-11-11T13:08:42Z</cp:lastPrinted>
  <dcterms:created xsi:type="dcterms:W3CDTF">2021-11-11T08:52:47Z</dcterms:created>
  <dcterms:modified xsi:type="dcterms:W3CDTF">2026-05-28T19:32:16Z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0x0101002A9C74E6E830D74E9B0FDDB4017A5417</vt:lpwstr>
  </property>
</Properties>
</file>