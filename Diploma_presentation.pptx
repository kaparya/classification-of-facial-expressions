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71" r:id="rId5"/>
    <p:sldId id="302" r:id="rId6"/>
    <p:sldId id="306" r:id="rId7"/>
    <p:sldId id="335" r:id="rId8"/>
    <p:sldId id="332" r:id="rId9"/>
    <p:sldId id="331" r:id="rId10"/>
    <p:sldId id="318" r:id="rId11"/>
    <p:sldId id="341" r:id="rId12"/>
    <p:sldId id="339" r:id="rId13"/>
    <p:sldId id="319" r:id="rId14"/>
    <p:sldId id="320" r:id="rId15"/>
    <p:sldId id="323" r:id="rId16"/>
    <p:sldId id="324" r:id="rId17"/>
    <p:sldId id="327" r:id="rId18"/>
    <p:sldId id="329" r:id="rId19"/>
    <p:sldId id="330" r:id="rId20"/>
    <p:sldId id="285" r:id="rId21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808"/>
    <a:srgbClr val="2F7D5B"/>
    <a:srgbClr val="029C63"/>
    <a:srgbClr val="1E4D9B"/>
    <a:srgbClr val="0F2B69"/>
    <a:srgbClr val="96628C"/>
    <a:srgbClr val="11A0D7"/>
    <a:srgbClr val="E61F3D"/>
    <a:srgbClr val="CD5A5A"/>
    <a:srgbClr val="FFD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6"/>
    <p:restoredTop sz="94707"/>
  </p:normalViewPr>
  <p:slideViewPr>
    <p:cSldViewPr snapToGrid="0" snapToObjects="1">
      <p:cViewPr>
        <p:scale>
          <a:sx n="95" d="100"/>
          <a:sy n="95" d="100"/>
        </p:scale>
        <p:origin x="384" y="92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5/30/26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5/30/26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58" y="2548490"/>
            <a:ext cx="9057327" cy="1411892"/>
          </a:xfrm>
        </p:spPr>
        <p:txBody>
          <a:bodyPr>
            <a:normAutofit/>
          </a:bodyPr>
          <a:lstStyle/>
          <a:p>
            <a:r>
              <a:rPr lang="ru-RU" sz="4000" dirty="0"/>
              <a:t>Классификация выражений лиц с детектированием эмоций в речи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Программная Инженерия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Нижний Новгород</a:t>
            </a:r>
          </a:p>
          <a:p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87204" y="5427304"/>
            <a:ext cx="3003177" cy="386100"/>
          </a:xfrm>
        </p:spPr>
        <p:txBody>
          <a:bodyPr>
            <a:noAutofit/>
          </a:bodyPr>
          <a:lstStyle/>
          <a:p>
            <a:r>
              <a:rPr lang="ru-RU" sz="1050" dirty="0"/>
              <a:t>Выполнил студент группы 22ПИ-1:</a:t>
            </a:r>
          </a:p>
          <a:p>
            <a:r>
              <a:rPr lang="ru-RU" sz="1200" dirty="0"/>
              <a:t>Канделов Дамир Русланович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4BD5903-5BBA-18F6-7C9A-E503C42693C2}"/>
              </a:ext>
            </a:extLst>
          </p:cNvPr>
          <p:cNvSpPr txBox="1">
            <a:spLocks/>
          </p:cNvSpPr>
          <p:nvPr/>
        </p:nvSpPr>
        <p:spPr>
          <a:xfrm>
            <a:off x="1093658" y="4269540"/>
            <a:ext cx="3217950" cy="80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Научный руководитель:</a:t>
            </a:r>
          </a:p>
          <a:p>
            <a:r>
              <a:rPr lang="ru-RU" sz="1200" dirty="0"/>
              <a:t>к.т.н., доцент, кафедра информационных систем и технологий НИУ ВШЭ – Нижний Новгород</a:t>
            </a:r>
          </a:p>
          <a:p>
            <a:r>
              <a:rPr lang="ru-RU" sz="1200" dirty="0"/>
              <a:t>Савченко Людмила Васильевна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FEE5189A-EA6F-12AC-A2B9-572812FCB60E}"/>
              </a:ext>
            </a:extLst>
          </p:cNvPr>
          <p:cNvSpPr txBox="1">
            <a:spLocks/>
          </p:cNvSpPr>
          <p:nvPr/>
        </p:nvSpPr>
        <p:spPr>
          <a:xfrm>
            <a:off x="1093658" y="5075840"/>
            <a:ext cx="3433521" cy="7375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Рецензент:</a:t>
            </a:r>
            <a:endParaRPr lang="en-US" sz="1050" dirty="0"/>
          </a:p>
          <a:p>
            <a:r>
              <a:rPr lang="ru-RU" sz="1200" dirty="0"/>
              <a:t>приглашенный преподаватель базовой кафедры группы компаний «</a:t>
            </a:r>
            <a:r>
              <a:rPr lang="en-US" sz="1200" dirty="0"/>
              <a:t>MERA</a:t>
            </a:r>
            <a:r>
              <a:rPr lang="ru-RU" sz="1200" dirty="0"/>
              <a:t>»</a:t>
            </a:r>
          </a:p>
          <a:p>
            <a:r>
              <a:rPr lang="ru-RU" sz="1200" dirty="0" err="1"/>
              <a:t>Лемайкина</a:t>
            </a:r>
            <a:r>
              <a:rPr lang="ru-RU" sz="1200" dirty="0"/>
              <a:t> Елена Александровна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2070100" cy="415925"/>
          </a:xfrm>
        </p:spPr>
        <p:txBody>
          <a:bodyPr/>
          <a:lstStyle/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341003" cy="408109"/>
          </a:xfrm>
        </p:spPr>
        <p:txBody>
          <a:bodyPr/>
          <a:lstStyle/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C7666-D881-28EB-4A49-9EA84557AE7C}"/>
              </a:ext>
            </a:extLst>
          </p:cNvPr>
          <p:cNvSpPr txBox="1"/>
          <p:nvPr/>
        </p:nvSpPr>
        <p:spPr>
          <a:xfrm>
            <a:off x="678229" y="1651832"/>
            <a:ext cx="10304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SE Sans" panose="02000000000000000000" pitchFamily="2" charset="0"/>
              </a:rPr>
              <a:t>Понимание эмоционального состояния человека позволяет компьютерным системам получать больше информации о состоянии человека, а также отвечать более естественным образом. Это может быть полезно в: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970255-550C-8CD7-9C55-47FBEF2A3AB0}"/>
              </a:ext>
            </a:extLst>
          </p:cNvPr>
          <p:cNvSpPr txBox="1"/>
          <p:nvPr/>
        </p:nvSpPr>
        <p:spPr>
          <a:xfrm>
            <a:off x="4594375" y="4009616"/>
            <a:ext cx="2891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HSE Sans" panose="02000000000000000000" pitchFamily="2" charset="0"/>
              </a:rPr>
              <a:t>Мониторинг</a:t>
            </a:r>
            <a:r>
              <a:rPr lang="en-US" dirty="0">
                <a:latin typeface="HSE Sans" panose="02000000000000000000" pitchFamily="2" charset="0"/>
              </a:rPr>
              <a:t> </a:t>
            </a:r>
            <a:r>
              <a:rPr lang="ru-RU" dirty="0">
                <a:latin typeface="HSE Sans" panose="02000000000000000000" pitchFamily="2" charset="0"/>
              </a:rPr>
              <a:t>обслуживания</a:t>
            </a:r>
          </a:p>
          <a:p>
            <a:pPr algn="ctr"/>
            <a:r>
              <a:rPr lang="ru-RU" dirty="0">
                <a:latin typeface="HSE Sans" panose="02000000000000000000" pitchFamily="2" charset="0"/>
              </a:rPr>
              <a:t>клиентов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38A1E6-075C-F798-037B-21A2F8982A7C}"/>
              </a:ext>
            </a:extLst>
          </p:cNvPr>
          <p:cNvSpPr txBox="1"/>
          <p:nvPr/>
        </p:nvSpPr>
        <p:spPr>
          <a:xfrm>
            <a:off x="8830392" y="4007218"/>
            <a:ext cx="2152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HSE Sans" panose="02000000000000000000" pitchFamily="2" charset="0"/>
              </a:rPr>
              <a:t>Контроль состояния</a:t>
            </a:r>
          </a:p>
          <a:p>
            <a:pPr algn="ctr"/>
            <a:r>
              <a:rPr lang="ru-RU" dirty="0">
                <a:latin typeface="HSE Sans" panose="02000000000000000000" pitchFamily="2" charset="0"/>
              </a:rPr>
              <a:t>водителя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FB14A5-9463-9896-1033-8497F29689BB}"/>
              </a:ext>
            </a:extLst>
          </p:cNvPr>
          <p:cNvSpPr txBox="1"/>
          <p:nvPr/>
        </p:nvSpPr>
        <p:spPr>
          <a:xfrm>
            <a:off x="678230" y="4888847"/>
            <a:ext cx="10304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HSE Sans" panose="02000000000000000000" pitchFamily="2" charset="0"/>
              </a:rPr>
              <a:t>Текущие архитектуры для распознавания эмоций тяжелые, ресурсозатратные или имеют низкие метрики качества, что приводит к высокой стоимости использования таких систем. В данной работе я представляю новую, более эффективную и менее ресурсозатратную </a:t>
            </a:r>
            <a:r>
              <a:rPr lang="ru-RU" sz="1600" i="1" dirty="0">
                <a:latin typeface="HSE Sans" panose="02000000000000000000" pitchFamily="2" charset="0"/>
              </a:rPr>
              <a:t>каскадную</a:t>
            </a:r>
            <a:r>
              <a:rPr lang="ru-RU" sz="1600" dirty="0">
                <a:latin typeface="HSE Sans" panose="02000000000000000000" pitchFamily="2" charset="0"/>
              </a:rPr>
              <a:t> архитектуру.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94BEC0-7A07-45AF-EE3E-6E16A718F3D1}"/>
              </a:ext>
            </a:extLst>
          </p:cNvPr>
          <p:cNvSpPr txBox="1"/>
          <p:nvPr/>
        </p:nvSpPr>
        <p:spPr>
          <a:xfrm>
            <a:off x="678231" y="4490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latin typeface="HSE Sans" panose="02000000000000000000" pitchFamily="2" charset="0"/>
              </a:rPr>
              <a:t>Актуальность</a:t>
            </a:r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42509E92-A773-7C3F-E8E0-BA554B1508C2}"/>
              </a:ext>
            </a:extLst>
          </p:cNvPr>
          <p:cNvSpPr txBox="1">
            <a:spLocks/>
          </p:cNvSpPr>
          <p:nvPr/>
        </p:nvSpPr>
        <p:spPr>
          <a:xfrm>
            <a:off x="768318" y="1295394"/>
            <a:ext cx="6313799" cy="415926"/>
          </a:xfrm>
          <a:prstGeom prst="rect">
            <a:avLst/>
          </a:prstGeom>
        </p:spPr>
        <p:txBody>
          <a:bodyPr vert="horz" lIns="0" tIns="0" rIns="0" bIns="0" rtlCol="0" anchor="t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Эмоции в человеко-машинном взаимодействии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3B6D0-97D1-92E8-4120-674805D734DA}"/>
              </a:ext>
            </a:extLst>
          </p:cNvPr>
          <p:cNvSpPr txBox="1"/>
          <p:nvPr/>
        </p:nvSpPr>
        <p:spPr>
          <a:xfrm>
            <a:off x="747927" y="4005412"/>
            <a:ext cx="2630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HSE Sans" panose="02000000000000000000" pitchFamily="2" charset="0"/>
              </a:rPr>
              <a:t>Виртуальные ассистенты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198EC-481B-D87C-6C96-7AA7CCE0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59" b="11154"/>
          <a:stretch>
            <a:fillRect/>
          </a:stretch>
        </p:blipFill>
        <p:spPr>
          <a:xfrm>
            <a:off x="1416555" y="3351364"/>
            <a:ext cx="1293527" cy="654048"/>
          </a:xfrm>
          <a:prstGeom prst="roundRect">
            <a:avLst/>
          </a:prstGeom>
          <a:ln>
            <a:solidFill>
              <a:srgbClr val="0F2B69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458F1C-2E46-BA6C-57F4-05D583C60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7" y="2356680"/>
            <a:ext cx="2057794" cy="748925"/>
          </a:xfrm>
          <a:prstGeom prst="roundRect">
            <a:avLst/>
          </a:prstGeom>
          <a:ln>
            <a:solidFill>
              <a:srgbClr val="0F2B69"/>
            </a:solidFill>
          </a:ln>
        </p:spPr>
      </p:pic>
      <p:pic>
        <p:nvPicPr>
          <p:cNvPr id="1028" name="Picture 4" descr="Как улучшить обслуживание клиентов – улучшаем качество клиентского сервиса">
            <a:extLst>
              <a:ext uri="{FF2B5EF4-FFF2-40B4-BE49-F238E27FC236}">
                <a16:creationId xmlns:a16="http://schemas.microsoft.com/office/drawing/2014/main" id="{739A5663-5041-09BD-5A65-8F939CDD8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28" b="15843"/>
          <a:stretch>
            <a:fillRect/>
          </a:stretch>
        </p:blipFill>
        <p:spPr bwMode="auto">
          <a:xfrm>
            <a:off x="4578427" y="2355908"/>
            <a:ext cx="2923072" cy="1651309"/>
          </a:xfrm>
          <a:prstGeom prst="roundRect">
            <a:avLst>
              <a:gd name="adj" fmla="val 9699"/>
            </a:avLst>
          </a:prstGeom>
          <a:ln>
            <a:solidFill>
              <a:srgbClr val="0F2B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«Это не лечится»: каким людям не стоит водить автомобиль - Газета.Ru |  Новости">
            <a:extLst>
              <a:ext uri="{FF2B5EF4-FFF2-40B4-BE49-F238E27FC236}">
                <a16:creationId xmlns:a16="http://schemas.microsoft.com/office/drawing/2014/main" id="{97CBA637-DF2C-8FC7-4E43-B5DB70D89E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3"/>
          <a:stretch>
            <a:fillRect/>
          </a:stretch>
        </p:blipFill>
        <p:spPr bwMode="auto">
          <a:xfrm>
            <a:off x="8813289" y="2355909"/>
            <a:ext cx="2169744" cy="1651309"/>
          </a:xfrm>
          <a:prstGeom prst="roundRect">
            <a:avLst>
              <a:gd name="adj" fmla="val 6723"/>
            </a:avLst>
          </a:prstGeom>
          <a:ln>
            <a:solidFill>
              <a:srgbClr val="0F2B6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EE90E2-18D1-C678-DFDD-799BF112B65D}"/>
              </a:ext>
            </a:extLst>
          </p:cNvPr>
          <p:cNvSpPr txBox="1"/>
          <p:nvPr/>
        </p:nvSpPr>
        <p:spPr>
          <a:xfrm>
            <a:off x="678230" y="5790658"/>
            <a:ext cx="1459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400" dirty="0">
                <a:latin typeface="HSE Sans" panose="02000000000000000000" pitchFamily="2" charset="0"/>
              </a:rPr>
              <a:t>Практическая потребность</a:t>
            </a:r>
            <a:endParaRPr lang="en-US" sz="1400" dirty="0">
              <a:latin typeface="HSE Sans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466055-9C7E-361B-58A2-63FCA57B3B47}"/>
              </a:ext>
            </a:extLst>
          </p:cNvPr>
          <p:cNvSpPr txBox="1"/>
          <p:nvPr/>
        </p:nvSpPr>
        <p:spPr>
          <a:xfrm>
            <a:off x="2605330" y="5790138"/>
            <a:ext cx="23992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400" dirty="0">
                <a:latin typeface="HSE Sans" panose="02000000000000000000" pitchFamily="2" charset="0"/>
              </a:rPr>
              <a:t>Отсутствие в литературе каскадных </a:t>
            </a:r>
            <a:r>
              <a:rPr lang="en-US" sz="1400" dirty="0">
                <a:latin typeface="HSE Sans" panose="02000000000000000000" pitchFamily="2" charset="0"/>
              </a:rPr>
              <a:t>MER </a:t>
            </a:r>
            <a:r>
              <a:rPr lang="ru-RU" sz="1400" dirty="0">
                <a:latin typeface="HSE Sans" panose="02000000000000000000" pitchFamily="2" charset="0"/>
              </a:rPr>
              <a:t>систем с аудиогейтом</a:t>
            </a:r>
            <a:endParaRPr lang="en-US" sz="1400" dirty="0">
              <a:latin typeface="HSE Sans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071027-5388-7E4C-CDC8-E70D23D26904}"/>
              </a:ext>
            </a:extLst>
          </p:cNvPr>
          <p:cNvSpPr txBox="1"/>
          <p:nvPr/>
        </p:nvSpPr>
        <p:spPr>
          <a:xfrm>
            <a:off x="5930746" y="5790138"/>
            <a:ext cx="23992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400" dirty="0">
                <a:latin typeface="HSE Sans" panose="02000000000000000000" pitchFamily="2" charset="0"/>
              </a:rPr>
              <a:t>Необходимость в прозрачной методологии оценки качества</a:t>
            </a:r>
            <a:endParaRPr lang="en-US" sz="1400" dirty="0">
              <a:latin typeface="HSE Sans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1D457C-C015-2A03-C164-50F7C2788D13}"/>
              </a:ext>
            </a:extLst>
          </p:cNvPr>
          <p:cNvSpPr txBox="1"/>
          <p:nvPr/>
        </p:nvSpPr>
        <p:spPr>
          <a:xfrm>
            <a:off x="8747831" y="5790138"/>
            <a:ext cx="26526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400" dirty="0">
                <a:latin typeface="HSE Sans" panose="02000000000000000000" pitchFamily="2" charset="0"/>
              </a:rPr>
              <a:t>Возможность значительного сокращения вычислительных затрат без потери качества</a:t>
            </a:r>
            <a:endParaRPr lang="en-US" sz="14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01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903921" y="1408532"/>
            <a:ext cx="2268230" cy="41592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Цель работы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8BF91-77AF-5F00-BE94-6D57F3A4553B}"/>
              </a:ext>
            </a:extLst>
          </p:cNvPr>
          <p:cNvSpPr txBox="1"/>
          <p:nvPr/>
        </p:nvSpPr>
        <p:spPr>
          <a:xfrm>
            <a:off x="815583" y="1915040"/>
            <a:ext cx="10560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HSE Sans" panose="02000000000000000000" pitchFamily="2" charset="0"/>
              </a:rPr>
              <a:t>Разработка и экспериментальная оценка двухстадийной мультимодальной системы распознавания эмоций, снижающей вычислительные затраты без значимой потери точности классификации.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9624D299-3924-C7CD-7C50-31CD86689DA2}"/>
              </a:ext>
            </a:extLst>
          </p:cNvPr>
          <p:cNvSpPr txBox="1">
            <a:spLocks/>
          </p:cNvSpPr>
          <p:nvPr/>
        </p:nvSpPr>
        <p:spPr>
          <a:xfrm>
            <a:off x="903921" y="2783841"/>
            <a:ext cx="2268230" cy="41592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Задачи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59327D-CADD-DF10-AEEE-D70492B85AF1}"/>
              </a:ext>
            </a:extLst>
          </p:cNvPr>
          <p:cNvSpPr txBox="1"/>
          <p:nvPr/>
        </p:nvSpPr>
        <p:spPr>
          <a:xfrm>
            <a:off x="815583" y="3266441"/>
            <a:ext cx="5116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ru-RU" dirty="0">
                <a:latin typeface="HSE Sans" panose="02000000000000000000" pitchFamily="2" charset="0"/>
              </a:rPr>
              <a:t>Анализ подходов к распознаванию эмоций по речи (SER), выражениям лиц (FER) и по обеим модальностям (MER)</a:t>
            </a:r>
          </a:p>
          <a:p>
            <a:pPr marL="228600" indent="-228600" algn="just">
              <a:buAutoNum type="arabicPeriod"/>
            </a:pPr>
            <a:r>
              <a:rPr lang="ru-RU" dirty="0">
                <a:latin typeface="HSE Sans" panose="02000000000000000000" pitchFamily="2" charset="0"/>
              </a:rPr>
              <a:t>Поиск возможностей оптимизации за счёт последовательной обработки аудио и видео</a:t>
            </a:r>
          </a:p>
          <a:p>
            <a:pPr marL="228600" indent="-228600" algn="just">
              <a:buAutoNum type="arabicPeriod"/>
            </a:pPr>
            <a:r>
              <a:rPr lang="ru-RU" dirty="0">
                <a:latin typeface="HSE Sans" panose="02000000000000000000" pitchFamily="2" charset="0"/>
              </a:rPr>
              <a:t>Подготовка данных: анализ, выбор и предобработка датасетов</a:t>
            </a:r>
          </a:p>
          <a:p>
            <a:pPr marL="228600" indent="-228600" algn="just">
              <a:buAutoNum type="arabicPeriod"/>
            </a:pPr>
            <a:r>
              <a:rPr lang="ru-RU" dirty="0">
                <a:latin typeface="HSE Sans" panose="02000000000000000000" pitchFamily="2" charset="0"/>
              </a:rPr>
              <a:t>Разработка аудиогейта и сравнение подходов по качеству, скорости и весу моделей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141F91-5AEE-0FBA-534B-F99B2AFD06E3}"/>
              </a:ext>
            </a:extLst>
          </p:cNvPr>
          <p:cNvSpPr txBox="1"/>
          <p:nvPr/>
        </p:nvSpPr>
        <p:spPr>
          <a:xfrm>
            <a:off x="6259892" y="3266441"/>
            <a:ext cx="51165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5"/>
            </a:pPr>
            <a:r>
              <a:rPr lang="ru-RU" dirty="0">
                <a:latin typeface="HSE Sans" panose="02000000000000000000" pitchFamily="2" charset="0"/>
              </a:rPr>
              <a:t>Построение видео-классификатора: выбор экстрактора признаков и модели-классификатора.</a:t>
            </a:r>
          </a:p>
          <a:p>
            <a:pPr marL="342900" indent="-342900" algn="just">
              <a:buFont typeface="+mj-lt"/>
              <a:buAutoNum type="arabicPeriod" startAt="5"/>
            </a:pPr>
            <a:r>
              <a:rPr lang="ru-RU" dirty="0">
                <a:latin typeface="HSE Sans" panose="02000000000000000000" pitchFamily="2" charset="0"/>
              </a:rPr>
              <a:t>Сборка двухстадийного пайплайна: объединение аудиогейта и классификатора по аудио и видео в одну архитектуру</a:t>
            </a:r>
          </a:p>
          <a:p>
            <a:pPr marL="342900" indent="-342900" algn="just">
              <a:buFont typeface="+mj-lt"/>
              <a:buAutoNum type="arabicPeriod" startAt="5"/>
            </a:pPr>
            <a:r>
              <a:rPr lang="ru-RU" dirty="0">
                <a:latin typeface="HSE Sans" panose="02000000000000000000" pitchFamily="2" charset="0"/>
              </a:rPr>
              <a:t>Бенчмарк для сравнения нашей архитектуры по: качеству, времени и памяти против лучших современных моделей</a:t>
            </a:r>
          </a:p>
          <a:p>
            <a:pPr marL="342900" indent="-342900" algn="just">
              <a:buFont typeface="+mj-lt"/>
              <a:buAutoNum type="arabicPeriod" startAt="5"/>
            </a:pPr>
            <a:r>
              <a:rPr lang="ru-RU" dirty="0">
                <a:latin typeface="HSE Sans" panose="02000000000000000000" pitchFamily="2" charset="0"/>
              </a:rPr>
              <a:t>Реализация прототипа реального времени (веб-камера и микрофон)</a:t>
            </a:r>
          </a:p>
        </p:txBody>
      </p:sp>
    </p:spTree>
    <p:extLst>
      <p:ext uri="{BB962C8B-B14F-4D97-AF65-F5344CB8AC3E}">
        <p14:creationId xmlns:p14="http://schemas.microsoft.com/office/powerpoint/2010/main" val="216138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6100071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Аналитический обзор литературы</a:t>
            </a:r>
            <a:endParaRPr lang="en-US" b="1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rgbClr val="0F2C68"/>
                </a:solidFill>
                <a:latin typeface="Calibri" panose="020F0502020204030204"/>
                <a:ea typeface="+mn-ea"/>
                <a:cs typeface="+mn-cs"/>
              </a:rPr>
              <a:t>Эволюция подходов к распознаванию эмоций</a:t>
            </a:r>
          </a:p>
          <a:p>
            <a:endParaRPr lang="ru-RU" b="1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00" name="stage1"/>
          <p:cNvSpPr/>
          <p:nvPr/>
        </p:nvSpPr>
        <p:spPr>
          <a:xfrm>
            <a:off x="558800" y="2286000"/>
            <a:ext cx="2578100" cy="3175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6C7A8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01" name="badge1"/>
          <p:cNvSpPr/>
          <p:nvPr/>
        </p:nvSpPr>
        <p:spPr>
          <a:xfrm>
            <a:off x="711200" y="2463800"/>
            <a:ext cx="431800" cy="431800"/>
          </a:xfrm>
          <a:prstGeom prst="ellipse">
            <a:avLst/>
          </a:prstGeom>
          <a:solidFill>
            <a:srgbClr val="6C7A89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HSE Sans"/>
              </a:rPr>
              <a:t>1</a:t>
            </a:r>
          </a:p>
        </p:txBody>
      </p:sp>
      <p:sp>
        <p:nvSpPr>
          <p:cNvPr id="202" name="title1"/>
          <p:cNvSpPr/>
          <p:nvPr/>
        </p:nvSpPr>
        <p:spPr>
          <a:xfrm>
            <a:off x="1270000" y="2463800"/>
            <a:ext cx="1739900" cy="431800"/>
          </a:xfrm>
          <a:prstGeom prst="rect">
            <a:avLst/>
          </a:prstGeom>
          <a:noFill/>
        </p:spPr>
        <p:txBody>
          <a:bodyPr lIns="0" tIns="0" rIns="0" bIns="0" anchor="ctr">
            <a:normAutofit lnSpcReduction="10000"/>
          </a:bodyPr>
          <a:lstStyle/>
          <a:p>
            <a:r>
              <a:rPr lang="ru-RU" sz="1500" b="1" dirty="0">
                <a:solidFill>
                  <a:srgbClr val="6C7A89"/>
                </a:solidFill>
                <a:latin typeface="HSE Sans"/>
              </a:rPr>
              <a:t>Классические методы</a:t>
            </a:r>
          </a:p>
        </p:txBody>
      </p:sp>
      <p:sp>
        <p:nvSpPr>
          <p:cNvPr id="203" name="body1"/>
          <p:cNvSpPr/>
          <p:nvPr/>
        </p:nvSpPr>
        <p:spPr>
          <a:xfrm>
            <a:off x="711200" y="3022600"/>
            <a:ext cx="2273300" cy="2286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Ручной подбор признаков</a:t>
            </a:r>
          </a:p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Просодика и MFCC, SVM</a:t>
            </a:r>
          </a:p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FER: каскады Хаара, HOG</a:t>
            </a:r>
          </a:p>
        </p:txBody>
      </p:sp>
      <p:sp>
        <p:nvSpPr>
          <p:cNvPr id="204" name="stage2"/>
          <p:cNvSpPr/>
          <p:nvPr/>
        </p:nvSpPr>
        <p:spPr>
          <a:xfrm>
            <a:off x="3390900" y="2286000"/>
            <a:ext cx="2578100" cy="3175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05" name="badge2"/>
          <p:cNvSpPr/>
          <p:nvPr/>
        </p:nvSpPr>
        <p:spPr>
          <a:xfrm>
            <a:off x="3543300" y="2463800"/>
            <a:ext cx="431800" cy="4318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HSE Sans"/>
              </a:rPr>
              <a:t>2</a:t>
            </a:r>
          </a:p>
        </p:txBody>
      </p:sp>
      <p:sp>
        <p:nvSpPr>
          <p:cNvPr id="206" name="title2"/>
          <p:cNvSpPr/>
          <p:nvPr/>
        </p:nvSpPr>
        <p:spPr>
          <a:xfrm>
            <a:off x="4102100" y="2463800"/>
            <a:ext cx="1739900" cy="4318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r>
              <a:rPr lang="ru-RU" sz="1500" b="1" dirty="0">
                <a:solidFill>
                  <a:srgbClr val="2E86C1"/>
                </a:solidFill>
                <a:latin typeface="HSE Sans"/>
              </a:rPr>
              <a:t>Глубокое обучение</a:t>
            </a:r>
          </a:p>
        </p:txBody>
      </p:sp>
      <p:sp>
        <p:nvSpPr>
          <p:cNvPr id="207" name="body2"/>
          <p:cNvSpPr/>
          <p:nvPr/>
        </p:nvSpPr>
        <p:spPr>
          <a:xfrm>
            <a:off x="3543300" y="3022600"/>
            <a:ext cx="2273300" cy="2286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CNN извлекают признаки автоматически</a:t>
            </a:r>
          </a:p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Отказ от ручного проектирования</a:t>
            </a:r>
          </a:p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Рост точности FER и SER</a:t>
            </a:r>
          </a:p>
        </p:txBody>
      </p:sp>
      <p:sp>
        <p:nvSpPr>
          <p:cNvPr id="208" name="stage3"/>
          <p:cNvSpPr/>
          <p:nvPr/>
        </p:nvSpPr>
        <p:spPr>
          <a:xfrm>
            <a:off x="6223000" y="2286000"/>
            <a:ext cx="2578100" cy="3175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8E44A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09" name="badge3"/>
          <p:cNvSpPr/>
          <p:nvPr/>
        </p:nvSpPr>
        <p:spPr>
          <a:xfrm>
            <a:off x="6375400" y="2463800"/>
            <a:ext cx="431800" cy="4318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HSE Sans"/>
              </a:rPr>
              <a:t>3</a:t>
            </a:r>
          </a:p>
        </p:txBody>
      </p:sp>
      <p:sp>
        <p:nvSpPr>
          <p:cNvPr id="210" name="title3"/>
          <p:cNvSpPr/>
          <p:nvPr/>
        </p:nvSpPr>
        <p:spPr>
          <a:xfrm>
            <a:off x="6934200" y="2463800"/>
            <a:ext cx="1739900" cy="4318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r>
              <a:rPr lang="ru-RU" sz="1500" b="1" dirty="0">
                <a:solidFill>
                  <a:srgbClr val="8E44AD"/>
                </a:solidFill>
                <a:latin typeface="HSE Sans"/>
              </a:rPr>
              <a:t>SSL-трансформеры</a:t>
            </a:r>
          </a:p>
        </p:txBody>
      </p:sp>
      <p:sp>
        <p:nvSpPr>
          <p:cNvPr id="211" name="body3"/>
          <p:cNvSpPr/>
          <p:nvPr/>
        </p:nvSpPr>
        <p:spPr>
          <a:xfrm>
            <a:off x="6375400" y="3022600"/>
            <a:ext cx="2273300" cy="2286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Wav2Vec 2.0, DistilHuBERT</a:t>
            </a:r>
          </a:p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Предобучение на больших корпусах</a:t>
            </a:r>
          </a:p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Высокая точность, но тяжёлые</a:t>
            </a:r>
          </a:p>
        </p:txBody>
      </p:sp>
      <p:sp>
        <p:nvSpPr>
          <p:cNvPr id="212" name="stage4"/>
          <p:cNvSpPr/>
          <p:nvPr/>
        </p:nvSpPr>
        <p:spPr>
          <a:xfrm>
            <a:off x="9055100" y="2286000"/>
            <a:ext cx="2578100" cy="3175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16A08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13" name="badge4"/>
          <p:cNvSpPr/>
          <p:nvPr/>
        </p:nvSpPr>
        <p:spPr>
          <a:xfrm>
            <a:off x="9207500" y="2463800"/>
            <a:ext cx="431800" cy="43180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HSE Sans"/>
              </a:rPr>
              <a:t>4</a:t>
            </a:r>
          </a:p>
        </p:txBody>
      </p:sp>
      <p:sp>
        <p:nvSpPr>
          <p:cNvPr id="214" name="title4"/>
          <p:cNvSpPr/>
          <p:nvPr/>
        </p:nvSpPr>
        <p:spPr>
          <a:xfrm>
            <a:off x="9766300" y="2463800"/>
            <a:ext cx="1739900" cy="4318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r>
              <a:rPr lang="ru-RU" sz="1500" b="1" dirty="0">
                <a:solidFill>
                  <a:srgbClr val="16A085"/>
                </a:solidFill>
                <a:latin typeface="HSE Sans"/>
              </a:rPr>
              <a:t>Мультимодальность</a:t>
            </a:r>
          </a:p>
        </p:txBody>
      </p:sp>
      <p:sp>
        <p:nvSpPr>
          <p:cNvPr id="215" name="body4"/>
          <p:cNvSpPr/>
          <p:nvPr/>
        </p:nvSpPr>
        <p:spPr>
          <a:xfrm>
            <a:off x="9207500" y="3022600"/>
            <a:ext cx="2273300" cy="2286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Объединение речи, мимики и текста (MER)</a:t>
            </a:r>
          </a:p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Стратегии слияния модальностей</a:t>
            </a:r>
          </a:p>
          <a:p>
            <a:pPr marL="142875" indent="-142875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ru-RU" sz="1300" dirty="0">
                <a:solidFill>
                  <a:srgbClr val="1A1A1A"/>
                </a:solidFill>
                <a:latin typeface="HSE Sans" panose="02000000000000000000" pitchFamily="2" charset="0"/>
              </a:rPr>
              <a:t>Устойчивость к шуму одной из них</a:t>
            </a:r>
          </a:p>
        </p:txBody>
      </p:sp>
      <p:sp>
        <p:nvSpPr>
          <p:cNvPr id="216" name="arr0"/>
          <p:cNvSpPr/>
          <p:nvPr/>
        </p:nvSpPr>
        <p:spPr>
          <a:xfrm>
            <a:off x="3162300" y="3721100"/>
            <a:ext cx="203200" cy="304800"/>
          </a:xfrm>
          <a:prstGeom prst="rightArrow">
            <a:avLst/>
          </a:prstGeom>
          <a:solidFill>
            <a:srgbClr val="B0BAC9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7" name="arr1"/>
          <p:cNvSpPr/>
          <p:nvPr/>
        </p:nvSpPr>
        <p:spPr>
          <a:xfrm>
            <a:off x="5994400" y="3721100"/>
            <a:ext cx="203200" cy="304800"/>
          </a:xfrm>
          <a:prstGeom prst="rightArrow">
            <a:avLst/>
          </a:prstGeom>
          <a:solidFill>
            <a:srgbClr val="B0BAC9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8" name="arr2"/>
          <p:cNvSpPr/>
          <p:nvPr/>
        </p:nvSpPr>
        <p:spPr>
          <a:xfrm>
            <a:off x="8826500" y="3721100"/>
            <a:ext cx="203200" cy="304800"/>
          </a:xfrm>
          <a:prstGeom prst="rightArrow">
            <a:avLst/>
          </a:prstGeom>
          <a:solidFill>
            <a:srgbClr val="B0BAC9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9" name="takeaway"/>
          <p:cNvSpPr/>
          <p:nvPr/>
        </p:nvSpPr>
        <p:spPr>
          <a:xfrm>
            <a:off x="558800" y="5740400"/>
            <a:ext cx="11074400" cy="736600"/>
          </a:xfrm>
          <a:prstGeom prst="roundRect">
            <a:avLst>
              <a:gd name="adj" fmla="val 12000"/>
            </a:avLst>
          </a:prstGeom>
          <a:solidFill>
            <a:srgbClr val="0F2C68"/>
          </a:solidFill>
          <a:ln>
            <a:noFill/>
          </a:ln>
        </p:spPr>
        <p:txBody>
          <a:bodyPr lIns="144000" tIns="0" rIns="144000" bIns="0" anchor="ctr">
            <a:normAutofit/>
          </a:bodyPr>
          <a:lstStyle/>
          <a:p>
            <a:r>
              <a:rPr lang="ru-RU" sz="1400" b="1" dirty="0">
                <a:solidFill>
                  <a:srgbClr val="FFFFFF"/>
                </a:solidFill>
                <a:latin typeface="HSE Sans"/>
              </a:rPr>
              <a:t>Вывод: </a:t>
            </a:r>
            <a:r>
              <a:rPr lang="ru-RU" sz="1400" dirty="0">
                <a:solidFill>
                  <a:srgbClr val="FFFFFF"/>
                </a:solidFill>
                <a:latin typeface="HSE Sans" panose="02000000000000000000" pitchFamily="2" charset="0"/>
              </a:rPr>
              <a:t>точные мультимодальные модели вычислительно тяжелы — отсюда потребность в лёгких, каскадных решениях для устройств с ограниченными ресурсами.</a:t>
            </a:r>
          </a:p>
        </p:txBody>
      </p:sp>
    </p:spTree>
    <p:extLst>
      <p:ext uri="{BB962C8B-B14F-4D97-AF65-F5344CB8AC3E}">
        <p14:creationId xmlns:p14="http://schemas.microsoft.com/office/powerpoint/2010/main" val="311017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6100071" cy="802343"/>
          </a:xfrm>
          <a:prstGeom prst="rect">
            <a:avLst/>
          </a:prstGeom>
        </p:spPr>
        <p:txBody>
          <a:bodyPr vert="horz" lIns="0" tIns="0" rIns="0" bIns="0" rtlCol="0" anchor="t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Исследование предметной области</a:t>
            </a: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0F2C68"/>
                </a:solidFill>
                <a:latin typeface="Calibri" panose="020F0502020204030204"/>
                <a:ea typeface="+mn-ea"/>
                <a:cs typeface="+mn-cs"/>
              </a:rPr>
              <a:t>Виды определения эмоций по различным модальностям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ru-RU" b="1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1BC534-618A-0E4F-A8FA-BED4A06AFBCD}"/>
              </a:ext>
            </a:extLst>
          </p:cNvPr>
          <p:cNvSpPr/>
          <p:nvPr/>
        </p:nvSpPr>
        <p:spPr>
          <a:xfrm>
            <a:off x="558800" y="2286000"/>
            <a:ext cx="3581400" cy="3810000"/>
          </a:xfrm>
          <a:prstGeom prst="roundRect">
            <a:avLst/>
          </a:prstGeom>
          <a:solidFill>
            <a:srgbClr val="E8EEF7"/>
          </a:solidFill>
          <a:ln w="19050" cap="flat" cmpd="sng" algn="ctr">
            <a:solidFill>
              <a:srgbClr val="1F4E9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AC2AA-AE36-4744-B185-DFACEA92ACA1}"/>
              </a:ext>
            </a:extLst>
          </p:cNvPr>
          <p:cNvSpPr/>
          <p:nvPr/>
        </p:nvSpPr>
        <p:spPr>
          <a:xfrm>
            <a:off x="558800" y="2286000"/>
            <a:ext cx="3581400" cy="635000"/>
          </a:xfrm>
          <a:prstGeom prst="rect">
            <a:avLst/>
          </a:prstGeom>
          <a:solidFill>
            <a:srgbClr val="1F4E9B"/>
          </a:solidFill>
          <a:ln w="19050" cap="flat" cmpd="sng" algn="ctr">
            <a:solidFill>
              <a:srgbClr val="1E4D9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1600" tIns="25400" rIns="101600" bIns="25400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HSE Sans"/>
              </a:rPr>
              <a:t>Speech Emotion Recognition (SER)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E8516-91FB-3949-A256-958854349ABC}"/>
              </a:ext>
            </a:extLst>
          </p:cNvPr>
          <p:cNvSpPr txBox="1"/>
          <p:nvPr/>
        </p:nvSpPr>
        <p:spPr>
          <a:xfrm>
            <a:off x="724487" y="3094125"/>
            <a:ext cx="3327400" cy="304800"/>
          </a:xfrm>
          <a:prstGeom prst="rect">
            <a:avLst/>
          </a:prstGeom>
          <a:noFill/>
        </p:spPr>
        <p:txBody>
          <a:bodyPr vertOverflow="overflow" vert="horz" wrap="square" lIns="25400" tIns="0" rIns="25400" bIns="0" rtlCol="0" anchor="t">
            <a:noAutofit/>
          </a:bodyPr>
          <a:lstStyle/>
          <a:p>
            <a:pPr algn="l"/>
            <a:r>
              <a:rPr lang="ru-RU" sz="1400" dirty="0">
                <a:solidFill>
                  <a:srgbClr val="1A1A1A"/>
                </a:solidFill>
              </a:rPr>
              <a:t>Определение эмоций по речи</a:t>
            </a:r>
            <a:endParaRPr lang="en-US" sz="1400" dirty="0">
              <a:solidFill>
                <a:srgbClr val="1A1A1A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EF2E0-0E84-C846-BE7B-C27C284AEB33}"/>
              </a:ext>
            </a:extLst>
          </p:cNvPr>
          <p:cNvSpPr txBox="1"/>
          <p:nvPr/>
        </p:nvSpPr>
        <p:spPr>
          <a:xfrm>
            <a:off x="736600" y="3561076"/>
            <a:ext cx="3225800" cy="2540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Классика: </a:t>
            </a:r>
            <a:r>
              <a:rPr lang="en-US" sz="1400" dirty="0">
                <a:solidFill>
                  <a:srgbClr val="1A1A1A"/>
                </a:solidFill>
                <a:latin typeface="HSE Sans"/>
              </a:rPr>
              <a:t>MFCC + SVM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, лог-мел спектрограммы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Трансформеры: </a:t>
            </a:r>
            <a:r>
              <a:rPr lang="en-US" sz="1400" dirty="0">
                <a:solidFill>
                  <a:srgbClr val="1A1A1A"/>
                </a:solidFill>
                <a:latin typeface="HSE Sans"/>
              </a:rPr>
              <a:t>Wav2Vec 2.0, DistilHuBERT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HSE Sans"/>
              </a:rPr>
              <a:t>CNN 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на спектральных представлениях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C0AA11-27EF-D749-B825-49D92198B864}"/>
              </a:ext>
            </a:extLst>
          </p:cNvPr>
          <p:cNvSpPr/>
          <p:nvPr/>
        </p:nvSpPr>
        <p:spPr>
          <a:xfrm>
            <a:off x="4305300" y="2286000"/>
            <a:ext cx="3581400" cy="3810000"/>
          </a:xfrm>
          <a:prstGeom prst="roundRect">
            <a:avLst/>
          </a:prstGeom>
          <a:solidFill>
            <a:srgbClr val="E8EEF7"/>
          </a:solidFill>
          <a:ln w="19050" cap="flat" cmpd="sng" algn="ctr">
            <a:solidFill>
              <a:srgbClr val="2E7D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9576DE-F2DC-2048-AF8C-7C9DAABDA50D}"/>
              </a:ext>
            </a:extLst>
          </p:cNvPr>
          <p:cNvSpPr/>
          <p:nvPr/>
        </p:nvSpPr>
        <p:spPr>
          <a:xfrm>
            <a:off x="4305300" y="2286000"/>
            <a:ext cx="3581400" cy="635000"/>
          </a:xfrm>
          <a:prstGeom prst="rect">
            <a:avLst/>
          </a:prstGeom>
          <a:solidFill>
            <a:srgbClr val="2F7D5B"/>
          </a:solidFill>
          <a:ln w="19050" cap="flat" cmpd="sng" algn="ctr">
            <a:solidFill>
              <a:srgbClr val="2F7D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1600" tIns="25400" rIns="101600" bIns="25400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HSE Sans"/>
              </a:rPr>
              <a:t>Facial expression Emotion Recognition (FER)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C742F3-F422-8C42-B0DF-A02566AD766C}"/>
              </a:ext>
            </a:extLst>
          </p:cNvPr>
          <p:cNvSpPr txBox="1"/>
          <p:nvPr/>
        </p:nvSpPr>
        <p:spPr>
          <a:xfrm>
            <a:off x="4432300" y="3066896"/>
            <a:ext cx="3327400" cy="304800"/>
          </a:xfrm>
          <a:prstGeom prst="rect">
            <a:avLst/>
          </a:prstGeom>
          <a:noFill/>
        </p:spPr>
        <p:txBody>
          <a:bodyPr vertOverflow="overflow" vert="horz" wrap="square" lIns="25400" tIns="0" rIns="25400" bIns="0" rtlCol="0" anchor="t">
            <a:noAutofit/>
          </a:bodyPr>
          <a:lstStyle>
            <a:defPPr>
              <a:defRPr lang="en-RU"/>
            </a:defPPr>
            <a:lvl1pPr>
              <a:defRPr sz="1400">
                <a:solidFill>
                  <a:srgbClr val="1A1A1A"/>
                </a:solidFill>
              </a:defRPr>
            </a:lvl1pPr>
          </a:lstStyle>
          <a:p>
            <a:r>
              <a:rPr lang="ru-RU" dirty="0"/>
              <a:t>Определение эмоций по выражению лиц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2BC867-2429-9F40-B79B-AF14B5B51709}"/>
              </a:ext>
            </a:extLst>
          </p:cNvPr>
          <p:cNvSpPr txBox="1"/>
          <p:nvPr/>
        </p:nvSpPr>
        <p:spPr>
          <a:xfrm>
            <a:off x="4483100" y="3561076"/>
            <a:ext cx="3225800" cy="2540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Детекция лиц: </a:t>
            </a:r>
            <a:r>
              <a:rPr lang="en-US" sz="1400" dirty="0">
                <a:solidFill>
                  <a:srgbClr val="1A1A1A"/>
                </a:solidFill>
                <a:latin typeface="HSE Sans"/>
              </a:rPr>
              <a:t>MediaPipe BlazeFace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Лёгкие бэкбоны: </a:t>
            </a:r>
            <a:r>
              <a:rPr lang="en-US" sz="1400" dirty="0">
                <a:solidFill>
                  <a:srgbClr val="1A1A1A"/>
                </a:solidFill>
                <a:latin typeface="HSE Sans"/>
              </a:rPr>
              <a:t>MobileNetV3, EmotiEffNet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Темпоральные агрегаторы: </a:t>
            </a:r>
            <a:r>
              <a:rPr lang="en-US" sz="1400" dirty="0">
                <a:solidFill>
                  <a:srgbClr val="1A1A1A"/>
                </a:solidFill>
                <a:latin typeface="HSE Sans"/>
              </a:rPr>
              <a:t>BiGRU, BiLSTM, TCN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3366672-C854-8746-BA8D-E6CE3CDC44B8}"/>
              </a:ext>
            </a:extLst>
          </p:cNvPr>
          <p:cNvSpPr/>
          <p:nvPr/>
        </p:nvSpPr>
        <p:spPr>
          <a:xfrm>
            <a:off x="8051800" y="2286000"/>
            <a:ext cx="3581400" cy="3810000"/>
          </a:xfrm>
          <a:prstGeom prst="roundRect">
            <a:avLst/>
          </a:prstGeom>
          <a:solidFill>
            <a:srgbClr val="E8EEF7"/>
          </a:solidFill>
          <a:ln w="19050" cap="flat" cmpd="sng" algn="ctr">
            <a:solidFill>
              <a:srgbClr val="102E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82708D-89D8-AD4C-9ADF-3E7F98B2C29E}"/>
              </a:ext>
            </a:extLst>
          </p:cNvPr>
          <p:cNvSpPr/>
          <p:nvPr/>
        </p:nvSpPr>
        <p:spPr>
          <a:xfrm>
            <a:off x="8051800" y="2286000"/>
            <a:ext cx="3581400" cy="635000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1600" tIns="25400" rIns="101600" bIns="25400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HSE Sans"/>
              </a:rPr>
              <a:t>Multimodal Emotion Recognition (MER)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F8AFC4-AF5F-BD47-920B-E2AB5FC0C112}"/>
              </a:ext>
            </a:extLst>
          </p:cNvPr>
          <p:cNvSpPr txBox="1"/>
          <p:nvPr/>
        </p:nvSpPr>
        <p:spPr>
          <a:xfrm>
            <a:off x="8178800" y="3066896"/>
            <a:ext cx="3327400" cy="304800"/>
          </a:xfrm>
          <a:prstGeom prst="rect">
            <a:avLst/>
          </a:prstGeom>
          <a:noFill/>
        </p:spPr>
        <p:txBody>
          <a:bodyPr vertOverflow="overflow" vert="horz" wrap="square" lIns="25400" tIns="0" rIns="25400" bIns="0" rtlCol="0" anchor="t">
            <a:noAutofit/>
          </a:bodyPr>
          <a:lstStyle>
            <a:defPPr>
              <a:defRPr lang="en-RU"/>
            </a:defPPr>
            <a:lvl1pPr>
              <a:defRPr sz="1400">
                <a:solidFill>
                  <a:srgbClr val="1A1A1A"/>
                </a:solidFill>
              </a:defRPr>
            </a:lvl1pPr>
          </a:lstStyle>
          <a:p>
            <a:r>
              <a:rPr lang="ru-RU" dirty="0"/>
              <a:t>Определение эмоций</a:t>
            </a:r>
            <a:r>
              <a:rPr lang="en-US" dirty="0"/>
              <a:t> </a:t>
            </a:r>
            <a:r>
              <a:rPr lang="ru-RU" dirty="0"/>
              <a:t>по двум и более модальностям 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0568C2-DBC8-814F-B1F1-615C9C1B2E5A}"/>
              </a:ext>
            </a:extLst>
          </p:cNvPr>
          <p:cNvSpPr txBox="1"/>
          <p:nvPr/>
        </p:nvSpPr>
        <p:spPr>
          <a:xfrm>
            <a:off x="8229600" y="3561076"/>
            <a:ext cx="3225800" cy="2540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Стратегии слияния модальностей (early / late / hybrid)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Современные архитектуры для </a:t>
            </a:r>
            <a:r>
              <a:rPr lang="en-US" sz="1400" dirty="0">
                <a:solidFill>
                  <a:srgbClr val="1A1A1A"/>
                </a:solidFill>
                <a:latin typeface="HSE Sans"/>
              </a:rPr>
              <a:t>IEMOCAP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Тренд: лёгкие и динамические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36268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50945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Датасеты и аугментация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Канделов Дамир Русланович </a:t>
            </a:r>
          </a:p>
          <a:p>
            <a:r>
              <a:rPr lang="ru-RU" dirty="0">
                <a:solidFill>
                  <a:schemeClr val="tx1"/>
                </a:solidFill>
              </a:rPr>
              <a:t>Группа: 22ПИ-1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6BDA7-65B8-7248-A4BC-256B35919C76}"/>
              </a:ext>
            </a:extLst>
          </p:cNvPr>
          <p:cNvSpPr txBox="1"/>
          <p:nvPr/>
        </p:nvSpPr>
        <p:spPr>
          <a:xfrm>
            <a:off x="896620" y="2514564"/>
            <a:ext cx="3741217" cy="83578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HSE Sans" panose="02000000000000000000" pitchFamily="2" charset="0"/>
              </a:rPr>
              <a:t>1440</a:t>
            </a:r>
            <a:r>
              <a:rPr lang="en-US" sz="1400" dirty="0">
                <a:latin typeface="HSE Sans" panose="02000000000000000000" pitchFamily="2" charset="0"/>
              </a:rPr>
              <a:t> </a:t>
            </a:r>
            <a:r>
              <a:rPr lang="ru-RU" sz="1400" dirty="0">
                <a:latin typeface="HSE Sans" panose="02000000000000000000" pitchFamily="2" charset="0"/>
              </a:rPr>
              <a:t>аудиовизуальных записей </a:t>
            </a:r>
            <a:endParaRPr lang="en-US" sz="1400" dirty="0">
              <a:latin typeface="HSE Sans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HSE Sans" panose="02000000000000000000" pitchFamily="2" charset="0"/>
              </a:rPr>
              <a:t>24 профессиональных актера
8 эмоций
Источник для видео-модели и гейта</a:t>
            </a:r>
            <a:endParaRPr lang="en-US" sz="1400" dirty="0">
              <a:latin typeface="HSE San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E1C880-6384-B443-89F8-97AD2D2BE2EA}"/>
              </a:ext>
            </a:extLst>
          </p:cNvPr>
          <p:cNvSpPr txBox="1"/>
          <p:nvPr/>
        </p:nvSpPr>
        <p:spPr>
          <a:xfrm>
            <a:off x="896620" y="3865981"/>
            <a:ext cx="4684878" cy="78653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2" charset="0"/>
              </a:rPr>
              <a:t>7442 видео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2" charset="0"/>
              </a:rPr>
              <a:t>91 актёр, 48 мужчин и 43 женщины, добровольцы
6 эмоций
Расширяет аудио-данные для гейта</a:t>
            </a:r>
            <a:endParaRPr lang="en-US" sz="1300" dirty="0">
              <a:latin typeface="HSE Sa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EE0CBB-FAB3-6E47-A61F-20AA1A910F62}"/>
              </a:ext>
            </a:extLst>
          </p:cNvPr>
          <p:cNvSpPr txBox="1"/>
          <p:nvPr/>
        </p:nvSpPr>
        <p:spPr>
          <a:xfrm>
            <a:off x="896620" y="5213503"/>
            <a:ext cx="7003943" cy="88737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2" charset="0"/>
              </a:rPr>
              <a:t>12 часов записанных диалогов (5 сессий)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2" charset="0"/>
              </a:rPr>
              <a:t>Спонтанные импровизации, а также диалоги по заранее написанному сценарию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2" charset="0"/>
              </a:rPr>
              <a:t>10 актеров: 5 мужчин и 5 женщин
4 класса: </a:t>
            </a:r>
            <a:r>
              <a:rPr lang="en-US" sz="1300" dirty="0">
                <a:latin typeface="HSE Sans"/>
              </a:rPr>
              <a:t>neutral, happy, sad, angry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F8336E1-E670-3446-A244-8019EAFEEE85}"/>
              </a:ext>
            </a:extLst>
          </p:cNvPr>
          <p:cNvSpPr/>
          <p:nvPr/>
        </p:nvSpPr>
        <p:spPr>
          <a:xfrm>
            <a:off x="7975600" y="1905000"/>
            <a:ext cx="3810000" cy="4546600"/>
          </a:xfrm>
          <a:prstGeom prst="roundRect">
            <a:avLst/>
          </a:prstGeom>
          <a:solidFill>
            <a:srgbClr val="F4F7FC"/>
          </a:solidFill>
          <a:ln w="12700" cap="flat" cmpd="sng" algn="ctr">
            <a:solidFill>
              <a:srgbClr val="2E7D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81090A-D17C-A74C-A759-4648FBD0CA8F}"/>
              </a:ext>
            </a:extLst>
          </p:cNvPr>
          <p:cNvSpPr txBox="1"/>
          <p:nvPr/>
        </p:nvSpPr>
        <p:spPr>
          <a:xfrm>
            <a:off x="8077200" y="1981200"/>
            <a:ext cx="36068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ctr"/>
            <a:r>
              <a:rPr lang="ru-RU" sz="1300" b="1" dirty="0">
                <a:latin typeface="HSE Sans" panose="02000000000000000000" pitchFamily="2" charset="0"/>
              </a:rPr>
              <a:t>Офлайн-аугментации</a:t>
            </a:r>
            <a:endParaRPr lang="en-US" sz="1300" b="1" dirty="0">
              <a:latin typeface="HSE San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CF86BB-2374-3B46-91C8-DD23FE574D02}"/>
              </a:ext>
            </a:extLst>
          </p:cNvPr>
          <p:cNvSpPr txBox="1"/>
          <p:nvPr/>
        </p:nvSpPr>
        <p:spPr>
          <a:xfrm>
            <a:off x="8140700" y="2579625"/>
            <a:ext cx="3479800" cy="1498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ru-RU" sz="1300" b="1" dirty="0">
                <a:solidFill>
                  <a:srgbClr val="1F4E9B"/>
                </a:solidFill>
                <a:latin typeface="HSE Sans" panose="02000000000000000000" pitchFamily="2" charset="0"/>
              </a:rPr>
              <a:t>Аудио:</a:t>
            </a:r>
          </a:p>
          <a:p>
            <a:pPr marL="0" indent="0">
              <a:buNone/>
            </a:pPr>
            <a:endParaRPr lang="ru-RU" sz="800" b="1" dirty="0">
              <a:solidFill>
                <a:srgbClr val="1F4E9B"/>
              </a:solidFill>
              <a:latin typeface="HSE Sans" panose="02000000000000000000" pitchFamily="2" charset="0"/>
            </a:endParaRP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AddGaussianSNR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гауссовский шум, SNR 5–25 дБ</a:t>
            </a: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Shift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временной сдвиг ±1 с</a:t>
            </a: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Gain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громкость −9…+6 дБ</a:t>
            </a: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TimeStretch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растяжение/сжатие ×0,9–1,1</a:t>
            </a: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PitchShift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сдвиг тона ±2 полутона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AB03B8-4D23-2041-9F3A-FAD9A5663AF5}"/>
              </a:ext>
            </a:extLst>
          </p:cNvPr>
          <p:cNvSpPr txBox="1"/>
          <p:nvPr/>
        </p:nvSpPr>
        <p:spPr>
          <a:xfrm>
            <a:off x="8153400" y="4279925"/>
            <a:ext cx="3479800" cy="190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ru-RU" sz="1300" b="1" dirty="0">
                <a:solidFill>
                  <a:srgbClr val="2E7D5B"/>
                </a:solidFill>
                <a:latin typeface="HSE Sans" panose="02000000000000000000" pitchFamily="2" charset="0"/>
              </a:rPr>
              <a:t>Видео:</a:t>
            </a:r>
          </a:p>
          <a:p>
            <a:pPr marL="0" indent="0">
              <a:buNone/>
            </a:pPr>
            <a:endParaRPr lang="ru-RU" sz="800" b="1" dirty="0">
              <a:solidFill>
                <a:srgbClr val="2E7D5B"/>
              </a:solidFill>
              <a:latin typeface="HSE Sans" panose="02000000000000000000" pitchFamily="2" charset="0"/>
            </a:endParaRP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RandomResizedCrop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случайная обрезка, масштаб 0,85–1,0</a:t>
            </a: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HFlip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зеркальное отражение</a:t>
            </a: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ColorJitter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яркость / контраст / насыщенность</a:t>
            </a: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GaussianBlur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размытие по Гауссу</a:t>
            </a:r>
          </a:p>
          <a:p>
            <a:pPr marL="171450" indent="-171450">
              <a:lnSpc>
                <a:spcPts val="1250"/>
              </a:lnSpc>
              <a:spcAft>
                <a:spcPts val="300"/>
              </a:spcAft>
              <a:buFont typeface="Arial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HSE Sans" panose="02000000000000000000" pitchFamily="2" charset="0"/>
              </a:rPr>
              <a:t>RandomErasing</a:t>
            </a:r>
            <a:r>
              <a:rPr lang="ru-RU" sz="1100" dirty="0">
                <a:solidFill>
                  <a:srgbClr val="1A1A1A"/>
                </a:solidFill>
                <a:latin typeface="HSE Sans" panose="02000000000000000000" pitchFamily="2" charset="0"/>
              </a:rPr>
              <a:t> — случайное стирание (cutout)</a:t>
            </a:r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5D016CD5-829C-2010-254B-20D6B882D503}"/>
              </a:ext>
            </a:extLst>
          </p:cNvPr>
          <p:cNvSpPr txBox="1">
            <a:spLocks/>
          </p:cNvSpPr>
          <p:nvPr/>
        </p:nvSpPr>
        <p:spPr>
          <a:xfrm>
            <a:off x="666489" y="1861070"/>
            <a:ext cx="3525887" cy="41592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sz="1800" b="1" dirty="0"/>
              <a:t>Используемые датасеты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3B039-D87C-7B4E-3028-369F683F91C0}"/>
              </a:ext>
            </a:extLst>
          </p:cNvPr>
          <p:cNvSpPr txBox="1"/>
          <p:nvPr/>
        </p:nvSpPr>
        <p:spPr>
          <a:xfrm>
            <a:off x="604520" y="2145233"/>
            <a:ext cx="727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ru-RU" dirty="0" err="1"/>
              <a:t>Ryerson</a:t>
            </a:r>
            <a:r>
              <a:rPr lang="ru-RU" dirty="0"/>
              <a:t> Audio-Visual Database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Emotional</a:t>
            </a:r>
            <a:r>
              <a:rPr lang="ru-RU" dirty="0"/>
              <a:t> </a:t>
            </a:r>
            <a:r>
              <a:rPr lang="ru-RU" dirty="0" err="1"/>
              <a:t>Speech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Song</a:t>
            </a:r>
            <a:r>
              <a:rPr lang="en-US" dirty="0"/>
              <a:t> (</a:t>
            </a:r>
            <a:r>
              <a:rPr lang="en-US" b="1" dirty="0">
                <a:latin typeface="HSE Sans" panose="02000000000000000000" pitchFamily="2" charset="0"/>
              </a:rPr>
              <a:t>RAVDESS</a:t>
            </a:r>
            <a:r>
              <a:rPr lang="en-US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EEC3B-7375-400B-F2B7-467E7DE6809A}"/>
              </a:ext>
            </a:extLst>
          </p:cNvPr>
          <p:cNvSpPr txBox="1"/>
          <p:nvPr/>
        </p:nvSpPr>
        <p:spPr>
          <a:xfrm>
            <a:off x="604520" y="3496649"/>
            <a:ext cx="727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2. </a:t>
            </a:r>
            <a:r>
              <a:rPr lang="ru-RU" dirty="0"/>
              <a:t>Crowd-</a:t>
            </a:r>
            <a:r>
              <a:rPr lang="ru-RU" dirty="0" err="1"/>
              <a:t>sourced</a:t>
            </a:r>
            <a:r>
              <a:rPr lang="ru-RU" dirty="0"/>
              <a:t> </a:t>
            </a:r>
            <a:r>
              <a:rPr lang="ru-RU" dirty="0" err="1"/>
              <a:t>Emotional</a:t>
            </a:r>
            <a:r>
              <a:rPr lang="ru-RU" dirty="0"/>
              <a:t> </a:t>
            </a:r>
            <a:r>
              <a:rPr lang="ru-RU" dirty="0" err="1"/>
              <a:t>Multimodal</a:t>
            </a:r>
            <a:r>
              <a:rPr lang="ru-RU" dirty="0"/>
              <a:t> </a:t>
            </a:r>
            <a:r>
              <a:rPr lang="ru-RU" dirty="0" err="1"/>
              <a:t>Actors</a:t>
            </a:r>
            <a:r>
              <a:rPr lang="ru-RU" dirty="0"/>
              <a:t> </a:t>
            </a:r>
            <a:r>
              <a:rPr lang="ru-RU" dirty="0" err="1"/>
              <a:t>Dataset</a:t>
            </a:r>
            <a:r>
              <a:rPr lang="en-US" dirty="0"/>
              <a:t> (</a:t>
            </a:r>
            <a:r>
              <a:rPr lang="en-US" b="1" dirty="0">
                <a:latin typeface="HSE Sans" panose="02000000000000000000" pitchFamily="2" charset="0"/>
              </a:rPr>
              <a:t>CREMA-D</a:t>
            </a:r>
            <a:r>
              <a:rPr lang="en-US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1EEC80-1DB7-4790-AFD5-235F3FC86D11}"/>
              </a:ext>
            </a:extLst>
          </p:cNvPr>
          <p:cNvSpPr txBox="1"/>
          <p:nvPr/>
        </p:nvSpPr>
        <p:spPr>
          <a:xfrm>
            <a:off x="669537" y="4840557"/>
            <a:ext cx="727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3</a:t>
            </a:r>
            <a:r>
              <a:rPr lang="en-US" dirty="0"/>
              <a:t>. </a:t>
            </a:r>
            <a:r>
              <a:rPr lang="ru-RU" dirty="0"/>
              <a:t>Interactive </a:t>
            </a:r>
            <a:r>
              <a:rPr lang="ru-RU" dirty="0" err="1"/>
              <a:t>emotional</a:t>
            </a:r>
            <a:r>
              <a:rPr lang="ru-RU" dirty="0"/>
              <a:t> </a:t>
            </a:r>
            <a:r>
              <a:rPr lang="ru-RU" dirty="0" err="1"/>
              <a:t>dyadic</a:t>
            </a:r>
            <a:r>
              <a:rPr lang="ru-RU" dirty="0"/>
              <a:t> </a:t>
            </a:r>
            <a:r>
              <a:rPr lang="ru-RU" dirty="0" err="1"/>
              <a:t>motion</a:t>
            </a:r>
            <a:r>
              <a:rPr lang="ru-RU" dirty="0"/>
              <a:t> </a:t>
            </a:r>
            <a:r>
              <a:rPr lang="ru-RU" dirty="0" err="1"/>
              <a:t>capture</a:t>
            </a:r>
            <a:r>
              <a:rPr lang="ru-RU" dirty="0"/>
              <a:t> </a:t>
            </a:r>
            <a:r>
              <a:rPr lang="ru-RU" dirty="0" err="1"/>
              <a:t>database</a:t>
            </a:r>
            <a:r>
              <a:rPr lang="en-US" dirty="0"/>
              <a:t> (</a:t>
            </a:r>
            <a:r>
              <a:rPr lang="en-US" b="1" dirty="0">
                <a:latin typeface="HSE Sans" panose="02000000000000000000" pitchFamily="2" charset="0"/>
              </a:rPr>
              <a:t>IEMOCAP</a:t>
            </a:r>
            <a:r>
              <a:rPr lang="en-US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8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675843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Общая архитектура предлагаемого решения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" name="Thesis">
            <a:extLst>
              <a:ext uri="{FF2B5EF4-FFF2-40B4-BE49-F238E27FC236}">
                <a16:creationId xmlns:a16="http://schemas.microsoft.com/office/drawing/2014/main" id="{EF433B54-F4EC-7146-8C9B-288A38E196AB}"/>
              </a:ext>
            </a:extLst>
          </p:cNvPr>
          <p:cNvSpPr txBox="1"/>
          <p:nvPr/>
        </p:nvSpPr>
        <p:spPr>
          <a:xfrm>
            <a:off x="1033462" y="2167362"/>
            <a:ext cx="4851400" cy="3810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>
            <a:defPPr>
              <a:defRPr lang="en-RU"/>
            </a:defPPr>
            <a:lvl1pPr marL="285750" indent="-285750">
              <a:buFont typeface="Arial" panose="020B0604020202020204" pitchFamily="34" charset="0"/>
              <a:buChar char="•"/>
              <a:defRPr sz="1400">
                <a:latin typeface="HSE Sans" panose="02000000000000000000" pitchFamily="2" charset="0"/>
              </a:defRPr>
            </a:lvl1pPr>
          </a:lstStyle>
          <a:p>
            <a:r>
              <a:rPr lang="ru-RU" sz="1600" dirty="0"/>
              <a:t>Двухстадийная каскадная архитектура с ранним решением об активации видео ветви</a:t>
            </a:r>
          </a:p>
          <a:p>
            <a:endParaRPr lang="ru-RU" sz="1600" dirty="0"/>
          </a:p>
          <a:p>
            <a:r>
              <a:rPr lang="ru-RU" sz="1600" dirty="0"/>
              <a:t>Лёгкий бинарный классификатор на входе фильтрует нейтральную речь</a:t>
            </a:r>
          </a:p>
          <a:p>
            <a:endParaRPr lang="ru-RU" sz="1600" dirty="0"/>
          </a:p>
          <a:p>
            <a:r>
              <a:rPr lang="ru-RU" sz="1600" dirty="0"/>
              <a:t>Обработка видео и бимодальный классификатор запускаются только для эмоциональной речи</a:t>
            </a:r>
          </a:p>
          <a:p>
            <a:endParaRPr lang="ru-RU" sz="1600" dirty="0"/>
          </a:p>
          <a:p>
            <a:r>
              <a:rPr lang="ru-RU" sz="1600" dirty="0"/>
              <a:t>Возврат метки «нейтрально» без запуска детектора лиц и видео-ветви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C7289-3EB8-F165-8A73-667819B43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111" y="1160924"/>
            <a:ext cx="4851400" cy="5112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7EF551-942F-6733-AFE0-25699B5ACC45}"/>
              </a:ext>
            </a:extLst>
          </p:cNvPr>
          <p:cNvSpPr txBox="1"/>
          <p:nvPr/>
        </p:nvSpPr>
        <p:spPr>
          <a:xfrm>
            <a:off x="7971649" y="6232322"/>
            <a:ext cx="22563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dirty="0">
                <a:latin typeface="HSE Sans" panose="02000000000000000000" pitchFamily="2" charset="0"/>
              </a:rPr>
              <a:t>Предлагаемая архитектура</a:t>
            </a:r>
            <a:endParaRPr lang="en-US" sz="14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75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50945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Выбор аудиогейта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6A876C-057E-374C-819B-5ADA3745C017}"/>
              </a:ext>
            </a:extLst>
          </p:cNvPr>
          <p:cNvSpPr txBox="1"/>
          <p:nvPr/>
        </p:nvSpPr>
        <p:spPr>
          <a:xfrm>
            <a:off x="666489" y="1609762"/>
            <a:ext cx="10708648" cy="7620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1400" dirty="0">
                <a:latin typeface="HSE Sans" panose="02000000000000000000" pitchFamily="2" charset="0"/>
              </a:rPr>
              <a:t>Сравнивались 4 бинарных аудио классификатора «нейтрально / не нейтрально».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1C56F9-CF95-0B15-9D06-0F2DFDED7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89" y="3166629"/>
            <a:ext cx="10893597" cy="2701345"/>
          </a:xfrm>
          <a:prstGeom prst="rect">
            <a:avLst/>
          </a:prstGeom>
        </p:spPr>
      </p:pic>
      <p:sp>
        <p:nvSpPr>
          <p:cNvPr id="240" name="audioList"/>
          <p:cNvSpPr/>
          <p:nvPr/>
        </p:nvSpPr>
        <p:spPr>
          <a:xfrm>
            <a:off x="666489" y="2010034"/>
            <a:ext cx="5265620" cy="2500709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171450" indent="-171450" algn="just">
              <a:lnSpc>
                <a:spcPct val="10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400" b="1" dirty="0">
                <a:latin typeface="HSE Sans"/>
              </a:rPr>
              <a:t>MelCNN</a:t>
            </a:r>
            <a:r>
              <a:rPr lang="ru-RU" sz="1400" dirty="0">
                <a:latin typeface="HSE Sans" panose="02000000000000000000" pitchFamily="2" charset="0"/>
              </a:rPr>
              <a:t> — лог-мел </a:t>
            </a:r>
            <a:r>
              <a:rPr lang="ru-RU" sz="1400" dirty="0" err="1">
                <a:latin typeface="HSE Sans" panose="02000000000000000000" pitchFamily="2" charset="0"/>
              </a:rPr>
              <a:t>спектограмма</a:t>
            </a:r>
            <a:r>
              <a:rPr lang="ru-RU" sz="1400" dirty="0">
                <a:latin typeface="HSE Sans" panose="02000000000000000000" pitchFamily="2" charset="0"/>
              </a:rPr>
              <a:t> + сверточная нейронная сеть; лучший баланс, самый лёгкий (8 МБ) и быстрый (3,4 мс)</a:t>
            </a:r>
          </a:p>
          <a:p>
            <a:pPr marL="171450" indent="-171450" algn="just">
              <a:lnSpc>
                <a:spcPct val="10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400" b="1" dirty="0">
                <a:latin typeface="HSE Sans"/>
              </a:rPr>
              <a:t>DistilHuBERT + Linear</a:t>
            </a:r>
            <a:r>
              <a:rPr lang="ru-RU" sz="1400" dirty="0">
                <a:latin typeface="HSE Sans" panose="02000000000000000000" pitchFamily="2" charset="0"/>
              </a:rPr>
              <a:t> — замороженный SSL-энкодер; самое высокое качество (0,904), но 90 МБ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5ADEF-0DD8-9417-7E13-8B55B14D9F35}"/>
              </a:ext>
            </a:extLst>
          </p:cNvPr>
          <p:cNvSpPr txBox="1"/>
          <p:nvPr/>
        </p:nvSpPr>
        <p:spPr>
          <a:xfrm>
            <a:off x="6259892" y="1990762"/>
            <a:ext cx="5300194" cy="10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400" b="1" dirty="0">
                <a:latin typeface="HSE Sans"/>
              </a:rPr>
              <a:t>Wav2Vec 2.0 + MLP</a:t>
            </a:r>
            <a:r>
              <a:rPr lang="ru-RU" sz="1400" dirty="0">
                <a:latin typeface="HSE Sans" panose="02000000000000000000" pitchFamily="2" charset="0"/>
              </a:rPr>
              <a:t> — замороженный wav2vec2; низкий </a:t>
            </a:r>
            <a:r>
              <a:rPr lang="ru-RU" sz="1400" dirty="0" err="1">
                <a:latin typeface="HSE Sans" panose="02000000000000000000" pitchFamily="2" charset="0"/>
              </a:rPr>
              <a:t>recall</a:t>
            </a:r>
            <a:r>
              <a:rPr lang="ru-RU" sz="1400" dirty="0">
                <a:latin typeface="HSE Sans" panose="02000000000000000000" pitchFamily="2" charset="0"/>
              </a:rPr>
              <a:t> (0,51), 360 МБ, медленный</a:t>
            </a:r>
          </a:p>
          <a:p>
            <a:pPr marL="171450" indent="-171450" algn="just">
              <a:lnSpc>
                <a:spcPct val="10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400" b="1" dirty="0">
                <a:latin typeface="HSE Sans"/>
              </a:rPr>
              <a:t>MFCC + SVM</a:t>
            </a:r>
            <a:r>
              <a:rPr lang="ru-RU" sz="1400" dirty="0">
                <a:latin typeface="HSE Sans" panose="02000000000000000000" pitchFamily="2" charset="0"/>
              </a:rPr>
              <a:t> — классический </a:t>
            </a:r>
            <a:r>
              <a:rPr lang="ru-RU" sz="1400" dirty="0" err="1">
                <a:latin typeface="HSE Sans" panose="02000000000000000000" pitchFamily="2" charset="0"/>
              </a:rPr>
              <a:t>бейзлайн</a:t>
            </a:r>
            <a:r>
              <a:rPr lang="ru-RU" sz="1400" dirty="0">
                <a:latin typeface="HSE Sans" panose="02000000000000000000" pitchFamily="2" charset="0"/>
              </a:rPr>
              <a:t>; заметно слабее, низкие метрики качества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0F4D6-BF8C-4805-08BB-6B848DF2F1DF}"/>
              </a:ext>
            </a:extLst>
          </p:cNvPr>
          <p:cNvSpPr txBox="1"/>
          <p:nvPr/>
        </p:nvSpPr>
        <p:spPr>
          <a:xfrm>
            <a:off x="666488" y="6125819"/>
            <a:ext cx="107086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HSE Sans" panose="02000000000000000000" pitchFamily="2" charset="0"/>
              </a:rPr>
              <a:t>Выбран </a:t>
            </a:r>
            <a:r>
              <a:rPr lang="en-US" sz="1600" b="1" dirty="0" err="1">
                <a:latin typeface="HSE Sans"/>
              </a:rPr>
              <a:t>MelCNN</a:t>
            </a:r>
            <a:r>
              <a:rPr lang="ru-RU" sz="1600" dirty="0">
                <a:latin typeface="HSE Sans" panose="02000000000000000000" pitchFamily="2" charset="0"/>
              </a:rPr>
              <a:t> — лучший баланс качества и стоимости (0,827 </a:t>
            </a:r>
            <a:r>
              <a:rPr lang="ru-RU" sz="1600" dirty="0" err="1">
                <a:latin typeface="HSE Sans" panose="02000000000000000000" pitchFamily="2" charset="0"/>
              </a:rPr>
              <a:t>acc</a:t>
            </a:r>
            <a:r>
              <a:rPr lang="ru-RU" sz="1600" dirty="0">
                <a:latin typeface="HSE Sans" panose="02000000000000000000" pitchFamily="2" charset="0"/>
              </a:rPr>
              <a:t> / 0,734 F1; 3,4 мс; 8,1 МБ).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61ABF-EC6D-0161-F681-77F89133CC20}"/>
              </a:ext>
            </a:extLst>
          </p:cNvPr>
          <p:cNvSpPr txBox="1"/>
          <p:nvPr/>
        </p:nvSpPr>
        <p:spPr>
          <a:xfrm>
            <a:off x="4002869" y="5767873"/>
            <a:ext cx="4608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HSE Sans" panose="02000000000000000000" pitchFamily="2" charset="0"/>
              </a:rPr>
              <a:t>Метрики сравнения аудио моделей</a:t>
            </a:r>
            <a:r>
              <a:rPr lang="en-US" sz="1400" dirty="0">
                <a:latin typeface="HSE Sans" panose="02000000000000000000" pitchFamily="2" charset="0"/>
              </a:rPr>
              <a:t> (RAVDESS + CREMA-D)</a:t>
            </a:r>
          </a:p>
        </p:txBody>
      </p:sp>
    </p:spTree>
    <p:extLst>
      <p:ext uri="{BB962C8B-B14F-4D97-AF65-F5344CB8AC3E}">
        <p14:creationId xmlns:p14="http://schemas.microsoft.com/office/powerpoint/2010/main" val="264122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50945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Выбор видео-модели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608D0-359F-3E40-BF29-3346EA0AFAC1}"/>
              </a:ext>
            </a:extLst>
          </p:cNvPr>
          <p:cNvSpPr txBox="1"/>
          <p:nvPr/>
        </p:nvSpPr>
        <p:spPr>
          <a:xfrm>
            <a:off x="628389" y="1546779"/>
            <a:ext cx="11328400" cy="415971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Сравнивались 6 конфигураций «бэкбон × агрегатор» на RAVDESS. Выбран </a:t>
            </a:r>
            <a:r>
              <a:rPr lang="en-US" sz="1400" b="1" dirty="0">
                <a:solidFill>
                  <a:srgbClr val="C0392B"/>
                </a:solidFill>
                <a:latin typeface="HSE Sans"/>
              </a:rPr>
              <a:t>EmotiEffNet + BiLSTM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 (0,683 acc / 0,671 F1).</a:t>
            </a:r>
          </a:p>
        </p:txBody>
      </p:sp>
      <p:sp>
        <p:nvSpPr>
          <p:cNvPr id="240" name="videoList"/>
          <p:cNvSpPr/>
          <p:nvPr/>
        </p:nvSpPr>
        <p:spPr>
          <a:xfrm>
            <a:off x="666489" y="1962750"/>
            <a:ext cx="4546600" cy="1264521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400" b="1" dirty="0" err="1">
                <a:solidFill>
                  <a:srgbClr val="2E86C1"/>
                </a:solidFill>
                <a:latin typeface="HSE Sans"/>
              </a:rPr>
              <a:t>Бэкбоны</a:t>
            </a:r>
            <a:r>
              <a:rPr lang="en-US" sz="1400" b="1" dirty="0">
                <a:solidFill>
                  <a:srgbClr val="2E86C1"/>
                </a:solidFill>
                <a:latin typeface="HSE Sans"/>
              </a:rPr>
              <a:t> (</a:t>
            </a:r>
            <a:r>
              <a:rPr lang="en-US" sz="1400" b="1" dirty="0" err="1">
                <a:solidFill>
                  <a:srgbClr val="2E86C1"/>
                </a:solidFill>
                <a:latin typeface="HSE Sans"/>
              </a:rPr>
              <a:t>извлечение</a:t>
            </a:r>
            <a:r>
              <a:rPr lang="en-US" sz="1400" b="1" dirty="0">
                <a:solidFill>
                  <a:srgbClr val="2E86C1"/>
                </a:solidFill>
                <a:latin typeface="HSE Sans"/>
              </a:rPr>
              <a:t> </a:t>
            </a:r>
            <a:r>
              <a:rPr lang="en-US" sz="1400" b="1" dirty="0" err="1">
                <a:solidFill>
                  <a:srgbClr val="2E86C1"/>
                </a:solidFill>
                <a:latin typeface="HSE Sans"/>
              </a:rPr>
              <a:t>признаков</a:t>
            </a:r>
            <a:r>
              <a:rPr lang="en-US" sz="1400" b="1" dirty="0">
                <a:solidFill>
                  <a:srgbClr val="2E86C1"/>
                </a:solidFill>
                <a:latin typeface="HSE Sans"/>
              </a:rPr>
              <a:t> </a:t>
            </a:r>
            <a:r>
              <a:rPr lang="en-US" sz="1400" b="1" dirty="0" err="1">
                <a:solidFill>
                  <a:srgbClr val="2E86C1"/>
                </a:solidFill>
                <a:latin typeface="HSE Sans"/>
              </a:rPr>
              <a:t>лица</a:t>
            </a:r>
            <a:r>
              <a:rPr lang="en-US" sz="1400" b="1" dirty="0">
                <a:solidFill>
                  <a:srgbClr val="2E86C1"/>
                </a:solidFill>
                <a:latin typeface="HSE Sans"/>
              </a:rPr>
              <a:t>)</a:t>
            </a:r>
          </a:p>
          <a:p>
            <a:pPr marL="171450" indent="-171450">
              <a:lnSpc>
                <a:spcPct val="102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HSE Sans"/>
              </a:rPr>
              <a:t>EmotiEffNet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 — EfficientNet-B0, дообучен на AffectNet; точнее всех</a:t>
            </a:r>
          </a:p>
          <a:p>
            <a:pPr marL="171450" indent="-171450">
              <a:lnSpc>
                <a:spcPct val="102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HSE Sans"/>
              </a:rPr>
              <a:t>MobileNetV3-Small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 — лёгкий мобильный </a:t>
            </a:r>
            <a:r>
              <a:rPr lang="ru-RU" sz="1400" dirty="0" err="1">
                <a:solidFill>
                  <a:srgbClr val="1A1A1A"/>
                </a:solidFill>
                <a:latin typeface="HSE Sans" panose="02000000000000000000" pitchFamily="2" charset="0"/>
              </a:rPr>
              <a:t>бэкбон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; заметно слабее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91182-48A4-E118-16A0-FA1F74B6FB18}"/>
              </a:ext>
            </a:extLst>
          </p:cNvPr>
          <p:cNvSpPr txBox="1"/>
          <p:nvPr/>
        </p:nvSpPr>
        <p:spPr>
          <a:xfrm>
            <a:off x="5536939" y="1962750"/>
            <a:ext cx="6096000" cy="1036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1400" b="1" dirty="0">
                <a:solidFill>
                  <a:srgbClr val="2E86C1"/>
                </a:solidFill>
                <a:latin typeface="HSE Sans"/>
              </a:rPr>
              <a:t>Модели классификаторы эмоций </a:t>
            </a:r>
            <a:r>
              <a:rPr lang="en-US" sz="1400" b="1" dirty="0">
                <a:solidFill>
                  <a:srgbClr val="2E86C1"/>
                </a:solidFill>
                <a:latin typeface="HSE Sans"/>
              </a:rPr>
              <a:t>(16 </a:t>
            </a:r>
            <a:r>
              <a:rPr lang="en-US" sz="1400" b="1" dirty="0" err="1">
                <a:solidFill>
                  <a:srgbClr val="2E86C1"/>
                </a:solidFill>
                <a:latin typeface="HSE Sans"/>
              </a:rPr>
              <a:t>кадров</a:t>
            </a:r>
            <a:r>
              <a:rPr lang="en-US" sz="1400" b="1" dirty="0">
                <a:solidFill>
                  <a:srgbClr val="2E86C1"/>
                </a:solidFill>
                <a:latin typeface="HSE Sans"/>
              </a:rPr>
              <a:t>)</a:t>
            </a:r>
          </a:p>
          <a:p>
            <a:pPr marL="171450" indent="-171450">
              <a:lnSpc>
                <a:spcPct val="102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HSE Sans"/>
              </a:rPr>
              <a:t>BiLSTM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 — двунаправленный LSTM; выбран в каскад</a:t>
            </a:r>
          </a:p>
          <a:p>
            <a:pPr marL="171450" indent="-171450">
              <a:lnSpc>
                <a:spcPct val="102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HSE Sans"/>
              </a:rPr>
              <a:t>BiGRU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 — облегчённый аналог; качество сопоставимо</a:t>
            </a:r>
          </a:p>
          <a:p>
            <a:pPr marL="171450" indent="-171450">
              <a:lnSpc>
                <a:spcPct val="102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HSE Sans"/>
              </a:rPr>
              <a:t>TCN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 — временные свёртки; ниже по качеству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876188-ED90-7B04-1B51-1F1FA9F8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89" y="3191208"/>
            <a:ext cx="10761270" cy="32131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243123-3D7A-9165-DDB0-EE71586091DF}"/>
              </a:ext>
            </a:extLst>
          </p:cNvPr>
          <p:cNvSpPr txBox="1"/>
          <p:nvPr/>
        </p:nvSpPr>
        <p:spPr>
          <a:xfrm>
            <a:off x="4221480" y="6353160"/>
            <a:ext cx="3749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HSE Sans" panose="02000000000000000000" pitchFamily="2" charset="0"/>
              </a:rPr>
              <a:t>Метрики сравнения видео моделей</a:t>
            </a:r>
            <a:r>
              <a:rPr lang="en-US" sz="1400" dirty="0">
                <a:latin typeface="HSE Sans" panose="02000000000000000000" pitchFamily="2" charset="0"/>
              </a:rPr>
              <a:t> (RAVDESS)</a:t>
            </a:r>
          </a:p>
        </p:txBody>
      </p:sp>
    </p:spTree>
    <p:extLst>
      <p:ext uri="{BB962C8B-B14F-4D97-AF65-F5344CB8AC3E}">
        <p14:creationId xmlns:p14="http://schemas.microsoft.com/office/powerpoint/2010/main" val="106153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50945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Итоговая архитектура системы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" name="Intro7">
            <a:extLst>
              <a:ext uri="{FF2B5EF4-FFF2-40B4-BE49-F238E27FC236}">
                <a16:creationId xmlns:a16="http://schemas.microsoft.com/office/drawing/2014/main" id="{186E8000-AD89-7442-A431-F1FCCEFC7CC5}"/>
              </a:ext>
            </a:extLst>
          </p:cNvPr>
          <p:cNvSpPr txBox="1"/>
          <p:nvPr/>
        </p:nvSpPr>
        <p:spPr>
          <a:xfrm>
            <a:off x="666489" y="5460874"/>
            <a:ext cx="10871200" cy="635000"/>
          </a:xfrm>
          <a:prstGeom prst="rect">
            <a:avLst/>
          </a:prstGeom>
          <a:noFill/>
        </p:spPr>
        <p:txBody>
          <a:bodyPr vertOverflow="overflow" vert="horz" wrap="square" lIns="50800" tIns="25400" rIns="50800" bIns="25400" rtlCol="0" anchor="t">
            <a:noAutofit/>
          </a:bodyPr>
          <a:lstStyle/>
          <a:p>
            <a:pPr algn="l"/>
            <a:r>
              <a:rPr lang="en-US" sz="1600" dirty="0" err="1">
                <a:latin typeface="HSE Sans"/>
              </a:rPr>
              <a:t>MelCNN</a:t>
            </a:r>
            <a:r>
              <a:rPr lang="en-US" sz="1600" dirty="0">
                <a:latin typeface="HSE Sans"/>
              </a:rPr>
              <a:t>-</a:t>
            </a:r>
            <a:r>
              <a:rPr lang="ru-RU" sz="1600" dirty="0">
                <a:latin typeface="HSE Sans" panose="02000000000000000000" pitchFamily="2" charset="0"/>
              </a:rPr>
              <a:t>гейт отсеивает нейтральные реплики; при эмоциональной речи активируется бимодальная голова </a:t>
            </a:r>
            <a:r>
              <a:rPr lang="en-US" sz="1600" dirty="0" err="1">
                <a:latin typeface="HSE Sans"/>
              </a:rPr>
              <a:t>BiLSTMBimodal</a:t>
            </a:r>
            <a:r>
              <a:rPr lang="en-US" sz="1600" dirty="0">
                <a:latin typeface="HSE Sans"/>
              </a:rPr>
              <a:t>. </a:t>
            </a:r>
            <a:r>
              <a:rPr lang="ru-RU" sz="1600" dirty="0">
                <a:latin typeface="HSE Sans" panose="02000000000000000000" pitchFamily="2" charset="0"/>
              </a:rPr>
              <a:t>Лог-мел спектрограмма переиспользуется гейтом и аудио-веткой.</a:t>
            </a:r>
            <a:endParaRPr lang="en-US" sz="1600" dirty="0">
              <a:latin typeface="HS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ACC085-AFBB-EDC2-67B8-EF7CE5FFD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9" t="2880" r="6791" b="28790"/>
          <a:stretch>
            <a:fillRect/>
          </a:stretch>
        </p:blipFill>
        <p:spPr>
          <a:xfrm>
            <a:off x="1523671" y="1974246"/>
            <a:ext cx="9144658" cy="29095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13FC0E-B3D7-0636-A3F8-5A3D1DF12920}"/>
              </a:ext>
            </a:extLst>
          </p:cNvPr>
          <p:cNvSpPr txBox="1"/>
          <p:nvPr/>
        </p:nvSpPr>
        <p:spPr>
          <a:xfrm>
            <a:off x="4778781" y="4826714"/>
            <a:ext cx="2962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dirty="0">
                <a:latin typeface="HSE Sans" panose="02000000000000000000" pitchFamily="2" charset="0"/>
              </a:rPr>
              <a:t>Архитектура предлагаемой системы</a:t>
            </a:r>
            <a:endParaRPr lang="en-US" sz="14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165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71596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Бимодальная голова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E62E5-4DEE-3849-A1F9-FADA7378860B}"/>
              </a:ext>
            </a:extLst>
          </p:cNvPr>
          <p:cNvSpPr txBox="1"/>
          <p:nvPr/>
        </p:nvSpPr>
        <p:spPr>
          <a:xfrm>
            <a:off x="660400" y="1622613"/>
            <a:ext cx="10871200" cy="6350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noAutofit/>
          </a:bodyPr>
          <a:lstStyle/>
          <a:p>
            <a:pPr algn="l"/>
            <a:r>
              <a:rPr lang="ru-RU" sz="1500" dirty="0">
                <a:latin typeface="HSE Sans"/>
              </a:rPr>
              <a:t>А</a:t>
            </a:r>
            <a:r>
              <a:rPr lang="ru-RU" sz="1500" dirty="0">
                <a:latin typeface="HSE Sans" panose="02000000000000000000" pitchFamily="2" charset="0"/>
              </a:rPr>
              <a:t>удио- и видео-признаки извлекаются раздельно, конкатенируются в общий вектор и подаются в линейный классификатор на 4 класса. Аудио-ветка повторяет </a:t>
            </a:r>
            <a:r>
              <a:rPr lang="en-US" sz="1500" dirty="0" err="1">
                <a:latin typeface="HSE Sans"/>
              </a:rPr>
              <a:t>MelCNN</a:t>
            </a:r>
            <a:r>
              <a:rPr lang="en-US" sz="1500" dirty="0">
                <a:latin typeface="HSE Sans"/>
              </a:rPr>
              <a:t>, </a:t>
            </a:r>
            <a:r>
              <a:rPr lang="ru-RU" sz="1500" dirty="0">
                <a:latin typeface="HSE Sans" panose="02000000000000000000" pitchFamily="2" charset="0"/>
              </a:rPr>
              <a:t>видео-ветка — </a:t>
            </a:r>
            <a:r>
              <a:rPr lang="en-US" sz="1500" dirty="0">
                <a:latin typeface="HSE Sans"/>
              </a:rPr>
              <a:t>EmotiEffNet + BiLSTM.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33D80E-1855-91F9-8069-073B57C8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710" y="2302437"/>
            <a:ext cx="8496578" cy="381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8F8DE0-57F4-E6AE-A81C-D30A7CDA32DF}"/>
              </a:ext>
            </a:extLst>
          </p:cNvPr>
          <p:cNvSpPr txBox="1"/>
          <p:nvPr/>
        </p:nvSpPr>
        <p:spPr>
          <a:xfrm>
            <a:off x="5415171" y="6112437"/>
            <a:ext cx="1361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latin typeface="HSE Sans" panose="02000000000000000000" pitchFamily="2" charset="0"/>
              </a:rPr>
              <a:t>BiLSTMBimodal</a:t>
            </a:r>
            <a:endParaRPr lang="en-US" sz="14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057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50945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Матрицы ошибок на IEMOCAP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5EDBD0-F632-E64C-85B2-1998AD022AC5}"/>
              </a:ext>
            </a:extLst>
          </p:cNvPr>
          <p:cNvSpPr txBox="1"/>
          <p:nvPr/>
        </p:nvSpPr>
        <p:spPr>
          <a:xfrm>
            <a:off x="671892" y="1660553"/>
            <a:ext cx="11176000" cy="6096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noAutofit/>
          </a:bodyPr>
          <a:lstStyle/>
          <a:p>
            <a:pPr algn="l"/>
            <a:r>
              <a:rPr lang="ru-RU" sz="1400" dirty="0">
                <a:latin typeface="HSE Sans"/>
              </a:rPr>
              <a:t>Наша модель</a:t>
            </a:r>
            <a:r>
              <a:rPr lang="en-US" sz="1400" dirty="0">
                <a:latin typeface="HSE Sans"/>
              </a:rPr>
              <a:t> </a:t>
            </a:r>
            <a:r>
              <a:rPr lang="ru-RU" sz="1400" dirty="0">
                <a:latin typeface="HSE Sans" panose="02000000000000000000" pitchFamily="2" charset="0"/>
              </a:rPr>
              <a:t>уверенно распознаёт </a:t>
            </a:r>
            <a:r>
              <a:rPr lang="en-US" sz="1400" dirty="0">
                <a:latin typeface="HSE Sans"/>
              </a:rPr>
              <a:t>neutral (0,71) </a:t>
            </a:r>
            <a:r>
              <a:rPr lang="ru-RU" sz="1400" dirty="0">
                <a:latin typeface="HSE Sans" panose="02000000000000000000" pitchFamily="2" charset="0"/>
              </a:rPr>
              <a:t>и </a:t>
            </a:r>
            <a:r>
              <a:rPr lang="en-US" sz="1400" dirty="0">
                <a:latin typeface="HSE Sans"/>
              </a:rPr>
              <a:t>angry (0,62); </a:t>
            </a:r>
            <a:r>
              <a:rPr lang="ru-RU" sz="1400" dirty="0">
                <a:latin typeface="HSE Sans" panose="02000000000000000000" pitchFamily="2" charset="0"/>
              </a:rPr>
              <a:t>основная ошибка — путаница </a:t>
            </a:r>
            <a:r>
              <a:rPr lang="en-US" sz="1400" dirty="0">
                <a:latin typeface="HSE Sans"/>
              </a:rPr>
              <a:t>happy ↔ angry (excited </a:t>
            </a:r>
            <a:r>
              <a:rPr lang="ru-RU" sz="1400" dirty="0">
                <a:latin typeface="HSE Sans" panose="02000000000000000000" pitchFamily="2" charset="0"/>
              </a:rPr>
              <a:t>объединён с </a:t>
            </a:r>
            <a:r>
              <a:rPr lang="en-US" sz="1400" dirty="0">
                <a:latin typeface="HSE Sans"/>
              </a:rPr>
              <a:t>happy). </a:t>
            </a:r>
            <a:r>
              <a:rPr lang="ru-RU" sz="1400" dirty="0" err="1">
                <a:latin typeface="HSE Sans" panose="02000000000000000000" pitchFamily="2" charset="0"/>
              </a:rPr>
              <a:t>Трансформерные</a:t>
            </a:r>
            <a:r>
              <a:rPr lang="ru-RU" sz="1400" dirty="0">
                <a:latin typeface="HSE Sans" panose="02000000000000000000" pitchFamily="2" charset="0"/>
              </a:rPr>
              <a:t> конкуренты лучше на </a:t>
            </a:r>
            <a:r>
              <a:rPr lang="en-US" sz="1400" dirty="0">
                <a:latin typeface="HSE Sans"/>
              </a:rPr>
              <a:t>happy, </a:t>
            </a:r>
            <a:r>
              <a:rPr lang="ru-RU" sz="1400" dirty="0">
                <a:latin typeface="HSE Sans" panose="02000000000000000000" pitchFamily="2" charset="0"/>
              </a:rPr>
              <a:t>но слабее на </a:t>
            </a:r>
            <a:r>
              <a:rPr lang="en-US" sz="1400" dirty="0">
                <a:latin typeface="HSE Sans"/>
              </a:rPr>
              <a:t>neutral.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89C21F-85A1-8BB7-F623-BC11DDBF6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2333673"/>
            <a:ext cx="6604000" cy="3975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B0CA6F-3692-B30C-4DE3-FBBE458CD0D6}"/>
              </a:ext>
            </a:extLst>
          </p:cNvPr>
          <p:cNvSpPr txBox="1"/>
          <p:nvPr/>
        </p:nvSpPr>
        <p:spPr>
          <a:xfrm>
            <a:off x="4146116" y="6271548"/>
            <a:ext cx="389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HSE Sans" panose="02000000000000000000" pitchFamily="2" charset="0"/>
              </a:rPr>
              <a:t>Матрица ошибок нашей архитектуры (</a:t>
            </a:r>
            <a:r>
              <a:rPr lang="en-US" sz="1400" dirty="0">
                <a:latin typeface="HSE Sans" panose="02000000000000000000" pitchFamily="2" charset="0"/>
              </a:rPr>
              <a:t>IEMOCAP)</a:t>
            </a:r>
          </a:p>
        </p:txBody>
      </p:sp>
    </p:spTree>
    <p:extLst>
      <p:ext uri="{BB962C8B-B14F-4D97-AF65-F5344CB8AC3E}">
        <p14:creationId xmlns:p14="http://schemas.microsoft.com/office/powerpoint/2010/main" val="3851004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50945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Эффективность и итоговое сравнение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C6D35F-A3FA-F94B-8683-2A75781DC1B1}"/>
              </a:ext>
            </a:extLst>
          </p:cNvPr>
          <p:cNvSpPr txBox="1"/>
          <p:nvPr/>
        </p:nvSpPr>
        <p:spPr>
          <a:xfrm>
            <a:off x="666489" y="1620209"/>
            <a:ext cx="10561805" cy="584200"/>
          </a:xfrm>
          <a:prstGeom prst="rect">
            <a:avLst/>
          </a:prstGeom>
          <a:noFill/>
        </p:spPr>
        <p:txBody>
          <a:bodyPr vertOverflow="overflow" vert="horz" wrap="square" lIns="50800" tIns="50800" rIns="50800" bIns="50800" rtlCol="0" anchor="t">
            <a:noAutofit/>
          </a:bodyPr>
          <a:lstStyle/>
          <a:p>
            <a:pPr algn="just"/>
            <a:r>
              <a:rPr lang="ru-RU" sz="1400" dirty="0">
                <a:latin typeface="HSE Sans" panose="02000000000000000000" pitchFamily="2" charset="0"/>
              </a:rPr>
              <a:t>Предложенная модель достигает следующих метрик качества: </a:t>
            </a:r>
            <a:r>
              <a:rPr lang="en-US" sz="1400" dirty="0">
                <a:latin typeface="HSE Sans"/>
              </a:rPr>
              <a:t>UAR 0,509 </a:t>
            </a:r>
            <a:r>
              <a:rPr lang="ru-RU" sz="1400" dirty="0">
                <a:latin typeface="HSE Sans" panose="02000000000000000000" pitchFamily="2" charset="0"/>
              </a:rPr>
              <a:t>и </a:t>
            </a:r>
            <a:r>
              <a:rPr lang="en-US" sz="1400" dirty="0">
                <a:latin typeface="HSE Sans"/>
              </a:rPr>
              <a:t>Macro-F1 0,494 </a:t>
            </a:r>
            <a:r>
              <a:rPr lang="ru-RU" sz="1400" dirty="0">
                <a:latin typeface="HSE Sans" panose="02000000000000000000" pitchFamily="2" charset="0"/>
              </a:rPr>
              <a:t>при размере всего 37,3 МБ и времени 216 мс. Конкуренты на </a:t>
            </a:r>
            <a:r>
              <a:rPr lang="en-US" sz="1400" dirty="0">
                <a:latin typeface="HSE Sans"/>
              </a:rPr>
              <a:t>Wav2Vec2 — ~379 </a:t>
            </a:r>
            <a:r>
              <a:rPr lang="ru-RU" sz="1400" dirty="0">
                <a:latin typeface="HSE Sans" panose="02000000000000000000" pitchFamily="2" charset="0"/>
              </a:rPr>
              <a:t>МБ и ~610 мс при более низком качестве.</a:t>
            </a:r>
            <a:endParaRPr lang="en-US" sz="1400" dirty="0">
              <a:latin typeface="HS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1CBF05-3900-DF2B-9B8C-22D06B85B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08" y="2119838"/>
            <a:ext cx="8790984" cy="4336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1AAE11-0972-B3DD-DE62-0A98BFF858AA}"/>
              </a:ext>
            </a:extLst>
          </p:cNvPr>
          <p:cNvSpPr txBox="1"/>
          <p:nvPr/>
        </p:nvSpPr>
        <p:spPr>
          <a:xfrm>
            <a:off x="4255543" y="6204313"/>
            <a:ext cx="3680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HSE Sans" panose="02000000000000000000" pitchFamily="2" charset="0"/>
              </a:rPr>
              <a:t>Результаты бенчмарка на датасете </a:t>
            </a:r>
            <a:r>
              <a:rPr lang="en-US" sz="1400" dirty="0">
                <a:latin typeface="HSE Sans" panose="02000000000000000000" pitchFamily="2" charset="0"/>
              </a:rPr>
              <a:t>IEMOCAP</a:t>
            </a:r>
          </a:p>
        </p:txBody>
      </p:sp>
    </p:spTree>
    <p:extLst>
      <p:ext uri="{BB962C8B-B14F-4D97-AF65-F5344CB8AC3E}">
        <p14:creationId xmlns:p14="http://schemas.microsoft.com/office/powerpoint/2010/main" val="3927182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50945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Прототип реального времени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142098-D07C-234B-AD57-80716B005A0E}"/>
              </a:ext>
            </a:extLst>
          </p:cNvPr>
          <p:cNvSpPr txBox="1"/>
          <p:nvPr/>
        </p:nvSpPr>
        <p:spPr>
          <a:xfrm>
            <a:off x="660400" y="1905000"/>
            <a:ext cx="1087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500">
                <a:solidFill>
                  <a:srgbClr val="1A1A1A"/>
                </a:solidFill>
                <a:latin typeface="HSE Sans" panose="02000000000000000000" pitchFamily="2" charset="0"/>
              </a:rPr>
              <a:t>Прототип повторяет логику финальной модели и работает в три параллельных потока:</a:t>
            </a:r>
            <a:endParaRPr lang="en-US" sz="1500" dirty="0">
              <a:solidFill>
                <a:srgbClr val="1A1A1A"/>
              </a:solidFill>
              <a:latin typeface="HSE San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DFC2F28-8C31-E147-B6D8-7AF9C7E7C503}"/>
              </a:ext>
            </a:extLst>
          </p:cNvPr>
          <p:cNvSpPr/>
          <p:nvPr/>
        </p:nvSpPr>
        <p:spPr>
          <a:xfrm>
            <a:off x="660400" y="2413000"/>
            <a:ext cx="3454400" cy="2159000"/>
          </a:xfrm>
          <a:prstGeom prst="roundRect">
            <a:avLst/>
          </a:prstGeom>
          <a:solidFill>
            <a:srgbClr val="E8EEF7"/>
          </a:solidFill>
          <a:ln w="19050" cap="flat" cmpd="sng" algn="ctr">
            <a:solidFill>
              <a:srgbClr val="1F4E9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54243-6D16-CD44-B8E9-C768C3E2D949}"/>
              </a:ext>
            </a:extLst>
          </p:cNvPr>
          <p:cNvSpPr/>
          <p:nvPr/>
        </p:nvSpPr>
        <p:spPr>
          <a:xfrm>
            <a:off x="660400" y="2413000"/>
            <a:ext cx="3454400" cy="482600"/>
          </a:xfrm>
          <a:prstGeom prst="rect">
            <a:avLst/>
          </a:prstGeom>
          <a:solidFill>
            <a:srgbClr val="1F4E9B"/>
          </a:solidFill>
          <a:ln w="19050" cap="flat" cmpd="sng" algn="ctr">
            <a:solidFill>
              <a:srgbClr val="1E4D9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1600" tIns="25400" rIns="101600" bIns="25400" rtlCol="0" anchor="ctr" anchorCtr="0">
            <a:noAutofit/>
          </a:bodyPr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Аудио-поток</a:t>
            </a:r>
            <a:endParaRPr lang="en-US" sz="1600" b="1">
              <a:solidFill>
                <a:srgbClr val="FFFFFF"/>
              </a:solidFill>
              <a:latin typeface="HSE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8DD06-2F4E-1B43-A052-2555203CDFE7}"/>
              </a:ext>
            </a:extLst>
          </p:cNvPr>
          <p:cNvSpPr txBox="1"/>
          <p:nvPr/>
        </p:nvSpPr>
        <p:spPr>
          <a:xfrm>
            <a:off x="838200" y="3022600"/>
            <a:ext cx="30988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300">
                <a:solidFill>
                  <a:srgbClr val="1A1A1A"/>
                </a:solidFill>
                <a:latin typeface="HSE Sans" panose="02000000000000000000" pitchFamily="2" charset="0"/>
              </a:rPr>
              <a:t>•  Непрерывно опрашивает микрофон
•  </a:t>
            </a:r>
            <a:r>
              <a:rPr lang="en-US" sz="1300">
                <a:solidFill>
                  <a:srgbClr val="1A1A1A"/>
                </a:solidFill>
                <a:latin typeface="HSE Sans"/>
              </a:rPr>
              <a:t>Silero VAD </a:t>
            </a:r>
            <a:r>
              <a:rPr lang="ru-RU" sz="1300">
                <a:solidFill>
                  <a:srgbClr val="1A1A1A"/>
                </a:solidFill>
                <a:latin typeface="HSE Sans" panose="02000000000000000000" pitchFamily="2" charset="0"/>
              </a:rPr>
              <a:t>сегментирует речь на отдельные фразы
•  Накопление в буфере</a:t>
            </a:r>
            <a:endParaRPr lang="en-US" sz="1300" dirty="0">
              <a:solidFill>
                <a:srgbClr val="1A1A1A"/>
              </a:solidFill>
              <a:latin typeface="HSE San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AFA8D6-A064-9746-8649-2931C68410AD}"/>
              </a:ext>
            </a:extLst>
          </p:cNvPr>
          <p:cNvSpPr/>
          <p:nvPr/>
        </p:nvSpPr>
        <p:spPr>
          <a:xfrm>
            <a:off x="4368800" y="2413000"/>
            <a:ext cx="3454400" cy="2159000"/>
          </a:xfrm>
          <a:prstGeom prst="roundRect">
            <a:avLst/>
          </a:prstGeom>
          <a:solidFill>
            <a:srgbClr val="E8EEF7"/>
          </a:solidFill>
          <a:ln w="19050" cap="flat" cmpd="sng" algn="ctr">
            <a:solidFill>
              <a:srgbClr val="2E7D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FA7017-7267-ED41-B40E-20A600152EE1}"/>
              </a:ext>
            </a:extLst>
          </p:cNvPr>
          <p:cNvSpPr/>
          <p:nvPr/>
        </p:nvSpPr>
        <p:spPr>
          <a:xfrm>
            <a:off x="4368800" y="2413000"/>
            <a:ext cx="3454400" cy="482600"/>
          </a:xfrm>
          <a:prstGeom prst="rect">
            <a:avLst/>
          </a:prstGeom>
          <a:solidFill>
            <a:srgbClr val="2F7D5B"/>
          </a:solidFill>
          <a:ln w="19050" cap="flat" cmpd="sng" algn="ctr">
            <a:solidFill>
              <a:srgbClr val="2F7D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1600" tIns="25400" rIns="101600" bIns="25400" rtlCol="0" anchor="ctr" anchorCtr="0">
            <a:noAutofit/>
          </a:bodyPr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Видео-поток</a:t>
            </a:r>
            <a:endParaRPr lang="en-US" sz="1600" b="1">
              <a:solidFill>
                <a:srgbClr val="FFFFFF"/>
              </a:solidFill>
              <a:latin typeface="HSE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C6F8F-2363-154C-B13B-33FA73D1EBF5}"/>
              </a:ext>
            </a:extLst>
          </p:cNvPr>
          <p:cNvSpPr txBox="1"/>
          <p:nvPr/>
        </p:nvSpPr>
        <p:spPr>
          <a:xfrm>
            <a:off x="4546600" y="3022600"/>
            <a:ext cx="30988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300">
                <a:solidFill>
                  <a:srgbClr val="1A1A1A"/>
                </a:solidFill>
                <a:latin typeface="HSE Sans" panose="02000000000000000000" pitchFamily="2" charset="0"/>
              </a:rPr>
              <a:t>•  Читает кадры с веб-камеры в фоне
•  Кольцевой буфер ~3 секунды
•  Готов к выборке 16 кадров</a:t>
            </a:r>
            <a:endParaRPr lang="en-US" sz="1300" dirty="0">
              <a:solidFill>
                <a:srgbClr val="1A1A1A"/>
              </a:solidFill>
              <a:latin typeface="HSE San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33FB9B-9223-C84F-B980-75594DF4CEB6}"/>
              </a:ext>
            </a:extLst>
          </p:cNvPr>
          <p:cNvSpPr/>
          <p:nvPr/>
        </p:nvSpPr>
        <p:spPr>
          <a:xfrm>
            <a:off x="8077200" y="2413000"/>
            <a:ext cx="3454400" cy="2159000"/>
          </a:xfrm>
          <a:prstGeom prst="roundRect">
            <a:avLst/>
          </a:prstGeom>
          <a:solidFill>
            <a:srgbClr val="E8EEF7"/>
          </a:solidFill>
          <a:ln w="19050" cap="flat" cmpd="sng" algn="ctr">
            <a:solidFill>
              <a:srgbClr val="102E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022F8A-915B-BE4A-8405-0AF4C78BFF65}"/>
              </a:ext>
            </a:extLst>
          </p:cNvPr>
          <p:cNvSpPr/>
          <p:nvPr/>
        </p:nvSpPr>
        <p:spPr>
          <a:xfrm>
            <a:off x="8077200" y="2413000"/>
            <a:ext cx="3454400" cy="482600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1600" tIns="25400" rIns="101600" bIns="25400" rtlCol="0" anchor="ctr" anchorCtr="0">
            <a:noAutofit/>
          </a:bodyPr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Поток инференса</a:t>
            </a:r>
            <a:endParaRPr lang="en-US" sz="1600" b="1">
              <a:solidFill>
                <a:srgbClr val="FFFFFF"/>
              </a:solidFill>
              <a:latin typeface="HSE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FE2D7E-B081-594D-9FAD-9510023008B9}"/>
              </a:ext>
            </a:extLst>
          </p:cNvPr>
          <p:cNvSpPr txBox="1"/>
          <p:nvPr/>
        </p:nvSpPr>
        <p:spPr>
          <a:xfrm>
            <a:off x="8255000" y="3022600"/>
            <a:ext cx="30988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300">
                <a:solidFill>
                  <a:srgbClr val="1A1A1A"/>
                </a:solidFill>
                <a:latin typeface="HSE Sans" panose="02000000000000000000" pitchFamily="2" charset="0"/>
              </a:rPr>
              <a:t>•  Запускается при завершении фразы
•  Каскадный инференс (гейт → голова)
•  Флаг </a:t>
            </a:r>
            <a:r>
              <a:rPr lang="en-US" sz="1300">
                <a:solidFill>
                  <a:srgbClr val="1A1A1A"/>
                </a:solidFill>
                <a:latin typeface="HSE Sans"/>
              </a:rPr>
              <a:t>processing </a:t>
            </a:r>
            <a:r>
              <a:rPr lang="ru-RU" sz="1300">
                <a:solidFill>
                  <a:srgbClr val="1A1A1A"/>
                </a:solidFill>
                <a:latin typeface="HSE Sans" panose="02000000000000000000" pitchFamily="2" charset="0"/>
              </a:rPr>
              <a:t>против гонок</a:t>
            </a:r>
            <a:endParaRPr lang="en-US" sz="1300" dirty="0">
              <a:solidFill>
                <a:srgbClr val="1A1A1A"/>
              </a:solidFill>
              <a:latin typeface="HSE San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6B201F6-BB71-0149-93F2-C6C919BCE5F6}"/>
              </a:ext>
            </a:extLst>
          </p:cNvPr>
          <p:cNvSpPr/>
          <p:nvPr/>
        </p:nvSpPr>
        <p:spPr>
          <a:xfrm>
            <a:off x="660400" y="4724400"/>
            <a:ext cx="10871200" cy="1371600"/>
          </a:xfrm>
          <a:prstGeom prst="roundRect">
            <a:avLst/>
          </a:prstGeom>
          <a:solidFill>
            <a:srgbClr val="F4F7FC"/>
          </a:solidFill>
          <a:ln w="12700" cap="flat" cmpd="sng" algn="ctr">
            <a:solidFill>
              <a:srgbClr val="102E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ru-RU" sz="1400" b="1" dirty="0">
                <a:solidFill>
                  <a:srgbClr val="2E7D5B"/>
                </a:solidFill>
                <a:latin typeface="HSE Sans" panose="02000000000000000000" pitchFamily="2" charset="0"/>
              </a:rPr>
              <a:t>Производительность: 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нейтральные фразы — менее 10 мс, эмоциональные — 60–110 мс на Apple M1 Pro (MPS), без потери плавности интерфейса.</a:t>
            </a:r>
          </a:p>
          <a:p>
            <a:r>
              <a:rPr lang="ru-RU" sz="1400" b="1" dirty="0">
                <a:solidFill>
                  <a:srgbClr val="102E5A"/>
                </a:solidFill>
                <a:latin typeface="HSE Sans" panose="02000000000000000000" pitchFamily="2" charset="0"/>
              </a:rPr>
              <a:t>Ограничения: </a:t>
            </a:r>
            <a:r>
              <a:rPr lang="ru-RU" sz="1400" dirty="0">
                <a:solidFill>
                  <a:srgbClr val="1A1A1A"/>
                </a:solidFill>
                <a:latin typeface="HSE Sans" panose="02000000000000000000" pitchFamily="2" charset="0"/>
              </a:rPr>
              <a:t>нет очереди фраз; возможное расхождение аудио- и видео-окон; обработка одного лица; упрощённый fallback детекции; чувствительность к освещению.</a:t>
            </a:r>
          </a:p>
        </p:txBody>
      </p:sp>
    </p:spTree>
    <p:extLst>
      <p:ext uri="{BB962C8B-B14F-4D97-AF65-F5344CB8AC3E}">
        <p14:creationId xmlns:p14="http://schemas.microsoft.com/office/powerpoint/2010/main" val="3272054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9BF64647-BA7F-C64D-E3FA-FB6C83CF295F}"/>
              </a:ext>
            </a:extLst>
          </p:cNvPr>
          <p:cNvSpPr txBox="1">
            <a:spLocks/>
          </p:cNvSpPr>
          <p:nvPr/>
        </p:nvSpPr>
        <p:spPr>
          <a:xfrm>
            <a:off x="666489" y="1160924"/>
            <a:ext cx="5094599" cy="80234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Заключение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6642543-AAFE-405A-C69F-4ADB20EF03A0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4949D8FC-408D-1D67-134C-9A8B217B2D50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C38E8207-B0A4-013A-867A-665C45ADC6D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0DA963-E9B5-6F1D-7BB4-EC614E37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A1797D-E1C0-1413-7394-3F0A0E2135E1}"/>
              </a:ext>
            </a:extLst>
          </p:cNvPr>
          <p:cNvSpPr/>
          <p:nvPr/>
        </p:nvSpPr>
        <p:spPr>
          <a:xfrm>
            <a:off x="4576199" y="4584371"/>
            <a:ext cx="3039602" cy="1582173"/>
          </a:xfrm>
          <a:prstGeom prst="roundRect">
            <a:avLst>
              <a:gd name="adj" fmla="val 19569"/>
            </a:avLst>
          </a:prstGeom>
          <a:noFill/>
          <a:ln w="38100">
            <a:solidFill>
              <a:srgbClr val="0F2B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435D7-16D5-35BB-B61D-5A76F0935C93}"/>
              </a:ext>
            </a:extLst>
          </p:cNvPr>
          <p:cNvSpPr txBox="1"/>
          <p:nvPr/>
        </p:nvSpPr>
        <p:spPr>
          <a:xfrm>
            <a:off x="4752465" y="4673828"/>
            <a:ext cx="26719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latin typeface="HSE Sans" panose="02000000000000000000" pitchFamily="2" charset="0"/>
              </a:rPr>
              <a:t>Реализован потоковый real-time прототип: нейтральные фразы обрабатываются менее чем за 10 мс, эмоциональные — за 60–110 мс.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2300B5-012E-5A1E-8609-08A14F7A17F1}"/>
              </a:ext>
            </a:extLst>
          </p:cNvPr>
          <p:cNvSpPr/>
          <p:nvPr/>
        </p:nvSpPr>
        <p:spPr>
          <a:xfrm>
            <a:off x="4576199" y="2167362"/>
            <a:ext cx="3039602" cy="1853164"/>
          </a:xfrm>
          <a:prstGeom prst="roundRect">
            <a:avLst>
              <a:gd name="adj" fmla="val 19569"/>
            </a:avLst>
          </a:prstGeom>
          <a:noFill/>
          <a:ln w="38100">
            <a:solidFill>
              <a:srgbClr val="0F2B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BBE6F1-86E3-D0C2-4C58-2B6C2C6389F2}"/>
              </a:ext>
            </a:extLst>
          </p:cNvPr>
          <p:cNvSpPr/>
          <p:nvPr/>
        </p:nvSpPr>
        <p:spPr>
          <a:xfrm>
            <a:off x="8238522" y="2167362"/>
            <a:ext cx="3039602" cy="1853163"/>
          </a:xfrm>
          <a:prstGeom prst="roundRect">
            <a:avLst>
              <a:gd name="adj" fmla="val 19569"/>
            </a:avLst>
          </a:prstGeom>
          <a:noFill/>
          <a:ln w="38100">
            <a:solidFill>
              <a:srgbClr val="0F2B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7B9441-A64E-62AE-2B59-52F9FDC8C1D2}"/>
              </a:ext>
            </a:extLst>
          </p:cNvPr>
          <p:cNvSpPr/>
          <p:nvPr/>
        </p:nvSpPr>
        <p:spPr>
          <a:xfrm>
            <a:off x="913876" y="2167362"/>
            <a:ext cx="3039602" cy="2509371"/>
          </a:xfrm>
          <a:prstGeom prst="roundRect">
            <a:avLst>
              <a:gd name="adj" fmla="val 19569"/>
            </a:avLst>
          </a:prstGeom>
          <a:noFill/>
          <a:ln w="38100">
            <a:solidFill>
              <a:srgbClr val="0F2B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0F87565-B390-B77D-C10D-8C5AFEFBACBE}"/>
              </a:ext>
            </a:extLst>
          </p:cNvPr>
          <p:cNvSpPr/>
          <p:nvPr/>
        </p:nvSpPr>
        <p:spPr>
          <a:xfrm>
            <a:off x="8238522" y="4367030"/>
            <a:ext cx="3039602" cy="1799514"/>
          </a:xfrm>
          <a:prstGeom prst="roundRect">
            <a:avLst>
              <a:gd name="adj" fmla="val 19569"/>
            </a:avLst>
          </a:prstGeom>
          <a:noFill/>
          <a:ln w="38100">
            <a:solidFill>
              <a:srgbClr val="0F2B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2A2146B-9FEF-8C60-91C4-0E80193D2FF1}"/>
              </a:ext>
            </a:extLst>
          </p:cNvPr>
          <p:cNvSpPr/>
          <p:nvPr/>
        </p:nvSpPr>
        <p:spPr>
          <a:xfrm>
            <a:off x="913876" y="4952390"/>
            <a:ext cx="3039602" cy="1264732"/>
          </a:xfrm>
          <a:prstGeom prst="roundRect">
            <a:avLst>
              <a:gd name="adj" fmla="val 19569"/>
            </a:avLst>
          </a:prstGeom>
          <a:noFill/>
          <a:ln w="38100">
            <a:solidFill>
              <a:srgbClr val="0F2B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56022D-561F-CD5F-6F84-1173545EDCF3}"/>
              </a:ext>
            </a:extLst>
          </p:cNvPr>
          <p:cNvSpPr txBox="1"/>
          <p:nvPr/>
        </p:nvSpPr>
        <p:spPr>
          <a:xfrm>
            <a:off x="4759540" y="2283917"/>
            <a:ext cx="267291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HSE Sans" panose="02000000000000000000" pitchFamily="2" charset="0"/>
              </a:rPr>
              <a:t>Разработана оригинальная двухстадийная каскадная архитектура с лёгким аудиогейтом MelCNN, отсеивающим нейтральные реплики.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2B1BF6-7812-4467-A137-CBD2F2444ADD}"/>
              </a:ext>
            </a:extLst>
          </p:cNvPr>
          <p:cNvSpPr txBox="1"/>
          <p:nvPr/>
        </p:nvSpPr>
        <p:spPr>
          <a:xfrm>
            <a:off x="8367951" y="2293724"/>
            <a:ext cx="27807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RU"/>
            </a:defPPr>
            <a:lvl1pPr algn="just">
              <a:defRPr sz="1400">
                <a:latin typeface="HSE Sans" panose="02000000000000000000" pitchFamily="2" charset="0"/>
              </a:defRPr>
            </a:lvl1pPr>
          </a:lstStyle>
          <a:p>
            <a:pPr algn="just"/>
            <a:r>
              <a:rPr lang="ru-RU" sz="1400" dirty="0">
                <a:latin typeface="HSE Sans" panose="02000000000000000000" pitchFamily="2" charset="0"/>
              </a:rPr>
              <a:t>Реализовано переиспользование одной лог-мел спектрограммы в гейте и аудио-ветви — отказ от тяжёлых энкодеров, итоговый размер 37 МБ.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3674B-DDFB-B86A-5D67-AEDA5D83B2AE}"/>
              </a:ext>
            </a:extLst>
          </p:cNvPr>
          <p:cNvSpPr txBox="1"/>
          <p:nvPr/>
        </p:nvSpPr>
        <p:spPr>
          <a:xfrm>
            <a:off x="1049851" y="2298662"/>
            <a:ext cx="275255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RU"/>
            </a:defPPr>
            <a:lvl1pPr algn="just">
              <a:defRPr sz="1400">
                <a:latin typeface="HSE Sans" panose="02000000000000000000" pitchFamily="2" charset="0"/>
              </a:defRPr>
            </a:lvl1pPr>
          </a:lstStyle>
          <a:p>
            <a:pPr algn="just"/>
            <a:r>
              <a:rPr lang="ru-RU" sz="1400" dirty="0">
                <a:latin typeface="HSE Sans" panose="02000000000000000000" pitchFamily="2" charset="0"/>
              </a:rPr>
              <a:t>Проанализированы современные подходы SER, FER и MER; выявлено их ключевое ограничение — высокая вычислительная сложность при параллельной обработке модальностей.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90103E-EBA1-7B2D-9E27-E7BA883003B6}"/>
              </a:ext>
            </a:extLst>
          </p:cNvPr>
          <p:cNvSpPr txBox="1"/>
          <p:nvPr/>
        </p:nvSpPr>
        <p:spPr>
          <a:xfrm>
            <a:off x="8421862" y="4466568"/>
            <a:ext cx="26729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RU"/>
            </a:defPPr>
            <a:lvl1pPr algn="just">
              <a:defRPr sz="1400">
                <a:latin typeface="HSE Sans" panose="02000000000000000000" pitchFamily="2" charset="0"/>
              </a:defRPr>
            </a:lvl1pPr>
          </a:lstStyle>
          <a:p>
            <a:pPr algn="just"/>
            <a:r>
              <a:rPr lang="ru-RU" sz="1400" dirty="0">
                <a:latin typeface="HSE Sans" panose="02000000000000000000" pitchFamily="2" charset="0"/>
              </a:rPr>
              <a:t>Практическая ценность результатов. Код доступен на GitHub: </a:t>
            </a:r>
            <a:r>
              <a:rPr lang="en-US" sz="1400" b="1" dirty="0">
                <a:latin typeface="HSE Sans" panose="02000000000000000000" pitchFamily="2" charset="0"/>
              </a:rPr>
              <a:t>github.com/Kaparya/Classification-of-Facial-Expressions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003BFE-0D32-6BE2-8D37-4EE85F449373}"/>
              </a:ext>
            </a:extLst>
          </p:cNvPr>
          <p:cNvSpPr txBox="1"/>
          <p:nvPr/>
        </p:nvSpPr>
        <p:spPr>
          <a:xfrm>
            <a:off x="1097217" y="4996993"/>
            <a:ext cx="26729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latin typeface="HSE Sans" panose="02000000000000000000" pitchFamily="2" charset="0"/>
              </a:rPr>
              <a:t>Построен единый воспроизводимый LOSO-бенчмарк на IEMOCAP: UAR 0,5094 — лучший результат среди 6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3774285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250F89-A8D7-ABE2-663D-B37F6E53162D}"/>
              </a:ext>
            </a:extLst>
          </p:cNvPr>
          <p:cNvSpPr txBox="1"/>
          <p:nvPr/>
        </p:nvSpPr>
        <p:spPr>
          <a:xfrm>
            <a:off x="2627838" y="3013501"/>
            <a:ext cx="6936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HSE Sans" panose="02000000000000000000" pitchFamily="2" charset="0"/>
              </a:rPr>
              <a:t>Спасибо за внимание!</a:t>
            </a:r>
            <a:endParaRPr lang="en-RU" sz="4800" b="1" dirty="0">
              <a:latin typeface="HSE Sans" panose="02000000000000000000" pitchFamily="2" charset="0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3729DA24-8405-CD3A-BD58-BF095EB2ECE9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2070100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Факультет информатики, математики и компьютерных наук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955B5CB5-86AC-C332-6C2B-66568CC24A07}"/>
              </a:ext>
            </a:extLst>
          </p:cNvPr>
          <p:cNvSpPr txBox="1">
            <a:spLocks/>
          </p:cNvSpPr>
          <p:nvPr/>
        </p:nvSpPr>
        <p:spPr>
          <a:xfrm>
            <a:off x="3459162" y="548720"/>
            <a:ext cx="234100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Классификация выражений лиц с детектированием эмоций в речи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2F7BAEAD-2084-C0FB-8BD0-9CEB72328C01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Канделов Дамир Русланович </a:t>
            </a:r>
          </a:p>
          <a:p>
            <a:r>
              <a:rPr lang="ru-RU" dirty="0"/>
              <a:t>Группа: 22ПИ-1</a:t>
            </a:r>
          </a:p>
        </p:txBody>
      </p:sp>
    </p:spTree>
    <p:extLst>
      <p:ext uri="{BB962C8B-B14F-4D97-AF65-F5344CB8AC3E}">
        <p14:creationId xmlns:p14="http://schemas.microsoft.com/office/powerpoint/2010/main" val="4062552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D4ED33-31C3-364B-B334-F3160050B56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0beb44a-06ef-4079-824f-cf28bc70292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2406</TotalTime>
  <Words>1629</Words>
  <Application>Microsoft Macintosh PowerPoint</Application>
  <PresentationFormat>Widescreen</PresentationFormat>
  <Paragraphs>221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HSE Sans</vt:lpstr>
      <vt:lpstr>Office Theme</vt:lpstr>
      <vt:lpstr>Классификация выражений лиц с детектированием эмоций в речи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clashoc 28</cp:lastModifiedBy>
  <cp:revision>64</cp:revision>
  <cp:lastPrinted>2021-11-11T13:08:42Z</cp:lastPrinted>
  <dcterms:created xsi:type="dcterms:W3CDTF">2021-11-11T08:52:47Z</dcterms:created>
  <dcterms:modified xsi:type="dcterms:W3CDTF">2026-05-30T20:15:19Z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